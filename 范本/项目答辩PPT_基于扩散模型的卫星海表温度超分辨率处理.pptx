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1" r:id="rId3"/>
    <p:sldId id="257" r:id="rId4"/>
    <p:sldId id="263" r:id="rId5"/>
    <p:sldId id="262" r:id="rId6"/>
    <p:sldId id="265" r:id="rId7"/>
    <p:sldId id="264" r:id="rId8"/>
    <p:sldId id="269" r:id="rId9"/>
    <p:sldId id="270" r:id="rId10"/>
    <p:sldId id="279" r:id="rId11"/>
    <p:sldId id="271" r:id="rId12"/>
    <p:sldId id="273" r:id="rId13"/>
    <p:sldId id="268" r:id="rId14"/>
    <p:sldId id="272" r:id="rId15"/>
    <p:sldId id="277" r:id="rId16"/>
    <p:sldId id="278" r:id="rId17"/>
    <p:sldId id="280" r:id="rId18"/>
    <p:sldId id="267" r:id="rId19"/>
    <p:sldId id="258" r:id="rId20"/>
    <p:sldId id="281" r:id="rId21"/>
    <p:sldId id="274" r:id="rId22"/>
    <p:sldId id="288" r:id="rId23"/>
    <p:sldId id="289" r:id="rId24"/>
    <p:sldId id="284" r:id="rId25"/>
    <p:sldId id="276" r:id="rId26"/>
    <p:sldId id="275" r:id="rId27"/>
    <p:sldId id="285" r:id="rId28"/>
    <p:sldId id="286" r:id="rId29"/>
    <p:sldId id="287" r:id="rId30"/>
    <p:sldId id="282"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38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B96C-3F71-4C42-BE69-7F01FB65B837}" type="datetimeFigureOut">
              <a:rPr lang="zh-CN" altLang="en-US" smtClean="0"/>
              <a:t>2024-11-17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EE7AE-BB18-49A0-88AB-BAA3B84A1403}" type="slidenum">
              <a:rPr lang="zh-CN" altLang="en-US" smtClean="0"/>
              <a:t>‹#›</a:t>
            </a:fld>
            <a:endParaRPr lang="zh-CN" altLang="en-US"/>
          </a:p>
        </p:txBody>
      </p:sp>
    </p:spTree>
    <p:extLst>
      <p:ext uri="{BB962C8B-B14F-4D97-AF65-F5344CB8AC3E}">
        <p14:creationId xmlns:p14="http://schemas.microsoft.com/office/powerpoint/2010/main" val="126115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74EE7AE-BB18-49A0-88AB-BAA3B84A1403}" type="slidenum">
              <a:rPr lang="zh-CN" altLang="en-US" smtClean="0"/>
              <a:t>2</a:t>
            </a:fld>
            <a:endParaRPr lang="zh-CN" altLang="en-US"/>
          </a:p>
        </p:txBody>
      </p:sp>
    </p:spTree>
    <p:extLst>
      <p:ext uri="{BB962C8B-B14F-4D97-AF65-F5344CB8AC3E}">
        <p14:creationId xmlns:p14="http://schemas.microsoft.com/office/powerpoint/2010/main" val="2319298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74EE7AE-BB18-49A0-88AB-BAA3B84A1403}" type="slidenum">
              <a:rPr lang="zh-CN" altLang="en-US" smtClean="0"/>
              <a:t>3</a:t>
            </a:fld>
            <a:endParaRPr lang="zh-CN" altLang="en-US"/>
          </a:p>
        </p:txBody>
      </p:sp>
    </p:spTree>
    <p:extLst>
      <p:ext uri="{BB962C8B-B14F-4D97-AF65-F5344CB8AC3E}">
        <p14:creationId xmlns:p14="http://schemas.microsoft.com/office/powerpoint/2010/main" val="3131541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4BAB7-528A-114B-520C-629BC56494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CFF590-E51B-AA60-3465-2E5A961214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FBA95A-8792-F0DB-0F27-DF3367374C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DED49CF-F6F6-5435-E26D-64F870199C26}"/>
              </a:ext>
            </a:extLst>
          </p:cNvPr>
          <p:cNvSpPr>
            <a:spLocks noGrp="1"/>
          </p:cNvSpPr>
          <p:nvPr>
            <p:ph type="sldNum" sz="quarter" idx="5"/>
          </p:nvPr>
        </p:nvSpPr>
        <p:spPr/>
        <p:txBody>
          <a:bodyPr/>
          <a:lstStyle/>
          <a:p>
            <a:fld id="{F74EE7AE-BB18-49A0-88AB-BAA3B84A1403}" type="slidenum">
              <a:rPr lang="zh-CN" altLang="en-US" smtClean="0"/>
              <a:t>8</a:t>
            </a:fld>
            <a:endParaRPr lang="zh-CN" altLang="en-US"/>
          </a:p>
        </p:txBody>
      </p:sp>
    </p:spTree>
    <p:extLst>
      <p:ext uri="{BB962C8B-B14F-4D97-AF65-F5344CB8AC3E}">
        <p14:creationId xmlns:p14="http://schemas.microsoft.com/office/powerpoint/2010/main" val="95843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E84D1-81A9-C795-CFA4-266AE5E81C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93AC9D-4E23-915E-A9E1-097FEBFE1F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16E451-E933-274D-5ECF-83CA735C3F3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E1A86C-6977-8B02-FF35-CA3F050D0F60}"/>
              </a:ext>
            </a:extLst>
          </p:cNvPr>
          <p:cNvSpPr>
            <a:spLocks noGrp="1"/>
          </p:cNvSpPr>
          <p:nvPr>
            <p:ph type="sldNum" sz="quarter" idx="5"/>
          </p:nvPr>
        </p:nvSpPr>
        <p:spPr/>
        <p:txBody>
          <a:bodyPr/>
          <a:lstStyle/>
          <a:p>
            <a:fld id="{F74EE7AE-BB18-49A0-88AB-BAA3B84A1403}" type="slidenum">
              <a:rPr lang="zh-CN" altLang="en-US" smtClean="0"/>
              <a:t>17</a:t>
            </a:fld>
            <a:endParaRPr lang="zh-CN" altLang="en-US"/>
          </a:p>
        </p:txBody>
      </p:sp>
    </p:spTree>
    <p:extLst>
      <p:ext uri="{BB962C8B-B14F-4D97-AF65-F5344CB8AC3E}">
        <p14:creationId xmlns:p14="http://schemas.microsoft.com/office/powerpoint/2010/main" val="1220785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7A73D-5A15-5E47-9DCE-8A3E555734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1F75AB-52A5-FE7F-302E-0DFAA7EBA2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7ECE85-6CAA-7687-92F7-4ADE4EF602D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CEEEC7D-41EA-461E-E811-5DA7EFF2E9D1}"/>
              </a:ext>
            </a:extLst>
          </p:cNvPr>
          <p:cNvSpPr>
            <a:spLocks noGrp="1"/>
          </p:cNvSpPr>
          <p:nvPr>
            <p:ph type="sldNum" sz="quarter" idx="5"/>
          </p:nvPr>
        </p:nvSpPr>
        <p:spPr/>
        <p:txBody>
          <a:bodyPr/>
          <a:lstStyle/>
          <a:p>
            <a:fld id="{F74EE7AE-BB18-49A0-88AB-BAA3B84A1403}" type="slidenum">
              <a:rPr lang="zh-CN" altLang="en-US" smtClean="0"/>
              <a:t>20</a:t>
            </a:fld>
            <a:endParaRPr lang="zh-CN" altLang="en-US"/>
          </a:p>
        </p:txBody>
      </p:sp>
    </p:spTree>
    <p:extLst>
      <p:ext uri="{BB962C8B-B14F-4D97-AF65-F5344CB8AC3E}">
        <p14:creationId xmlns:p14="http://schemas.microsoft.com/office/powerpoint/2010/main" val="3337706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DAD8-1B69-4BBC-E071-10E34C8FD2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5FFFD2-5733-DF62-8F1F-3B66226AFB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366ADE-CB20-4591-0835-58B7D8A5FA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74746D-14A1-936C-E4B2-F014371DA6A7}"/>
              </a:ext>
            </a:extLst>
          </p:cNvPr>
          <p:cNvSpPr>
            <a:spLocks noGrp="1"/>
          </p:cNvSpPr>
          <p:nvPr>
            <p:ph type="sldNum" sz="quarter" idx="5"/>
          </p:nvPr>
        </p:nvSpPr>
        <p:spPr/>
        <p:txBody>
          <a:bodyPr/>
          <a:lstStyle/>
          <a:p>
            <a:fld id="{F74EE7AE-BB18-49A0-88AB-BAA3B84A1403}" type="slidenum">
              <a:rPr lang="zh-CN" altLang="en-US" smtClean="0"/>
              <a:t>24</a:t>
            </a:fld>
            <a:endParaRPr lang="zh-CN" altLang="en-US"/>
          </a:p>
        </p:txBody>
      </p:sp>
    </p:spTree>
    <p:extLst>
      <p:ext uri="{BB962C8B-B14F-4D97-AF65-F5344CB8AC3E}">
        <p14:creationId xmlns:p14="http://schemas.microsoft.com/office/powerpoint/2010/main" val="9860818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AC8D060-92F7-7495-FD5A-9E0DDBF198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451" y="-49869"/>
            <a:ext cx="12405972" cy="7753733"/>
          </a:xfrm>
          <a:prstGeom prst="rect">
            <a:avLst/>
          </a:prstGeom>
        </p:spPr>
      </p:pic>
      <p:sp>
        <p:nvSpPr>
          <p:cNvPr id="2" name="标题 1">
            <a:extLst>
              <a:ext uri="{FF2B5EF4-FFF2-40B4-BE49-F238E27FC236}">
                <a16:creationId xmlns:a16="http://schemas.microsoft.com/office/drawing/2014/main" id="{F0576F0F-4A7F-3A8B-F73E-796B15E75B74}"/>
              </a:ext>
            </a:extLst>
          </p:cNvPr>
          <p:cNvSpPr>
            <a:spLocks noGrp="1"/>
          </p:cNvSpPr>
          <p:nvPr>
            <p:ph type="ctrTitle"/>
          </p:nvPr>
        </p:nvSpPr>
        <p:spPr>
          <a:xfrm>
            <a:off x="1524000" y="1122363"/>
            <a:ext cx="9144000" cy="2387600"/>
          </a:xfrm>
        </p:spPr>
        <p:txBody>
          <a:bodyPr anchor="b"/>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EFB6D021-685E-0FA3-051F-C346018C5B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03D57C78-7E40-0C51-C2B7-824E7320D440}"/>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98FCE5BE-04EF-7A6F-C480-62EA0EE1F4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84DFEF-FF24-4DC8-7666-D2B3F5546628}"/>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11405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56D123A9-347C-F32C-1E8C-88DB53162BEB}"/>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rcRect l="-519" t="74426" r="519" b="12446"/>
          <a:stretch/>
        </p:blipFill>
        <p:spPr>
          <a:xfrm>
            <a:off x="-63260" y="0"/>
            <a:ext cx="12255260" cy="1017917"/>
          </a:xfrm>
          <a:prstGeom prst="rect">
            <a:avLst/>
          </a:prstGeom>
        </p:spPr>
      </p:pic>
      <p:sp>
        <p:nvSpPr>
          <p:cNvPr id="7" name="任意多边形 28">
            <a:extLst>
              <a:ext uri="{FF2B5EF4-FFF2-40B4-BE49-F238E27FC236}">
                <a16:creationId xmlns:a16="http://schemas.microsoft.com/office/drawing/2014/main" id="{BC9ED902-0EA1-2B65-1951-CB56A255F459}"/>
              </a:ext>
            </a:extLst>
          </p:cNvPr>
          <p:cNvSpPr/>
          <p:nvPr userDrawn="1"/>
        </p:nvSpPr>
        <p:spPr>
          <a:xfrm rot="5400000">
            <a:off x="-563836" y="39717"/>
            <a:ext cx="1023669" cy="943638"/>
          </a:xfrm>
          <a:custGeom>
            <a:avLst/>
            <a:gdLst>
              <a:gd name="connsiteX0" fmla="*/ 0 w 957581"/>
              <a:gd name="connsiteY0" fmla="*/ 308153 h 943638"/>
              <a:gd name="connsiteX1" fmla="*/ 0 w 957581"/>
              <a:gd name="connsiteY1" fmla="*/ 61631 h 943638"/>
              <a:gd name="connsiteX2" fmla="*/ 957581 w 957581"/>
              <a:gd name="connsiteY2" fmla="*/ 0 h 943638"/>
              <a:gd name="connsiteX3" fmla="*/ 957581 w 957581"/>
              <a:gd name="connsiteY3" fmla="*/ 132933 h 943638"/>
              <a:gd name="connsiteX4" fmla="*/ 957581 w 957581"/>
              <a:gd name="connsiteY4" fmla="*/ 308153 h 943638"/>
              <a:gd name="connsiteX5" fmla="*/ 957581 w 957581"/>
              <a:gd name="connsiteY5" fmla="*/ 943638 h 943638"/>
              <a:gd name="connsiteX6" fmla="*/ 1 w 957581"/>
              <a:gd name="connsiteY6" fmla="*/ 943638 h 943638"/>
              <a:gd name="connsiteX7" fmla="*/ 1 w 957581"/>
              <a:gd name="connsiteY7" fmla="*/ 308153 h 94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1" h="943638">
                <a:moveTo>
                  <a:pt x="0" y="308153"/>
                </a:moveTo>
                <a:lnTo>
                  <a:pt x="0" y="61631"/>
                </a:lnTo>
                <a:lnTo>
                  <a:pt x="957581" y="0"/>
                </a:lnTo>
                <a:lnTo>
                  <a:pt x="957581" y="132933"/>
                </a:lnTo>
                <a:lnTo>
                  <a:pt x="957581" y="308153"/>
                </a:lnTo>
                <a:lnTo>
                  <a:pt x="957581" y="943638"/>
                </a:lnTo>
                <a:lnTo>
                  <a:pt x="1" y="943638"/>
                </a:lnTo>
                <a:lnTo>
                  <a:pt x="1" y="308153"/>
                </a:lnTo>
                <a:close/>
              </a:path>
            </a:pathLst>
          </a:custGeom>
          <a:solidFill>
            <a:srgbClr val="092B6B"/>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endParaRPr>
          </a:p>
        </p:txBody>
      </p:sp>
      <p:sp>
        <p:nvSpPr>
          <p:cNvPr id="2" name="标题 1">
            <a:extLst>
              <a:ext uri="{FF2B5EF4-FFF2-40B4-BE49-F238E27FC236}">
                <a16:creationId xmlns:a16="http://schemas.microsoft.com/office/drawing/2014/main" id="{8705DC47-1622-3207-8EDB-8282866AC948}"/>
              </a:ext>
            </a:extLst>
          </p:cNvPr>
          <p:cNvSpPr>
            <a:spLocks noGrp="1"/>
          </p:cNvSpPr>
          <p:nvPr>
            <p:ph type="title"/>
          </p:nvPr>
        </p:nvSpPr>
        <p:spPr>
          <a:xfrm>
            <a:off x="532015" y="136525"/>
            <a:ext cx="8893258" cy="805252"/>
          </a:xfrm>
        </p:spPr>
        <p:txBody>
          <a:bodyPr/>
          <a:lstStyle>
            <a:lvl1pPr>
              <a:defRPr>
                <a:solidFill>
                  <a:schemeClr val="accent1">
                    <a:lumMod val="50000"/>
                  </a:schemeClr>
                </a:solidFill>
                <a:latin typeface="Times New Roman" panose="02020603050405020304" pitchFamily="18" charset="0"/>
                <a:ea typeface="华文中宋" panose="02010600040101010101" pitchFamily="2" charset="-122"/>
                <a:cs typeface="Times New Roman" panose="02020603050405020304" pitchFamily="18" charset="0"/>
              </a:defRPr>
            </a:lvl1pPr>
          </a:lstStyle>
          <a:p>
            <a:r>
              <a:rPr lang="zh-CN" altLang="en-US" dirty="0"/>
              <a:t>单击此处编辑母版标题样式</a:t>
            </a:r>
          </a:p>
        </p:txBody>
      </p:sp>
      <p:sp>
        <p:nvSpPr>
          <p:cNvPr id="4" name="日期占位符 3">
            <a:extLst>
              <a:ext uri="{FF2B5EF4-FFF2-40B4-BE49-F238E27FC236}">
                <a16:creationId xmlns:a16="http://schemas.microsoft.com/office/drawing/2014/main" id="{F39EEFD4-42DF-8C7F-3AFD-B894EB5137C6}"/>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945985B2-DDCF-40C7-E0A3-34A3FA78D8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4D1502-D4DC-8738-AEF6-2461B438D833}"/>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79817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2D1FD-E9E0-EF2A-617F-61FC246CEC5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59DC0F-3B04-FCF2-705C-6F9FBBB519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450902-0A2F-8E3D-3A74-A9961C0448F1}"/>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E12B116D-3599-1F73-9F40-F7D6CCA03B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08A0228-100B-9F6C-561C-CB4C79BEAF8F}"/>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51819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37C4D-C9E3-A4C9-CF9E-E56D33044AA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860981-7C73-39B9-DF85-ED06B925FB7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2D42041-92FA-6D3F-4458-8E310690C3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3728B6C-4853-63E0-1969-CB267FC369A7}"/>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6" name="页脚占位符 5">
            <a:extLst>
              <a:ext uri="{FF2B5EF4-FFF2-40B4-BE49-F238E27FC236}">
                <a16:creationId xmlns:a16="http://schemas.microsoft.com/office/drawing/2014/main" id="{F045DD10-9C05-CD9C-2414-5C4E151155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9561CAA-0593-C580-ECEA-6A8A16989709}"/>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3807078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4981DE-E245-9393-07B5-8289EC2B82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3DB07E8-7EE4-AB9A-89C2-6CE45C433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4E0244C-B261-D113-6A78-42B8D2E1060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D36CA4B-C6E0-15C5-30C5-C5D6AED3D2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E0111CA-2CA7-6AD3-BDE8-BA0B38CD4E1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A3CE49F-DDEF-5ADF-506A-A11598B766E7}"/>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8" name="页脚占位符 7">
            <a:extLst>
              <a:ext uri="{FF2B5EF4-FFF2-40B4-BE49-F238E27FC236}">
                <a16:creationId xmlns:a16="http://schemas.microsoft.com/office/drawing/2014/main" id="{7DC9436F-7374-5C72-E742-490113D0554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EC9BC32-28BA-DF79-C97D-6A01F0FE03F0}"/>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244354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8BE15-05F4-4D56-CDDC-B4FA3BE676D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2672E7-38FF-3DFA-874C-128B9C3F3BBA}"/>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4" name="页脚占位符 3">
            <a:extLst>
              <a:ext uri="{FF2B5EF4-FFF2-40B4-BE49-F238E27FC236}">
                <a16:creationId xmlns:a16="http://schemas.microsoft.com/office/drawing/2014/main" id="{86454E44-DEB3-0DA0-32CE-86986C037AB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B52DD56-D089-ED68-F7E1-A60B8112B8B4}"/>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287668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D65D446-663A-3797-5C0E-15CA3973BA6E}"/>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3" name="页脚占位符 2">
            <a:extLst>
              <a:ext uri="{FF2B5EF4-FFF2-40B4-BE49-F238E27FC236}">
                <a16:creationId xmlns:a16="http://schemas.microsoft.com/office/drawing/2014/main" id="{663F46EF-AB65-F69E-7D03-AEE17BD2DEF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0CC0E55-C773-7813-F46B-B29DAD480B1B}"/>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219880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A2735-4EBE-6CD7-38A8-A0D9964B6DE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03FB7D1-5162-24C9-8427-59F199E7D0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4648168-F4F1-1FD0-4085-E7F7B2855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A9D787-51DB-104C-7B9F-03585F4140B7}"/>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6" name="页脚占位符 5">
            <a:extLst>
              <a:ext uri="{FF2B5EF4-FFF2-40B4-BE49-F238E27FC236}">
                <a16:creationId xmlns:a16="http://schemas.microsoft.com/office/drawing/2014/main" id="{D0042813-B13D-9851-AACC-C28DAAE2CFB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9B1596-6FEB-5542-F940-4932BACADEC6}"/>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281063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6BE92-79AB-ECEF-CD8A-A7FB6E9CE41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9199804-3767-6784-70EC-BEBCCC233F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1D2D6A8-27F2-00C1-7123-0E8F77BA7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68A34B-2A2A-5D65-0A47-09E2069DA77A}"/>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6" name="页脚占位符 5">
            <a:extLst>
              <a:ext uri="{FF2B5EF4-FFF2-40B4-BE49-F238E27FC236}">
                <a16:creationId xmlns:a16="http://schemas.microsoft.com/office/drawing/2014/main" id="{26C14A1A-BEFB-F499-336B-3E2739D17B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7249CC-2131-79AC-8A05-1D0D37DDE5D3}"/>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193223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7ACAA-AE9E-9794-E9CE-29BC0EA9FC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B63CAD7-AAC5-0025-A944-42074B4A49C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624808-A894-A37D-CB11-BD3DE68ABD3D}"/>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CFF2DD3D-C7A8-66BA-2A64-F64E6DD5C1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48BC5B-7F4C-94A6-8E06-E716DE940ECA}"/>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12671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91DED3C-429E-C0B3-F046-37101978F74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47B2B34-16DF-F0E7-D743-730957BABA4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578352-18E8-8505-C38A-E9CEDB49EE7F}"/>
              </a:ext>
            </a:extLst>
          </p:cNvPr>
          <p:cNvSpPr>
            <a:spLocks noGrp="1"/>
          </p:cNvSpPr>
          <p:nvPr>
            <p:ph type="dt" sz="half" idx="10"/>
          </p:nvPr>
        </p:nvSpPr>
        <p:spPr/>
        <p:txBody>
          <a:body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1D28EB20-F387-50B7-FFAB-FA5A4FBE63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1CCA23-F575-4BB9-5B64-2A77EB217D52}"/>
              </a:ext>
            </a:extLst>
          </p:cNvPr>
          <p:cNvSpPr>
            <a:spLocks noGrp="1"/>
          </p:cNvSpPr>
          <p:nvPr>
            <p:ph type="sldNum" sz="quarter" idx="12"/>
          </p:nvPr>
        </p:nvSpPr>
        <p:spPr/>
        <p:txBody>
          <a:body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159938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C3A6DDD-736C-9CFC-2DB7-1F5EC12A89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B1F15ED-08E0-6E12-D4EA-2CE3603582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FA5514-05C8-40F2-3FA2-7DCE1C2FF1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CC4D0-1719-49B2-ADF2-41354070DA7E}" type="datetimeFigureOut">
              <a:rPr lang="zh-CN" altLang="en-US" smtClean="0"/>
              <a:t>2024-11-17</a:t>
            </a:fld>
            <a:endParaRPr lang="zh-CN" altLang="en-US"/>
          </a:p>
        </p:txBody>
      </p:sp>
      <p:sp>
        <p:nvSpPr>
          <p:cNvPr id="5" name="页脚占位符 4">
            <a:extLst>
              <a:ext uri="{FF2B5EF4-FFF2-40B4-BE49-F238E27FC236}">
                <a16:creationId xmlns:a16="http://schemas.microsoft.com/office/drawing/2014/main" id="{1541B205-5196-E4B1-82A7-41B978E1DF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35F4AC3-EDD4-9BF2-A49F-4F8AA4F22A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BCF475-6943-4322-AF64-01BA256FB6A1}" type="slidenum">
              <a:rPr lang="zh-CN" altLang="en-US" smtClean="0"/>
              <a:t>‹#›</a:t>
            </a:fld>
            <a:endParaRPr lang="zh-CN" altLang="en-US"/>
          </a:p>
        </p:txBody>
      </p:sp>
    </p:spTree>
    <p:extLst>
      <p:ext uri="{BB962C8B-B14F-4D97-AF65-F5344CB8AC3E}">
        <p14:creationId xmlns:p14="http://schemas.microsoft.com/office/powerpoint/2010/main" val="3539934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1.png"/><Relationship Id="rId1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4.png"/><Relationship Id="rId2" Type="http://schemas.openxmlformats.org/officeDocument/2006/relationships/image" Target="../media/image14.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20.png"/><Relationship Id="rId5" Type="http://schemas.openxmlformats.org/officeDocument/2006/relationships/image" Target="../media/image12.png"/><Relationship Id="rId10" Type="http://schemas.openxmlformats.org/officeDocument/2006/relationships/image" Target="../media/image19.png"/><Relationship Id="rId19"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13.png"/><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310.png"/><Relationship Id="rId13" Type="http://schemas.openxmlformats.org/officeDocument/2006/relationships/image" Target="../media/image11.png"/><Relationship Id="rId18" Type="http://schemas.openxmlformats.org/officeDocument/2006/relationships/image" Target="../media/image411.png"/><Relationship Id="rId3" Type="http://schemas.openxmlformats.org/officeDocument/2006/relationships/image" Target="../media/image15.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5.png"/><Relationship Id="rId2" Type="http://schemas.openxmlformats.org/officeDocument/2006/relationships/image" Target="../media/image14.png"/><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00.png"/><Relationship Id="rId11" Type="http://schemas.openxmlformats.org/officeDocument/2006/relationships/image" Target="../media/image20.png"/><Relationship Id="rId5" Type="http://schemas.openxmlformats.org/officeDocument/2006/relationships/image" Target="../media/image12.png"/><Relationship Id="rId15" Type="http://schemas.openxmlformats.org/officeDocument/2006/relationships/image" Target="../media/image23.png"/><Relationship Id="rId10" Type="http://schemas.openxmlformats.org/officeDocument/2006/relationships/image" Target="../media/image320.png"/><Relationship Id="rId19" Type="http://schemas.openxmlformats.org/officeDocument/2006/relationships/image" Target="../media/image26.png"/><Relationship Id="rId4" Type="http://schemas.openxmlformats.org/officeDocument/2006/relationships/image" Target="../media/image290.png"/><Relationship Id="rId9" Type="http://schemas.openxmlformats.org/officeDocument/2006/relationships/image" Target="../media/image13.png"/><Relationship Id="rId1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26.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14.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image" Target="../media/image370.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421.png"/><Relationship Id="rId4" Type="http://schemas.openxmlformats.org/officeDocument/2006/relationships/image" Target="../media/image340.png"/><Relationship Id="rId9" Type="http://schemas.openxmlformats.org/officeDocument/2006/relationships/image" Target="../media/image360.png"/><Relationship Id="rId1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440.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14.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431.png"/><Relationship Id="rId11" Type="http://schemas.openxmlformats.org/officeDocument/2006/relationships/image" Target="../media/image420.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380.png"/><Relationship Id="rId9" Type="http://schemas.openxmlformats.org/officeDocument/2006/relationships/image" Target="../media/image410.png"/><Relationship Id="rId1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400.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14.png"/><Relationship Id="rId16" Type="http://schemas.openxmlformats.org/officeDocument/2006/relationships/image" Target="../media/image23.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30.png"/><Relationship Id="rId11" Type="http://schemas.openxmlformats.org/officeDocument/2006/relationships/image" Target="../media/image420.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56.png"/><Relationship Id="rId4" Type="http://schemas.openxmlformats.org/officeDocument/2006/relationships/image" Target="../media/image380.png"/><Relationship Id="rId9" Type="http://schemas.openxmlformats.org/officeDocument/2006/relationships/image" Target="../media/image410.png"/><Relationship Id="rId1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400.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14.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430.png"/><Relationship Id="rId11" Type="http://schemas.openxmlformats.org/officeDocument/2006/relationships/image" Target="../media/image420.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58.png"/><Relationship Id="rId4" Type="http://schemas.openxmlformats.org/officeDocument/2006/relationships/image" Target="../media/image380.png"/><Relationship Id="rId9" Type="http://schemas.openxmlformats.org/officeDocument/2006/relationships/image" Target="../media/image410.png"/><Relationship Id="rId1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9.png"/><Relationship Id="rId7"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3.jpg"/><Relationship Id="rId5" Type="http://schemas.openxmlformats.org/officeDocument/2006/relationships/image" Target="../media/image11.png"/><Relationship Id="rId10" Type="http://schemas.openxmlformats.org/officeDocument/2006/relationships/image" Target="../media/image32.png"/><Relationship Id="rId4" Type="http://schemas.openxmlformats.org/officeDocument/2006/relationships/image" Target="../media/image10.png"/><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13.png"/><Relationship Id="rId26" Type="http://schemas.openxmlformats.org/officeDocument/2006/relationships/image" Target="../media/image77.png"/><Relationship Id="rId21" Type="http://schemas.openxmlformats.org/officeDocument/2006/relationships/image" Target="../media/image72.png"/><Relationship Id="rId12" Type="http://schemas.openxmlformats.org/officeDocument/2006/relationships/image" Target="../media/image20.png"/><Relationship Id="rId17" Type="http://schemas.openxmlformats.org/officeDocument/2006/relationships/image" Target="../media/image69.png"/><Relationship Id="rId25" Type="http://schemas.openxmlformats.org/officeDocument/2006/relationships/image" Target="../media/image76.png"/><Relationship Id="rId2" Type="http://schemas.openxmlformats.org/officeDocument/2006/relationships/image" Target="../media/image14.png"/><Relationship Id="rId16" Type="http://schemas.openxmlformats.org/officeDocument/2006/relationships/image" Target="../media/image68.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30.png"/><Relationship Id="rId24" Type="http://schemas.openxmlformats.org/officeDocument/2006/relationships/image" Target="../media/image75.png"/><Relationship Id="rId15" Type="http://schemas.openxmlformats.org/officeDocument/2006/relationships/image" Target="../media/image12.png"/><Relationship Id="rId23" Type="http://schemas.openxmlformats.org/officeDocument/2006/relationships/image" Target="../media/image74.png"/><Relationship Id="rId19" Type="http://schemas.openxmlformats.org/officeDocument/2006/relationships/image" Target="../media/image70.png"/><Relationship Id="rId14" Type="http://schemas.openxmlformats.org/officeDocument/2006/relationships/image" Target="../media/image11.png"/><Relationship Id="rId22" Type="http://schemas.openxmlformats.org/officeDocument/2006/relationships/image" Target="../media/image73.png"/><Relationship Id="rId27" Type="http://schemas.openxmlformats.org/officeDocument/2006/relationships/image" Target="../media/image7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1.png"/><Relationship Id="rId7" Type="http://schemas.openxmlformats.org/officeDocument/2006/relationships/image" Target="../media/image321.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11.png"/><Relationship Id="rId10" Type="http://schemas.openxmlformats.org/officeDocument/2006/relationships/image" Target="../media/image351.png"/><Relationship Id="rId4" Type="http://schemas.openxmlformats.org/officeDocument/2006/relationships/image" Target="../media/image15.png"/><Relationship Id="rId9" Type="http://schemas.openxmlformats.org/officeDocument/2006/relationships/image" Target="../media/image341.png"/></Relationships>
</file>

<file path=ppt/slides/_rels/slide2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4.png"/><Relationship Id="rId7"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40.png"/></Relationships>
</file>

<file path=ppt/slides/_rels/slide2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oleObject" Target="../embeddings/oleObject2.bin"/><Relationship Id="rId18" Type="http://schemas.openxmlformats.org/officeDocument/2006/relationships/image" Target="../media/image54.png"/><Relationship Id="rId3" Type="http://schemas.openxmlformats.org/officeDocument/2006/relationships/image" Target="../media/image36.wmf"/><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3.png"/><Relationship Id="rId2" Type="http://schemas.openxmlformats.org/officeDocument/2006/relationships/oleObject" Target="../embeddings/oleObject1.bin"/><Relationship Id="rId16"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1.png"/><Relationship Id="rId10" Type="http://schemas.openxmlformats.org/officeDocument/2006/relationships/image" Target="../media/image47.png"/><Relationship Id="rId19" Type="http://schemas.openxmlformats.org/officeDocument/2006/relationships/image" Target="../media/image55.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2070B71A-84E0-C2C9-08E9-21F0C33F83D0}"/>
              </a:ext>
            </a:extLst>
          </p:cNvPr>
          <p:cNvGrpSpPr/>
          <p:nvPr/>
        </p:nvGrpSpPr>
        <p:grpSpPr>
          <a:xfrm>
            <a:off x="536567" y="1665382"/>
            <a:ext cx="11118865" cy="917416"/>
            <a:chOff x="701722" y="498428"/>
            <a:chExt cx="11118865" cy="917416"/>
          </a:xfrm>
        </p:grpSpPr>
        <p:sp>
          <p:nvSpPr>
            <p:cNvPr id="9" name="矩形: 圆角 8">
              <a:extLst>
                <a:ext uri="{FF2B5EF4-FFF2-40B4-BE49-F238E27FC236}">
                  <a16:creationId xmlns:a16="http://schemas.microsoft.com/office/drawing/2014/main" id="{86EF67C4-C02A-E9D0-8ED7-E9DAB9E73D28}"/>
                </a:ext>
              </a:extLst>
            </p:cNvPr>
            <p:cNvSpPr/>
            <p:nvPr/>
          </p:nvSpPr>
          <p:spPr>
            <a:xfrm>
              <a:off x="701722" y="498428"/>
              <a:ext cx="11118865" cy="917416"/>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10" name="PA_文本框 1">
              <a:extLst>
                <a:ext uri="{FF2B5EF4-FFF2-40B4-BE49-F238E27FC236}">
                  <a16:creationId xmlns:a16="http://schemas.microsoft.com/office/drawing/2014/main" id="{24A115B5-D04A-01A9-DD17-46CE4370897A}"/>
                </a:ext>
              </a:extLst>
            </p:cNvPr>
            <p:cNvSpPr txBox="1"/>
            <p:nvPr>
              <p:custDataLst>
                <p:tags r:id="rId1"/>
              </p:custDataLst>
            </p:nvPr>
          </p:nvSpPr>
          <p:spPr>
            <a:xfrm>
              <a:off x="749938" y="572416"/>
              <a:ext cx="10970682" cy="769441"/>
            </a:xfrm>
            <a:prstGeom prst="rect">
              <a:avLst/>
            </a:prstGeom>
            <a:noFill/>
          </p:spPr>
          <p:txBody>
            <a:bodyPr wrap="square" rtlCol="0">
              <a:spAutoFit/>
            </a:bodyPr>
            <a:lstStyle/>
            <a:p>
              <a:pPr algn="ctr"/>
              <a:r>
                <a:rPr lang="zh-CN" altLang="en-US" sz="4400" b="1" dirty="0">
                  <a:solidFill>
                    <a:schemeClr val="accent5">
                      <a:lumMod val="50000"/>
                    </a:schemeClr>
                  </a:solidFill>
                  <a:latin typeface="黑体" panose="02010609060101010101" pitchFamily="49" charset="-122"/>
                  <a:ea typeface="黑体" panose="02010609060101010101" pitchFamily="49" charset="-122"/>
                  <a:sym typeface="华文细黑" panose="02010600040101010101" pitchFamily="2" charset="-122"/>
                </a:rPr>
                <a:t>基于扩散模型的卫星海表温度超分辨率处理</a:t>
              </a:r>
            </a:p>
          </p:txBody>
        </p:sp>
      </p:grpSp>
      <p:pic>
        <p:nvPicPr>
          <p:cNvPr id="1026" name="Picture 2">
            <a:extLst>
              <a:ext uri="{FF2B5EF4-FFF2-40B4-BE49-F238E27FC236}">
                <a16:creationId xmlns:a16="http://schemas.microsoft.com/office/drawing/2014/main" id="{FC1A6BFE-A9EF-5C09-84BA-20129CC90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464" y="49671"/>
            <a:ext cx="855254" cy="855056"/>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C584E32D-8B91-1055-ED80-BAA34A75B38E}"/>
              </a:ext>
            </a:extLst>
          </p:cNvPr>
          <p:cNvSpPr txBox="1"/>
          <p:nvPr/>
        </p:nvSpPr>
        <p:spPr>
          <a:xfrm>
            <a:off x="6891307" y="6924721"/>
            <a:ext cx="5222299" cy="523220"/>
          </a:xfrm>
          <a:prstGeom prst="rect">
            <a:avLst/>
          </a:prstGeom>
          <a:noFill/>
        </p:spPr>
        <p:txBody>
          <a:bodyPr wrap="square">
            <a:spAutoFit/>
          </a:bodyPr>
          <a:lstStyle/>
          <a:p>
            <a:pPr algn="ctr"/>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创新创业训练培育项目中期汇报</a:t>
            </a:r>
          </a:p>
        </p:txBody>
      </p:sp>
      <p:sp>
        <p:nvSpPr>
          <p:cNvPr id="18" name="文本框 17">
            <a:extLst>
              <a:ext uri="{FF2B5EF4-FFF2-40B4-BE49-F238E27FC236}">
                <a16:creationId xmlns:a16="http://schemas.microsoft.com/office/drawing/2014/main" id="{5CC2FEDF-D346-AC91-73D3-302E85D023E9}"/>
              </a:ext>
            </a:extLst>
          </p:cNvPr>
          <p:cNvSpPr txBox="1"/>
          <p:nvPr/>
        </p:nvSpPr>
        <p:spPr>
          <a:xfrm>
            <a:off x="961549" y="2811487"/>
            <a:ext cx="10217150" cy="953135"/>
          </a:xfrm>
          <a:prstGeom prst="rect">
            <a:avLst/>
          </a:prstGeom>
          <a:noFill/>
        </p:spPr>
        <p:txBody>
          <a:bodyPr wrap="square">
            <a:spAutoFit/>
          </a:bodyPr>
          <a:lstStyle/>
          <a:p>
            <a:pPr algn="ctr"/>
            <a:r>
              <a:rPr lang="zh-CN" altLang="en-US" sz="2800" b="1" dirty="0">
                <a:solidFill>
                  <a:schemeClr val="bg1"/>
                </a:solidFill>
                <a:latin typeface="Times New Roman" panose="02020603050405020304" pitchFamily="18" charset="0"/>
                <a:ea typeface="+mj-lt"/>
                <a:cs typeface="Times New Roman" panose="02020603050405020304" pitchFamily="18" charset="0"/>
              </a:rPr>
              <a:t>Super Resolution of Satellite-Derived Sea Surface Temperature Using a Diffusion-Based Model</a:t>
            </a:r>
          </a:p>
        </p:txBody>
      </p:sp>
      <p:sp>
        <p:nvSpPr>
          <p:cNvPr id="2" name="文本框 1">
            <a:extLst>
              <a:ext uri="{FF2B5EF4-FFF2-40B4-BE49-F238E27FC236}">
                <a16:creationId xmlns:a16="http://schemas.microsoft.com/office/drawing/2014/main" id="{59E1FB71-7475-3316-9A42-B80A0CA1F59C}"/>
              </a:ext>
            </a:extLst>
          </p:cNvPr>
          <p:cNvSpPr txBox="1"/>
          <p:nvPr/>
        </p:nvSpPr>
        <p:spPr>
          <a:xfrm>
            <a:off x="1162314" y="4500120"/>
            <a:ext cx="10217150" cy="1384995"/>
          </a:xfrm>
          <a:prstGeom prst="rect">
            <a:avLst/>
          </a:prstGeom>
          <a:noFill/>
        </p:spPr>
        <p:txBody>
          <a:bodyPr wrap="square">
            <a:spAutoFit/>
          </a:bodyPr>
          <a:lstStyle/>
          <a:p>
            <a:pPr algn="ctr"/>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华东师范大学</a:t>
            </a:r>
            <a:endParaRPr lang="en-US" altLang="zh-CN"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江叶鹏，洪宸烨，张蕴丹，王泇铮，万宇锐</a:t>
            </a:r>
            <a:endParaRPr lang="en-US" altLang="zh-CN"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zh-CN" altLang="en-US" sz="28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指导老师：史兴杰</a:t>
            </a:r>
          </a:p>
        </p:txBody>
      </p:sp>
      <p:sp>
        <p:nvSpPr>
          <p:cNvPr id="4" name="文本框 3">
            <a:extLst>
              <a:ext uri="{FF2B5EF4-FFF2-40B4-BE49-F238E27FC236}">
                <a16:creationId xmlns:a16="http://schemas.microsoft.com/office/drawing/2014/main" id="{3B6449F0-53B9-CDE5-2218-6BDFA59FE171}"/>
              </a:ext>
            </a:extLst>
          </p:cNvPr>
          <p:cNvSpPr txBox="1"/>
          <p:nvPr/>
        </p:nvSpPr>
        <p:spPr>
          <a:xfrm>
            <a:off x="8698223" y="6377355"/>
            <a:ext cx="3588649" cy="961289"/>
          </a:xfrm>
          <a:prstGeom prst="rect">
            <a:avLst/>
          </a:prstGeom>
          <a:noFill/>
        </p:spPr>
        <p:txBody>
          <a:bodyPr wrap="square">
            <a:spAutoFit/>
          </a:bodyPr>
          <a:lstStyle/>
          <a:p>
            <a:pPr algn="ctr">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创新创业训练培育项目中期答辩</a:t>
            </a:r>
          </a:p>
        </p:txBody>
      </p:sp>
    </p:spTree>
    <p:extLst>
      <p:ext uri="{BB962C8B-B14F-4D97-AF65-F5344CB8AC3E}">
        <p14:creationId xmlns:p14="http://schemas.microsoft.com/office/powerpoint/2010/main" val="3685450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E8D3DA2-76E8-21FD-1A66-A57FBD6C0BA6}"/>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t="-95" b="8779"/>
          <a:stretch/>
        </p:blipFill>
        <p:spPr>
          <a:xfrm>
            <a:off x="0" y="-57150"/>
            <a:ext cx="12192000" cy="7080250"/>
          </a:xfrm>
          <a:prstGeom prst="rect">
            <a:avLst/>
          </a:prstGeom>
        </p:spPr>
      </p:pic>
      <p:grpSp>
        <p:nvGrpSpPr>
          <p:cNvPr id="8" name="组合 7">
            <a:extLst>
              <a:ext uri="{FF2B5EF4-FFF2-40B4-BE49-F238E27FC236}">
                <a16:creationId xmlns:a16="http://schemas.microsoft.com/office/drawing/2014/main" id="{5C2D62DD-7FCF-C619-39B3-5FE60766D4A0}"/>
              </a:ext>
            </a:extLst>
          </p:cNvPr>
          <p:cNvGrpSpPr/>
          <p:nvPr/>
        </p:nvGrpSpPr>
        <p:grpSpPr>
          <a:xfrm>
            <a:off x="1080500" y="2444929"/>
            <a:ext cx="8926141" cy="2076091"/>
            <a:chOff x="1276032" y="2737579"/>
            <a:chExt cx="8926141" cy="2076091"/>
          </a:xfrm>
        </p:grpSpPr>
        <p:sp>
          <p:nvSpPr>
            <p:cNvPr id="6" name="矩形 5">
              <a:extLst>
                <a:ext uri="{FF2B5EF4-FFF2-40B4-BE49-F238E27FC236}">
                  <a16:creationId xmlns:a16="http://schemas.microsoft.com/office/drawing/2014/main" id="{60AD06BD-8CC9-1D24-4B34-5D179C4B64A5}"/>
                </a:ext>
              </a:extLst>
            </p:cNvPr>
            <p:cNvSpPr/>
            <p:nvPr/>
          </p:nvSpPr>
          <p:spPr>
            <a:xfrm>
              <a:off x="2185358" y="2737579"/>
              <a:ext cx="8016815" cy="2076091"/>
            </a:xfrm>
            <a:prstGeom prst="rect">
              <a:avLst/>
            </a:prstGeom>
            <a:solidFill>
              <a:schemeClr val="bg1">
                <a:lumMod val="9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506033" y="3011540"/>
              <a:ext cx="2133600" cy="1323439"/>
            </a:xfrm>
            <a:prstGeom prst="rect">
              <a:avLst/>
            </a:prstGeom>
            <a:noFill/>
          </p:spPr>
          <p:txBody>
            <a:bodyPr wrap="square" rtlCol="0">
              <a:spAutoFit/>
            </a:bodyPr>
            <a:lstStyle>
              <a:defPPr>
                <a:defRPr lang="zh-CN"/>
              </a:defPPr>
              <a:lvl1pPr algn="ctr">
                <a:defRPr sz="8000">
                  <a:solidFill>
                    <a:schemeClr val="bg1"/>
                  </a:solidFill>
                  <a:latin typeface="造字工房尚黑 G0v1 常规体" pitchFamily="50" charset="-122"/>
                  <a:ea typeface="造字工房尚黑 G0v1 常规体" pitchFamily="50" charset="-122"/>
                </a:defRPr>
              </a:lvl1pPr>
            </a:lstStyle>
            <a:p>
              <a:r>
                <a:rPr lang="en-US" altLang="zh-CN"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01</a:t>
              </a:r>
              <a:endParaRPr lang="zh-CN" altLang="en-US"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1" name="文本框 20"/>
            <p:cNvSpPr txBox="1"/>
            <p:nvPr/>
          </p:nvSpPr>
          <p:spPr>
            <a:xfrm>
              <a:off x="2883194" y="4109784"/>
              <a:ext cx="1287264" cy="307777"/>
            </a:xfrm>
            <a:prstGeom prst="rect">
              <a:avLst/>
            </a:prstGeom>
            <a:noFill/>
          </p:spPr>
          <p:txBody>
            <a:bodyPr wrap="square" rtlCol="0">
              <a:spAutoFit/>
            </a:bodyPr>
            <a:lstStyle/>
            <a:p>
              <a:pPr algn="ctr"/>
              <a:r>
                <a:rPr lang="en-US" altLang="zh-CN"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rPr>
                <a:t>PART ONE</a:t>
              </a:r>
              <a:endParaRPr lang="zh-CN" altLang="en-US"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2" name="文本框 41"/>
            <p:cNvSpPr txBox="1"/>
            <p:nvPr/>
          </p:nvSpPr>
          <p:spPr>
            <a:xfrm>
              <a:off x="5579408" y="3224970"/>
              <a:ext cx="3218519"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问题与背景</a:t>
              </a:r>
              <a:endParaRPr lang="en-US" altLang="zh-CN"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3" name="矩形 22"/>
            <p:cNvSpPr/>
            <p:nvPr/>
          </p:nvSpPr>
          <p:spPr>
            <a:xfrm>
              <a:off x="1276032" y="3906336"/>
              <a:ext cx="7521895" cy="42864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rPr>
                <a:t>Background</a:t>
              </a:r>
              <a:endParaRPr lang="zh-CN" altLang="en-US"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58043-36FB-FB49-F4BB-C041B268C081}"/>
              </a:ext>
            </a:extLst>
          </p:cNvPr>
          <p:cNvSpPr>
            <a:spLocks noGrp="1"/>
          </p:cNvSpPr>
          <p:nvPr>
            <p:ph type="title"/>
          </p:nvPr>
        </p:nvSpPr>
        <p:spPr>
          <a:xfrm>
            <a:off x="529087" y="104629"/>
            <a:ext cx="9426159" cy="805252"/>
          </a:xfrm>
        </p:spPr>
        <p:txBody>
          <a:bodyPr/>
          <a:lstStyle/>
          <a:p>
            <a:r>
              <a:rPr lang="zh-CN" altLang="en-US" dirty="0">
                <a:solidFill>
                  <a:schemeClr val="accent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问题与背景</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 </a:t>
            </a:r>
            <a:r>
              <a:rPr lang="en-US" altLang="zh-CN" dirty="0">
                <a:solidFill>
                  <a:schemeClr val="accent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SST</a:t>
            </a:r>
            <a:r>
              <a:rPr lang="zh-CN" altLang="en-US" dirty="0">
                <a:solidFill>
                  <a:schemeClr val="accent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数据</a:t>
            </a:r>
          </a:p>
        </p:txBody>
      </p:sp>
      <p:grpSp>
        <p:nvGrpSpPr>
          <p:cNvPr id="5" name="组合 4">
            <a:extLst>
              <a:ext uri="{FF2B5EF4-FFF2-40B4-BE49-F238E27FC236}">
                <a16:creationId xmlns:a16="http://schemas.microsoft.com/office/drawing/2014/main" id="{84C62B4C-851A-FCF7-C98F-BD6E5167FD49}"/>
              </a:ext>
            </a:extLst>
          </p:cNvPr>
          <p:cNvGrpSpPr/>
          <p:nvPr/>
        </p:nvGrpSpPr>
        <p:grpSpPr>
          <a:xfrm>
            <a:off x="8107144" y="4933422"/>
            <a:ext cx="3390091" cy="1711063"/>
            <a:chOff x="8801909" y="155377"/>
            <a:chExt cx="3390091" cy="1711063"/>
          </a:xfrm>
        </p:grpSpPr>
        <p:pic>
          <p:nvPicPr>
            <p:cNvPr id="2050" name="Picture 2">
              <a:extLst>
                <a:ext uri="{FF2B5EF4-FFF2-40B4-BE49-F238E27FC236}">
                  <a16:creationId xmlns:a16="http://schemas.microsoft.com/office/drawing/2014/main" id="{DA2E2D05-5A48-AC1E-415A-4E7690948B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441" t="68918" r="66007" b="1536"/>
            <a:stretch/>
          </p:blipFill>
          <p:spPr bwMode="auto">
            <a:xfrm>
              <a:off x="8801909" y="155377"/>
              <a:ext cx="1713691" cy="17110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44451D93-E09B-2929-7978-388A189010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809" t="68918" r="50000" b="1536"/>
            <a:stretch/>
          </p:blipFill>
          <p:spPr bwMode="auto">
            <a:xfrm>
              <a:off x="10515600" y="155377"/>
              <a:ext cx="1676400" cy="17110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组合 9">
            <a:extLst>
              <a:ext uri="{FF2B5EF4-FFF2-40B4-BE49-F238E27FC236}">
                <a16:creationId xmlns:a16="http://schemas.microsoft.com/office/drawing/2014/main" id="{95401C43-0ECC-EED2-81C1-1C3D2BFB7DA9}"/>
              </a:ext>
            </a:extLst>
          </p:cNvPr>
          <p:cNvGrpSpPr/>
          <p:nvPr/>
        </p:nvGrpSpPr>
        <p:grpSpPr>
          <a:xfrm>
            <a:off x="1033556" y="2143293"/>
            <a:ext cx="1788533" cy="2048812"/>
            <a:chOff x="667646" y="2880057"/>
            <a:chExt cx="1788533" cy="2048812"/>
          </a:xfrm>
        </p:grpSpPr>
        <p:sp>
          <p:nvSpPr>
            <p:cNvPr id="7" name="六边形 6">
              <a:extLst>
                <a:ext uri="{FF2B5EF4-FFF2-40B4-BE49-F238E27FC236}">
                  <a16:creationId xmlns:a16="http://schemas.microsoft.com/office/drawing/2014/main" id="{29ADD524-EDF6-6418-4BF1-23DA53FEAD4D}"/>
                </a:ext>
              </a:extLst>
            </p:cNvPr>
            <p:cNvSpPr/>
            <p:nvPr/>
          </p:nvSpPr>
          <p:spPr>
            <a:xfrm rot="5400000">
              <a:off x="526349" y="3021354"/>
              <a:ext cx="2048812" cy="1766218"/>
            </a:xfrm>
            <a:prstGeom prst="hexagon">
              <a:avLst/>
            </a:prstGeom>
            <a:gradFill>
              <a:gsLst>
                <a:gs pos="35000">
                  <a:srgbClr val="256090"/>
                </a:gs>
                <a:gs pos="100000">
                  <a:srgbClr val="092B6B"/>
                </a:gs>
              </a:gsLst>
              <a:lin ang="189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endParaRPr>
            </a:p>
          </p:txBody>
        </p:sp>
        <p:sp>
          <p:nvSpPr>
            <p:cNvPr id="8" name="TextBox 27">
              <a:extLst>
                <a:ext uri="{FF2B5EF4-FFF2-40B4-BE49-F238E27FC236}">
                  <a16:creationId xmlns:a16="http://schemas.microsoft.com/office/drawing/2014/main" id="{0BB08968-A978-15A4-257B-8EF6508E4EFD}"/>
                </a:ext>
              </a:extLst>
            </p:cNvPr>
            <p:cNvSpPr txBox="1">
              <a:spLocks noChangeArrowheads="1"/>
            </p:cNvSpPr>
            <p:nvPr/>
          </p:nvSpPr>
          <p:spPr bwMode="auto">
            <a:xfrm>
              <a:off x="689961" y="3358670"/>
              <a:ext cx="1766218" cy="115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350"/>
                </a:spcBef>
                <a:buClr>
                  <a:schemeClr val="accent1"/>
                </a:buClr>
                <a:buSzPct val="80000"/>
                <a:buFont typeface="Wingdings" panose="05000000000000000000" pitchFamily="2" charset="2"/>
                <a:buChar char="Ø"/>
                <a:defRPr sz="2400">
                  <a:solidFill>
                    <a:schemeClr val="accent1"/>
                  </a:solidFill>
                  <a:latin typeface="Times New Roman" panose="02020603050405020304" pitchFamily="18" charset="0"/>
                  <a:ea typeface="幼圆" panose="02010509060101010101" pitchFamily="49" charset="-122"/>
                  <a:sym typeface="Times New Roman" panose="02020603050405020304" pitchFamily="18" charset="0"/>
                </a:defRPr>
              </a:lvl1pPr>
              <a:lvl2pPr marL="742950" indent="-285750">
                <a:lnSpc>
                  <a:spcPct val="130000"/>
                </a:lnSpc>
                <a:buClr>
                  <a:schemeClr val="accent1"/>
                </a:buClr>
                <a:buSzPct val="80000"/>
                <a:buFont typeface="Wingdings" panose="05000000000000000000" pitchFamily="2" charset="2"/>
                <a:buChar char=" "/>
                <a:defRPr sz="1600">
                  <a:solidFill>
                    <a:schemeClr val="tx1"/>
                  </a:solidFill>
                  <a:latin typeface="Times New Roman" panose="02020603050405020304" pitchFamily="18" charset="0"/>
                  <a:ea typeface="幼圆" panose="02010509060101010101" pitchFamily="49" charset="-122"/>
                  <a:sym typeface="Times New Roman" panose="02020603050405020304" pitchFamily="18" charset="0"/>
                </a:defRPr>
              </a:lvl2pPr>
              <a:lvl3pPr marL="1143000" indent="-228600">
                <a:lnSpc>
                  <a:spcPct val="90000"/>
                </a:lnSpc>
                <a:spcBef>
                  <a:spcPts val="375"/>
                </a:spcBef>
                <a:buClr>
                  <a:schemeClr val="accent1"/>
                </a:buClr>
                <a:buSzPct val="80000"/>
                <a:buFont typeface="Wingdings" panose="05000000000000000000" pitchFamily="2" charset="2"/>
                <a:buChar char="•"/>
                <a:defRPr sz="15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3pPr>
              <a:lvl4pPr marL="1600200" indent="-228600">
                <a:lnSpc>
                  <a:spcPct val="90000"/>
                </a:lnSpc>
                <a:spcBef>
                  <a:spcPts val="375"/>
                </a:spcBef>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4pPr>
              <a:lvl5pPr marL="2057400" indent="-228600">
                <a:lnSpc>
                  <a:spcPct val="90000"/>
                </a:lnSpc>
                <a:spcBef>
                  <a:spcPts val="375"/>
                </a:spcBef>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5pPr>
              <a:lvl6pPr marL="2514600" indent="-228600" defTabSz="457200" eaLnBrk="0" fontAlgn="base" hangingPunct="0">
                <a:lnSpc>
                  <a:spcPct val="90000"/>
                </a:lnSpc>
                <a:spcBef>
                  <a:spcPts val="375"/>
                </a:spcBef>
                <a:spcAft>
                  <a:spcPct val="0"/>
                </a:spcAft>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6pPr>
              <a:lvl7pPr marL="2971800" indent="-228600" defTabSz="457200" eaLnBrk="0" fontAlgn="base" hangingPunct="0">
                <a:lnSpc>
                  <a:spcPct val="90000"/>
                </a:lnSpc>
                <a:spcBef>
                  <a:spcPts val="375"/>
                </a:spcBef>
                <a:spcAft>
                  <a:spcPct val="0"/>
                </a:spcAft>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7pPr>
              <a:lvl8pPr marL="3429000" indent="-228600" defTabSz="457200" eaLnBrk="0" fontAlgn="base" hangingPunct="0">
                <a:lnSpc>
                  <a:spcPct val="90000"/>
                </a:lnSpc>
                <a:spcBef>
                  <a:spcPts val="375"/>
                </a:spcBef>
                <a:spcAft>
                  <a:spcPct val="0"/>
                </a:spcAft>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8pPr>
              <a:lvl9pPr marL="3886200" indent="-228600" defTabSz="457200" eaLnBrk="0" fontAlgn="base" hangingPunct="0">
                <a:lnSpc>
                  <a:spcPct val="90000"/>
                </a:lnSpc>
                <a:spcBef>
                  <a:spcPts val="375"/>
                </a:spcBef>
                <a:spcAft>
                  <a:spcPct val="0"/>
                </a:spcAft>
                <a:buClr>
                  <a:schemeClr val="accent1"/>
                </a:buClr>
                <a:buSzPct val="80000"/>
                <a:buFont typeface="Wingdings" panose="05000000000000000000" pitchFamily="2" charset="2"/>
                <a:buChar char="•"/>
                <a:defRPr sz="1300">
                  <a:solidFill>
                    <a:srgbClr val="7F7F7F"/>
                  </a:solidFill>
                  <a:latin typeface="Times New Roman" panose="02020603050405020304" pitchFamily="18" charset="0"/>
                  <a:ea typeface="幼圆" panose="02010509060101010101" pitchFamily="49" charset="-122"/>
                  <a:sym typeface="Times New Roman" panose="02020603050405020304" pitchFamily="18" charset="0"/>
                </a:defRPr>
              </a:lvl9pPr>
            </a:lstStyle>
            <a:p>
              <a:pPr algn="ctr">
                <a:lnSpc>
                  <a:spcPct val="130000"/>
                </a:lnSpc>
                <a:spcBef>
                  <a:spcPct val="0"/>
                </a:spcBef>
                <a:buClrTx/>
                <a:buSzTx/>
                <a:buFont typeface="Wingdings" panose="05000000000000000000" pitchFamily="2" charset="2"/>
                <a:buNone/>
              </a:pPr>
              <a:r>
                <a:rPr lang="zh-CN" altLang="en-US" sz="2800" dirty="0">
                  <a:solidFill>
                    <a:prstClr val="white"/>
                  </a:solidFill>
                  <a:latin typeface="华文细黑" panose="02010600040101010101" pitchFamily="2" charset="-122"/>
                  <a:ea typeface="微软雅黑" panose="020B0503020204020204" pitchFamily="34" charset="-122"/>
                  <a:sym typeface="华文细黑" panose="02010600040101010101" pitchFamily="2" charset="-122"/>
                </a:rPr>
                <a:t>海表温度</a:t>
              </a:r>
              <a:r>
                <a:rPr lang="en-US" altLang="zh-CN" sz="2800" dirty="0">
                  <a:solidFill>
                    <a:prstClr val="white"/>
                  </a:solidFill>
                  <a:latin typeface="华文细黑" panose="02010600040101010101" pitchFamily="2" charset="-122"/>
                  <a:ea typeface="微软雅黑" panose="020B0503020204020204" pitchFamily="34" charset="-122"/>
                  <a:sym typeface="华文细黑" panose="02010600040101010101" pitchFamily="2" charset="-122"/>
                </a:rPr>
                <a:t> </a:t>
              </a:r>
            </a:p>
            <a:p>
              <a:pPr algn="ctr">
                <a:lnSpc>
                  <a:spcPct val="130000"/>
                </a:lnSpc>
                <a:spcBef>
                  <a:spcPct val="0"/>
                </a:spcBef>
                <a:buClrTx/>
                <a:buSzTx/>
                <a:buFont typeface="Wingdings" panose="05000000000000000000" pitchFamily="2" charset="2"/>
                <a:buNone/>
              </a:pPr>
              <a:r>
                <a:rPr lang="en-US" altLang="zh-CN" sz="2800" dirty="0">
                  <a:solidFill>
                    <a:prstClr val="white">
                      <a:alpha val="56000"/>
                    </a:prstClr>
                  </a:solidFill>
                  <a:latin typeface="华文细黑" panose="02010600040101010101" pitchFamily="2" charset="-122"/>
                  <a:ea typeface="微软雅黑" panose="020B0503020204020204" pitchFamily="34" charset="-122"/>
                  <a:sym typeface="华文细黑" panose="02010600040101010101" pitchFamily="2" charset="-122"/>
                </a:rPr>
                <a:t>SST</a:t>
              </a:r>
              <a:endParaRPr lang="en-US" altLang="zh-CN" sz="2000" dirty="0">
                <a:solidFill>
                  <a:prstClr val="white">
                    <a:alpha val="56000"/>
                  </a:prst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
        <p:nvSpPr>
          <p:cNvPr id="15" name="矩形 14">
            <a:extLst>
              <a:ext uri="{FF2B5EF4-FFF2-40B4-BE49-F238E27FC236}">
                <a16:creationId xmlns:a16="http://schemas.microsoft.com/office/drawing/2014/main" id="{62BC40D4-4930-B6B7-E13E-B2D1FA919C3A}"/>
              </a:ext>
            </a:extLst>
          </p:cNvPr>
          <p:cNvSpPr/>
          <p:nvPr/>
        </p:nvSpPr>
        <p:spPr>
          <a:xfrm>
            <a:off x="3660717" y="3918024"/>
            <a:ext cx="6948752" cy="632674"/>
          </a:xfrm>
          <a:prstGeom prst="rect">
            <a:avLst/>
          </a:prstGeom>
          <a:solidFill>
            <a:srgbClr val="256090">
              <a:lumMod val="60000"/>
              <a:lumOff val="40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预测海洋灾害</a:t>
            </a:r>
            <a:endPar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16" name="矩形 15">
            <a:extLst>
              <a:ext uri="{FF2B5EF4-FFF2-40B4-BE49-F238E27FC236}">
                <a16:creationId xmlns:a16="http://schemas.microsoft.com/office/drawing/2014/main" id="{D9E0C7EF-FA3F-3676-1AF8-24CFCAB4CB35}"/>
              </a:ext>
            </a:extLst>
          </p:cNvPr>
          <p:cNvSpPr/>
          <p:nvPr/>
        </p:nvSpPr>
        <p:spPr>
          <a:xfrm>
            <a:off x="3660717" y="1924888"/>
            <a:ext cx="6948752" cy="632674"/>
          </a:xfrm>
          <a:prstGeom prst="rect">
            <a:avLst/>
          </a:prstGeom>
          <a:solidFill>
            <a:srgbClr val="256090">
              <a:lumMod val="75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关注</a:t>
            </a:r>
            <a:r>
              <a:rPr lang="zh-CN" altLang="en-US" sz="3200" kern="0" dirty="0">
                <a:solidFill>
                  <a:prstClr val="white"/>
                </a:solidFill>
                <a:latin typeface="华文细黑" panose="02010600040101010101" pitchFamily="2" charset="-122"/>
                <a:ea typeface="微软雅黑" panose="020B0503020204020204" pitchFamily="34" charset="-122"/>
                <a:sym typeface="华文细黑" panose="02010600040101010101" pitchFamily="2" charset="-122"/>
              </a:rPr>
              <a:t>海洋环境</a:t>
            </a:r>
            <a:endPar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17" name="矩形 16">
            <a:extLst>
              <a:ext uri="{FF2B5EF4-FFF2-40B4-BE49-F238E27FC236}">
                <a16:creationId xmlns:a16="http://schemas.microsoft.com/office/drawing/2014/main" id="{C06A5D77-4EA8-0887-71B4-9770557791E4}"/>
              </a:ext>
            </a:extLst>
          </p:cNvPr>
          <p:cNvSpPr/>
          <p:nvPr/>
        </p:nvSpPr>
        <p:spPr>
          <a:xfrm>
            <a:off x="3660717" y="2921456"/>
            <a:ext cx="6948752" cy="632674"/>
          </a:xfrm>
          <a:prstGeom prst="rect">
            <a:avLst/>
          </a:prstGeom>
          <a:solidFill>
            <a:srgbClr val="256090"/>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检测气候变化</a:t>
            </a:r>
            <a:endPar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18" name="矩形 17">
            <a:extLst>
              <a:ext uri="{FF2B5EF4-FFF2-40B4-BE49-F238E27FC236}">
                <a16:creationId xmlns:a16="http://schemas.microsoft.com/office/drawing/2014/main" id="{B4476617-4D15-63CE-98B4-0B4BFE979993}"/>
              </a:ext>
            </a:extLst>
          </p:cNvPr>
          <p:cNvSpPr/>
          <p:nvPr/>
        </p:nvSpPr>
        <p:spPr>
          <a:xfrm>
            <a:off x="3461162" y="1807123"/>
            <a:ext cx="7333881" cy="2888343"/>
          </a:xfrm>
          <a:prstGeom prst="rect">
            <a:avLst/>
          </a:prstGeom>
          <a:noFill/>
          <a:ln w="12700" cap="flat" cmpd="sng" algn="ctr">
            <a:solidFill>
              <a:srgbClr val="256090">
                <a:alpha val="78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endParaRPr>
          </a:p>
        </p:txBody>
      </p:sp>
      <p:sp>
        <p:nvSpPr>
          <p:cNvPr id="19" name="任意多边形 28">
            <a:extLst>
              <a:ext uri="{FF2B5EF4-FFF2-40B4-BE49-F238E27FC236}">
                <a16:creationId xmlns:a16="http://schemas.microsoft.com/office/drawing/2014/main" id="{859462F6-DBBF-CB7F-234B-08C5876D0411}"/>
              </a:ext>
            </a:extLst>
          </p:cNvPr>
          <p:cNvSpPr/>
          <p:nvPr/>
        </p:nvSpPr>
        <p:spPr>
          <a:xfrm rot="5400000">
            <a:off x="-563836" y="39717"/>
            <a:ext cx="1023669" cy="943638"/>
          </a:xfrm>
          <a:custGeom>
            <a:avLst/>
            <a:gdLst>
              <a:gd name="connsiteX0" fmla="*/ 0 w 957581"/>
              <a:gd name="connsiteY0" fmla="*/ 308153 h 943638"/>
              <a:gd name="connsiteX1" fmla="*/ 0 w 957581"/>
              <a:gd name="connsiteY1" fmla="*/ 61631 h 943638"/>
              <a:gd name="connsiteX2" fmla="*/ 957581 w 957581"/>
              <a:gd name="connsiteY2" fmla="*/ 0 h 943638"/>
              <a:gd name="connsiteX3" fmla="*/ 957581 w 957581"/>
              <a:gd name="connsiteY3" fmla="*/ 132933 h 943638"/>
              <a:gd name="connsiteX4" fmla="*/ 957581 w 957581"/>
              <a:gd name="connsiteY4" fmla="*/ 308153 h 943638"/>
              <a:gd name="connsiteX5" fmla="*/ 957581 w 957581"/>
              <a:gd name="connsiteY5" fmla="*/ 943638 h 943638"/>
              <a:gd name="connsiteX6" fmla="*/ 1 w 957581"/>
              <a:gd name="connsiteY6" fmla="*/ 943638 h 943638"/>
              <a:gd name="connsiteX7" fmla="*/ 1 w 957581"/>
              <a:gd name="connsiteY7" fmla="*/ 308153 h 94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1" h="943638">
                <a:moveTo>
                  <a:pt x="0" y="308153"/>
                </a:moveTo>
                <a:lnTo>
                  <a:pt x="0" y="61631"/>
                </a:lnTo>
                <a:lnTo>
                  <a:pt x="957581" y="0"/>
                </a:lnTo>
                <a:lnTo>
                  <a:pt x="957581" y="132933"/>
                </a:lnTo>
                <a:lnTo>
                  <a:pt x="957581" y="308153"/>
                </a:lnTo>
                <a:lnTo>
                  <a:pt x="957581" y="943638"/>
                </a:lnTo>
                <a:lnTo>
                  <a:pt x="1" y="943638"/>
                </a:lnTo>
                <a:lnTo>
                  <a:pt x="1" y="308153"/>
                </a:lnTo>
                <a:close/>
              </a:path>
            </a:pathLst>
          </a:custGeom>
          <a:solidFill>
            <a:srgbClr val="092B6B"/>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endParaRPr>
          </a:p>
        </p:txBody>
      </p:sp>
      <p:grpSp>
        <p:nvGrpSpPr>
          <p:cNvPr id="14" name="组合 13">
            <a:extLst>
              <a:ext uri="{FF2B5EF4-FFF2-40B4-BE49-F238E27FC236}">
                <a16:creationId xmlns:a16="http://schemas.microsoft.com/office/drawing/2014/main" id="{D2B43C4E-03EE-3213-4562-72E107DB5478}"/>
              </a:ext>
            </a:extLst>
          </p:cNvPr>
          <p:cNvGrpSpPr/>
          <p:nvPr/>
        </p:nvGrpSpPr>
        <p:grpSpPr>
          <a:xfrm>
            <a:off x="661515" y="4900251"/>
            <a:ext cx="7207031" cy="1772856"/>
            <a:chOff x="625753" y="4504085"/>
            <a:chExt cx="7207031" cy="1772856"/>
          </a:xfrm>
        </p:grpSpPr>
        <p:sp>
          <p:nvSpPr>
            <p:cNvPr id="9" name="文本框 8">
              <a:extLst>
                <a:ext uri="{FF2B5EF4-FFF2-40B4-BE49-F238E27FC236}">
                  <a16:creationId xmlns:a16="http://schemas.microsoft.com/office/drawing/2014/main" id="{D3A1CF1A-8649-51F1-F497-88A9BBD5C279}"/>
                </a:ext>
              </a:extLst>
            </p:cNvPr>
            <p:cNvSpPr txBox="1"/>
            <p:nvPr/>
          </p:nvSpPr>
          <p:spPr>
            <a:xfrm>
              <a:off x="625754" y="4504085"/>
              <a:ext cx="5963728" cy="954107"/>
            </a:xfrm>
            <a:prstGeom prst="rect">
              <a:avLst/>
            </a:prstGeom>
            <a:noFill/>
          </p:spPr>
          <p:txBody>
            <a:bodyPr wrap="square">
              <a:spAutoFit/>
            </a:bodyPr>
            <a:lstStyle/>
            <a:p>
              <a:r>
                <a:rPr lang="zh-CN" altLang="en-US" sz="2800" b="1" dirty="0">
                  <a:solidFill>
                    <a:schemeClr val="accent1">
                      <a:lumMod val="50000"/>
                    </a:schemeClr>
                  </a:solidFill>
                  <a:latin typeface="微软雅黑" panose="020B0503020204020204" pitchFamily="34" charset="-122"/>
                  <a:ea typeface="微软雅黑" panose="020B0503020204020204" pitchFamily="34" charset="-122"/>
                </a:rPr>
                <a:t>联合国可持续发展目标</a:t>
              </a:r>
              <a:endParaRPr lang="en-US" altLang="zh-CN" sz="28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rPr>
                <a:t>Sustainable Development Goals</a:t>
              </a:r>
              <a:endParaRPr lang="zh-CN" altLang="en-US"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a:extLst>
                <a:ext uri="{FF2B5EF4-FFF2-40B4-BE49-F238E27FC236}">
                  <a16:creationId xmlns:a16="http://schemas.microsoft.com/office/drawing/2014/main" id="{FD7230B2-0260-8517-686A-7FCF0F88EAA4}"/>
                </a:ext>
              </a:extLst>
            </p:cNvPr>
            <p:cNvSpPr txBox="1"/>
            <p:nvPr/>
          </p:nvSpPr>
          <p:spPr>
            <a:xfrm>
              <a:off x="625754" y="5459540"/>
              <a:ext cx="6357668" cy="400110"/>
            </a:xfrm>
            <a:prstGeom prst="rect">
              <a:avLst/>
            </a:prstGeom>
            <a:noFill/>
          </p:spPr>
          <p:txBody>
            <a:bodyPr wrap="square">
              <a:spAutoFit/>
            </a:bodyPr>
            <a:lstStyle/>
            <a:p>
              <a:r>
                <a:rPr lang="en-US" altLang="zh-CN" sz="2000" b="0" i="0" dirty="0">
                  <a:solidFill>
                    <a:schemeClr val="accent1">
                      <a:lumMod val="50000"/>
                    </a:schemeClr>
                  </a:solidFill>
                  <a:effectLst/>
                  <a:latin typeface="Times New Roman" panose="02020603050405020304" pitchFamily="18" charset="0"/>
                  <a:ea typeface="微软雅黑" panose="020B0503020204020204" pitchFamily="34" charset="-122"/>
                  <a:cs typeface="Times New Roman" panose="02020603050405020304" pitchFamily="18" charset="0"/>
                </a:rPr>
                <a:t>SDG13</a:t>
              </a:r>
              <a:r>
                <a:rPr lang="zh-CN" altLang="en-US" sz="2000" b="0" i="0" dirty="0">
                  <a:solidFill>
                    <a:schemeClr val="accent1">
                      <a:lumMod val="50000"/>
                    </a:schemeClr>
                  </a:solidFill>
                  <a:effectLst/>
                  <a:latin typeface="Times New Roman" panose="02020603050405020304" pitchFamily="18" charset="0"/>
                  <a:ea typeface="微软雅黑" panose="020B0503020204020204" pitchFamily="34" charset="-122"/>
                  <a:cs typeface="Times New Roman" panose="02020603050405020304" pitchFamily="18" charset="0"/>
                </a:rPr>
                <a:t>：采取紧急行动应对气候变化及其影响。</a:t>
              </a:r>
              <a:endParaRPr lang="zh-CN" altLang="en-US" sz="20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B0E43DA6-9EED-D4E3-248F-ECA47057DB78}"/>
                </a:ext>
              </a:extLst>
            </p:cNvPr>
            <p:cNvSpPr txBox="1"/>
            <p:nvPr/>
          </p:nvSpPr>
          <p:spPr>
            <a:xfrm>
              <a:off x="625753" y="5876831"/>
              <a:ext cx="7207031" cy="400110"/>
            </a:xfrm>
            <a:prstGeom prst="rect">
              <a:avLst/>
            </a:prstGeom>
            <a:noFill/>
          </p:spPr>
          <p:txBody>
            <a:bodyPr wrap="square">
              <a:spAutoFit/>
            </a:bodyPr>
            <a:lstStyle/>
            <a:p>
              <a:r>
                <a:rPr lang="en-US" altLang="zh-CN" sz="2000" b="0" i="0" dirty="0">
                  <a:solidFill>
                    <a:schemeClr val="accent1">
                      <a:lumMod val="50000"/>
                    </a:schemeClr>
                  </a:solidFill>
                  <a:effectLst/>
                  <a:latin typeface="Times New Roman" panose="02020603050405020304" pitchFamily="18" charset="0"/>
                  <a:ea typeface="微软雅黑" panose="020B0503020204020204" pitchFamily="34" charset="-122"/>
                  <a:cs typeface="Times New Roman" panose="02020603050405020304" pitchFamily="18" charset="0"/>
                </a:rPr>
                <a:t>SDG14</a:t>
              </a:r>
              <a:r>
                <a:rPr lang="zh-CN" altLang="en-US" sz="2000" b="0" i="0" dirty="0">
                  <a:solidFill>
                    <a:schemeClr val="accent1">
                      <a:lumMod val="50000"/>
                    </a:schemeClr>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保护和可持续利用海洋及海洋资源以促进可持续发展。</a:t>
              </a:r>
            </a:p>
          </p:txBody>
        </p:sp>
      </p:grpSp>
      <p:sp>
        <p:nvSpPr>
          <p:cNvPr id="6" name="文本框 5">
            <a:extLst>
              <a:ext uri="{FF2B5EF4-FFF2-40B4-BE49-F238E27FC236}">
                <a16:creationId xmlns:a16="http://schemas.microsoft.com/office/drawing/2014/main" id="{C25C7BF0-BAE8-CBED-405B-8AD86B5D27F8}"/>
              </a:ext>
            </a:extLst>
          </p:cNvPr>
          <p:cNvSpPr txBox="1"/>
          <p:nvPr/>
        </p:nvSpPr>
        <p:spPr>
          <a:xfrm>
            <a:off x="3884760" y="1160792"/>
            <a:ext cx="6357668" cy="646331"/>
          </a:xfrm>
          <a:prstGeom prst="rect">
            <a:avLst/>
          </a:prstGeom>
          <a:noFill/>
        </p:spPr>
        <p:txBody>
          <a:bodyPr wrap="square">
            <a:spAutoFit/>
          </a:bodyPr>
          <a:lstStyle/>
          <a:p>
            <a:pPr algn="ctr"/>
            <a:r>
              <a:rPr lang="en-US" altLang="zh-CN" sz="3600" b="1" dirty="0">
                <a:solidFill>
                  <a:schemeClr val="accent5">
                    <a:lumMod val="75000"/>
                  </a:schemeClr>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rPr>
              <a:t>ea </a:t>
            </a:r>
            <a:r>
              <a:rPr lang="en-US" altLang="zh-CN" sz="3600" b="1" dirty="0">
                <a:solidFill>
                  <a:schemeClr val="accent5">
                    <a:lumMod val="75000"/>
                  </a:schemeClr>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rPr>
              <a:t>urface </a:t>
            </a:r>
            <a:r>
              <a:rPr lang="en-US" altLang="zh-CN" sz="3600" b="1" dirty="0">
                <a:solidFill>
                  <a:schemeClr val="accent5">
                    <a:lumMod val="75000"/>
                  </a:schemeClr>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rPr>
              <a:t>emperature</a:t>
            </a:r>
            <a:endParaRPr lang="zh-CN" altLang="en-US" sz="2800" b="1" dirty="0">
              <a:solidFill>
                <a:schemeClr val="accent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726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E1033-8068-BD91-15DC-48E9198FAF8C}"/>
              </a:ext>
            </a:extLst>
          </p:cNvPr>
          <p:cNvSpPr>
            <a:spLocks noGrp="1"/>
          </p:cNvSpPr>
          <p:nvPr>
            <p:ph type="title"/>
          </p:nvPr>
        </p:nvSpPr>
        <p:spPr>
          <a:xfrm>
            <a:off x="532015" y="125023"/>
            <a:ext cx="8893258" cy="805252"/>
          </a:xfrm>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问题与背景 </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SST</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数据</a:t>
            </a:r>
          </a:p>
        </p:txBody>
      </p:sp>
      <p:graphicFrame>
        <p:nvGraphicFramePr>
          <p:cNvPr id="3" name="表格 2">
            <a:extLst>
              <a:ext uri="{FF2B5EF4-FFF2-40B4-BE49-F238E27FC236}">
                <a16:creationId xmlns:a16="http://schemas.microsoft.com/office/drawing/2014/main" id="{51F31E8C-FD53-F196-81F9-84F3F0BC1AAF}"/>
              </a:ext>
            </a:extLst>
          </p:cNvPr>
          <p:cNvGraphicFramePr>
            <a:graphicFrameLocks noGrp="1"/>
          </p:cNvGraphicFramePr>
          <p:nvPr>
            <p:extLst>
              <p:ext uri="{D42A27DB-BD31-4B8C-83A1-F6EECF244321}">
                <p14:modId xmlns:p14="http://schemas.microsoft.com/office/powerpoint/2010/main" val="3022706850"/>
              </p:ext>
            </p:extLst>
          </p:nvPr>
        </p:nvGraphicFramePr>
        <p:xfrm>
          <a:off x="178279" y="1467288"/>
          <a:ext cx="11800936" cy="4818495"/>
        </p:xfrm>
        <a:graphic>
          <a:graphicData uri="http://schemas.openxmlformats.org/drawingml/2006/table">
            <a:tbl>
              <a:tblPr firstRow="1" bandRow="1">
                <a:tableStyleId>{5C22544A-7EE6-4342-B048-85BDC9FD1C3A}</a:tableStyleId>
              </a:tblPr>
              <a:tblGrid>
                <a:gridCol w="2541917">
                  <a:extLst>
                    <a:ext uri="{9D8B030D-6E8A-4147-A177-3AD203B41FA5}">
                      <a16:colId xmlns:a16="http://schemas.microsoft.com/office/drawing/2014/main" val="4244977483"/>
                    </a:ext>
                  </a:extLst>
                </a:gridCol>
                <a:gridCol w="4382219">
                  <a:extLst>
                    <a:ext uri="{9D8B030D-6E8A-4147-A177-3AD203B41FA5}">
                      <a16:colId xmlns:a16="http://schemas.microsoft.com/office/drawing/2014/main" val="656794559"/>
                    </a:ext>
                  </a:extLst>
                </a:gridCol>
                <a:gridCol w="2334883">
                  <a:extLst>
                    <a:ext uri="{9D8B030D-6E8A-4147-A177-3AD203B41FA5}">
                      <a16:colId xmlns:a16="http://schemas.microsoft.com/office/drawing/2014/main" val="3659029948"/>
                    </a:ext>
                  </a:extLst>
                </a:gridCol>
                <a:gridCol w="2541917">
                  <a:extLst>
                    <a:ext uri="{9D8B030D-6E8A-4147-A177-3AD203B41FA5}">
                      <a16:colId xmlns:a16="http://schemas.microsoft.com/office/drawing/2014/main" val="1387862581"/>
                    </a:ext>
                  </a:extLst>
                </a:gridCol>
              </a:tblGrid>
              <a:tr h="747039">
                <a:tc>
                  <a:txBody>
                    <a:bodyPr/>
                    <a:lstStyle/>
                    <a:p>
                      <a:pPr algn="ct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卫星</a:t>
                      </a:r>
                    </a:p>
                  </a:txBody>
                  <a:tcPr anchor="ctr">
                    <a:solidFill>
                      <a:schemeClr val="accent5">
                        <a:lumMod val="40000"/>
                        <a:lumOff val="60000"/>
                      </a:schemeClr>
                    </a:solidFill>
                  </a:tcPr>
                </a:tc>
                <a:tc>
                  <a:txBody>
                    <a:bodyPr/>
                    <a:lstStyle/>
                    <a:p>
                      <a:pPr algn="ct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数据源</a:t>
                      </a:r>
                    </a:p>
                  </a:txBody>
                  <a:tcPr anchor="ctr">
                    <a:solidFill>
                      <a:schemeClr val="accent5">
                        <a:lumMod val="40000"/>
                        <a:lumOff val="60000"/>
                      </a:schemeClr>
                    </a:solidFill>
                  </a:tcPr>
                </a:tc>
                <a:tc>
                  <a:txBody>
                    <a:bodyPr/>
                    <a:lstStyle/>
                    <a:p>
                      <a:pPr algn="ct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格式和分辨率</a:t>
                      </a:r>
                    </a:p>
                  </a:txBody>
                  <a:tcPr anchor="ctr">
                    <a:solidFill>
                      <a:schemeClr val="accent5">
                        <a:lumMod val="40000"/>
                        <a:lumOff val="60000"/>
                      </a:schemeClr>
                    </a:solidFill>
                  </a:tcPr>
                </a:tc>
                <a:tc>
                  <a:txBody>
                    <a:bodyPr/>
                    <a:lstStyle/>
                    <a:p>
                      <a:pPr algn="ct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使用的变量</a:t>
                      </a:r>
                    </a:p>
                  </a:txBody>
                  <a:tcPr anchor="ctr">
                    <a:solidFill>
                      <a:schemeClr val="accent5">
                        <a:lumMod val="40000"/>
                        <a:lumOff val="60000"/>
                      </a:schemeClr>
                    </a:solidFill>
                  </a:tcPr>
                </a:tc>
                <a:extLst>
                  <a:ext uri="{0D108BD9-81ED-4DB2-BD59-A6C34878D82A}">
                    <a16:rowId xmlns:a16="http://schemas.microsoft.com/office/drawing/2014/main" val="2838724686"/>
                  </a:ext>
                </a:extLst>
              </a:tr>
              <a:tr h="2035728">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可见光红外成像辐射计</a:t>
                      </a:r>
                      <a:endParaRPr kumimoji="0" lang="en-US" altLang="zh-CN" sz="1800" b="0" i="0" u="none" strike="noStrike" kern="0" cap="none" spc="0" normalizeH="0" baseline="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VIIRS</a:t>
                      </a:r>
                      <a:endPar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algn="ctr"/>
                      <a:r>
                        <a:rPr lang="en-US" altLang="zh-CN" sz="1800" b="1"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 VIIRS L3S LEO PM SST dataset</a:t>
                      </a:r>
                    </a:p>
                    <a:p>
                      <a:pPr algn="ctr"/>
                      <a:r>
                        <a:rPr lang="en-US" altLang="zh-CN" sz="1800" b="0"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(GHRSST NOAA/STAR ACSPO v2.81 0.02 degree L3S Dataset from Afternoon LEO Satellites)</a:t>
                      </a:r>
                    </a:p>
                    <a:p>
                      <a:pPr algn="ct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https://search.earthdata.nasa.gov/</a:t>
                      </a:r>
                      <a:endPar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algn="ctr" defTabSz="914400" rtl="0" eaLnBrk="1" latinLnBrk="0" hangingPunct="1"/>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栅格</a:t>
                      </a:r>
                      <a:endPar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0.02°×0.02°</a:t>
                      </a:r>
                    </a:p>
                    <a:p>
                      <a:pPr marL="0" algn="ctr" defTabSz="914400" rtl="0" eaLnBrk="1" latinLnBrk="0" hangingPunct="1"/>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每天</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次的全球观测</a:t>
                      </a:r>
                      <a:endPar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1:30</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13:30</a:t>
                      </a:r>
                    </a:p>
                    <a:p>
                      <a:pPr marL="0" algn="ctr" defTabSz="914400" rtl="0" eaLnBrk="1" latinLnBrk="0" hangingPunct="1"/>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使用夜晚</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1:30</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的观测</a:t>
                      </a:r>
                      <a:endPar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(VIIRS</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对云层敏感</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纬度：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Lat(°)</a:t>
                      </a:r>
                    </a:p>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经度：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Lon(°)</a:t>
                      </a:r>
                    </a:p>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海表温度：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SST(K)</a:t>
                      </a:r>
                      <a:endPar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extLst>
                  <a:ext uri="{0D108BD9-81ED-4DB2-BD59-A6C34878D82A}">
                    <a16:rowId xmlns:a16="http://schemas.microsoft.com/office/drawing/2014/main" val="177402113"/>
                  </a:ext>
                </a:extLst>
              </a:tr>
              <a:tr h="2035728">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zh-CN" sz="1800" b="0" i="0" u="none" strike="noStrike" kern="0" cap="none" spc="0" normalizeH="0" baseline="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高级微波扫描辐射计</a:t>
                      </a:r>
                      <a:r>
                        <a:rPr kumimoji="0" lang="en-US" altLang="zh-CN" sz="1800" b="0" i="0"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AMSR2</a:t>
                      </a:r>
                      <a:endParaRPr kumimoji="0" lang="zh-CN" altLang="en-US" sz="1800" b="0" i="0" u="none" strike="noStrike" kern="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a:p>
                      <a:pPr algn="ctr"/>
                      <a:endPar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algn="ctr"/>
                      <a:r>
                        <a:rPr lang="en-US" altLang="zh-CN" sz="1800" b="1"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AMSR2_L3U SST dataset</a:t>
                      </a:r>
                    </a:p>
                    <a:p>
                      <a:pPr algn="ctr"/>
                      <a:r>
                        <a:rPr lang="en-US" altLang="zh-CN" sz="1800" b="0"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data.remss.com - /amsr2/ocean/L3/v08.2</a:t>
                      </a:r>
                      <a:endParaRPr lang="zh-CN" altLang="en-US" sz="1800" b="0" i="0" kern="120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algn="ctr" defTabSz="914400" rtl="0" eaLnBrk="1" latinLnBrk="0" hangingPunct="1"/>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栅格</a:t>
                      </a:r>
                      <a:endPar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0.25°×0.25°</a:t>
                      </a:r>
                    </a:p>
                    <a:p>
                      <a:pPr marL="0" algn="ctr" defTabSz="914400" rtl="0" eaLnBrk="1" latinLnBrk="0" hangingPunct="1"/>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每天</a:t>
                      </a:r>
                      <a:r>
                        <a:rPr lang="en-US" altLang="zh-CN"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kern="12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次的全球观测</a:t>
                      </a:r>
                    </a:p>
                  </a:txBody>
                  <a:tcPr anchor="ctr">
                    <a:solidFill>
                      <a:schemeClr val="accent5">
                        <a:lumMod val="20000"/>
                        <a:lumOff val="80000"/>
                      </a:schemeClr>
                    </a:solidFill>
                  </a:tcPr>
                </a:tc>
                <a:tc>
                  <a:txBody>
                    <a:bodyPr/>
                    <a:lstStyle/>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纬度：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Lat(°)</a:t>
                      </a:r>
                    </a:p>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经度：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Lon(°)</a:t>
                      </a:r>
                    </a:p>
                    <a:p>
                      <a:pPr algn="ctr"/>
                      <a:r>
                        <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海表温度：</a:t>
                      </a:r>
                      <a:r>
                        <a:rPr lang="en-US" altLang="zh-CN"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SST(°C)</a:t>
                      </a:r>
                      <a:endParaRPr lang="zh-CN" altLang="en-US" b="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extLst>
                  <a:ext uri="{0D108BD9-81ED-4DB2-BD59-A6C34878D82A}">
                    <a16:rowId xmlns:a16="http://schemas.microsoft.com/office/drawing/2014/main" val="9830676"/>
                  </a:ext>
                </a:extLst>
              </a:tr>
            </a:tbl>
          </a:graphicData>
        </a:graphic>
      </p:graphicFrame>
    </p:spTree>
    <p:extLst>
      <p:ext uri="{BB962C8B-B14F-4D97-AF65-F5344CB8AC3E}">
        <p14:creationId xmlns:p14="http://schemas.microsoft.com/office/powerpoint/2010/main" val="3265839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896716D4-5600-E36F-ADCD-C01EE7E94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4578" y="1568022"/>
            <a:ext cx="2407116" cy="2073245"/>
          </a:xfrm>
          <a:prstGeom prst="rect">
            <a:avLst/>
          </a:prstGeom>
        </p:spPr>
      </p:pic>
      <p:pic>
        <p:nvPicPr>
          <p:cNvPr id="3" name="图片 2">
            <a:extLst>
              <a:ext uri="{FF2B5EF4-FFF2-40B4-BE49-F238E27FC236}">
                <a16:creationId xmlns:a16="http://schemas.microsoft.com/office/drawing/2014/main" id="{3C28A5F0-A132-B1B0-73C9-86A0B3D5ACD0}"/>
              </a:ext>
            </a:extLst>
          </p:cNvPr>
          <p:cNvPicPr>
            <a:picLocks noChangeAspect="1"/>
          </p:cNvPicPr>
          <p:nvPr/>
        </p:nvPicPr>
        <p:blipFill>
          <a:blip r:embed="rId3"/>
          <a:stretch>
            <a:fillRect/>
          </a:stretch>
        </p:blipFill>
        <p:spPr>
          <a:xfrm>
            <a:off x="133799" y="1630788"/>
            <a:ext cx="6300005" cy="2262705"/>
          </a:xfrm>
          <a:prstGeom prst="rect">
            <a:avLst/>
          </a:prstGeom>
        </p:spPr>
      </p:pic>
      <p:sp>
        <p:nvSpPr>
          <p:cNvPr id="2" name="标题 1">
            <a:extLst>
              <a:ext uri="{FF2B5EF4-FFF2-40B4-BE49-F238E27FC236}">
                <a16:creationId xmlns:a16="http://schemas.microsoft.com/office/drawing/2014/main" id="{EE968879-2D17-1F62-F6D1-8F3A698241EB}"/>
              </a:ext>
            </a:extLst>
          </p:cNvPr>
          <p:cNvSpPr>
            <a:spLocks noGrp="1"/>
          </p:cNvSpPr>
          <p:nvPr>
            <p:ph type="title"/>
          </p:nvPr>
        </p:nvSpPr>
        <p:spPr>
          <a:xfrm>
            <a:off x="520496" y="108903"/>
            <a:ext cx="8893258" cy="805252"/>
          </a:xfrm>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问题与背景 </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SST</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数据</a:t>
            </a:r>
          </a:p>
        </p:txBody>
      </p:sp>
      <p:sp>
        <p:nvSpPr>
          <p:cNvPr id="13" name="矩形 8">
            <a:extLst>
              <a:ext uri="{FF2B5EF4-FFF2-40B4-BE49-F238E27FC236}">
                <a16:creationId xmlns:a16="http://schemas.microsoft.com/office/drawing/2014/main" id="{CFB78DEC-A020-1ACF-9731-5BEE8B005851}"/>
              </a:ext>
            </a:extLst>
          </p:cNvPr>
          <p:cNvSpPr>
            <a:spLocks noChangeArrowheads="1"/>
          </p:cNvSpPr>
          <p:nvPr/>
        </p:nvSpPr>
        <p:spPr bwMode="auto">
          <a:xfrm>
            <a:off x="9450569" y="1849332"/>
            <a:ext cx="2407117" cy="710294"/>
          </a:xfrm>
          <a:prstGeom prst="rect">
            <a:avLst/>
          </a:prstGeom>
          <a:gradFill flip="none" rotWithShape="1">
            <a:gsLst>
              <a:gs pos="35000">
                <a:srgbClr val="256090"/>
              </a:gs>
              <a:gs pos="100000">
                <a:srgbClr val="092B6B"/>
              </a:gs>
            </a:gsLst>
            <a:lin ang="1890000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defRPr/>
            </a:pPr>
            <a:r>
              <a:rPr lang="zh-CN" altLang="en-US" sz="16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可见光红外成像辐射计</a:t>
            </a:r>
            <a:endParaRPr lang="en-US" altLang="zh-CN" sz="16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VIIRS</a:t>
            </a:r>
            <a:endParaRPr kumimoji="0" lang="zh-CN" altLang="en-US" sz="1600" b="0"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
        <p:nvSpPr>
          <p:cNvPr id="14" name="矩形 8">
            <a:extLst>
              <a:ext uri="{FF2B5EF4-FFF2-40B4-BE49-F238E27FC236}">
                <a16:creationId xmlns:a16="http://schemas.microsoft.com/office/drawing/2014/main" id="{DA9B5429-4CDA-FFB2-61EE-23B56C24AF64}"/>
              </a:ext>
            </a:extLst>
          </p:cNvPr>
          <p:cNvSpPr>
            <a:spLocks noChangeArrowheads="1"/>
          </p:cNvSpPr>
          <p:nvPr/>
        </p:nvSpPr>
        <p:spPr bwMode="auto">
          <a:xfrm>
            <a:off x="9475885" y="4534880"/>
            <a:ext cx="2275102" cy="710294"/>
          </a:xfrm>
          <a:prstGeom prst="rect">
            <a:avLst/>
          </a:prstGeom>
          <a:gradFill flip="none" rotWithShape="1">
            <a:gsLst>
              <a:gs pos="35000">
                <a:srgbClr val="256090"/>
              </a:gs>
              <a:gs pos="100000">
                <a:srgbClr val="092B6B"/>
              </a:gs>
            </a:gsLst>
            <a:lin ang="1890000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rPr>
              <a:t>高级微波扫描辐射计</a:t>
            </a:r>
            <a:endParaRPr kumimoji="0" lang="en-US" altLang="zh-CN" sz="16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cs typeface="+mn-cs"/>
              <a:sym typeface="华文细黑" panose="02010600040101010101" pitchFamily="2" charset="-122"/>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AMSR2</a:t>
            </a:r>
            <a:endParaRPr kumimoji="0" lang="zh-CN" altLang="en-US" sz="1600" b="0"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
        <p:nvSpPr>
          <p:cNvPr id="6" name="文本框 5">
            <a:extLst>
              <a:ext uri="{FF2B5EF4-FFF2-40B4-BE49-F238E27FC236}">
                <a16:creationId xmlns:a16="http://schemas.microsoft.com/office/drawing/2014/main" id="{6C268F9E-6DF4-D95E-94CF-9453033A06E9}"/>
              </a:ext>
            </a:extLst>
          </p:cNvPr>
          <p:cNvSpPr txBox="1"/>
          <p:nvPr/>
        </p:nvSpPr>
        <p:spPr>
          <a:xfrm>
            <a:off x="9946241" y="2713382"/>
            <a:ext cx="1415772" cy="830997"/>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覆盖率低</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chemeClr val="accent5">
                    <a:lumMod val="50000"/>
                  </a:schemeClr>
                </a:solidFill>
                <a:latin typeface="微软雅黑" panose="020B0503020204020204" pitchFamily="34" charset="-122"/>
                <a:ea typeface="微软雅黑" panose="020B0503020204020204" pitchFamily="34" charset="-122"/>
              </a:rPr>
              <a:t>分辨率高</a:t>
            </a:r>
            <a:endParaRPr lang="en-US" altLang="zh-CN" sz="2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CD91586-7BAF-24AD-028A-876E034D8D82}"/>
              </a:ext>
            </a:extLst>
          </p:cNvPr>
          <p:cNvSpPr txBox="1"/>
          <p:nvPr/>
        </p:nvSpPr>
        <p:spPr>
          <a:xfrm>
            <a:off x="9905550" y="5484076"/>
            <a:ext cx="1415772" cy="830997"/>
          </a:xfrm>
          <a:prstGeom prst="rect">
            <a:avLst/>
          </a:prstGeom>
          <a:noFill/>
        </p:spPr>
        <p:txBody>
          <a:bodyPr wrap="none" rtlCol="0">
            <a:spAutoFit/>
          </a:bodyPr>
          <a:lstStyle/>
          <a:p>
            <a:r>
              <a:rPr lang="zh-CN" altLang="en-US" sz="2400" b="1" dirty="0">
                <a:solidFill>
                  <a:schemeClr val="accent5">
                    <a:lumMod val="50000"/>
                  </a:schemeClr>
                </a:solidFill>
                <a:latin typeface="微软雅黑" panose="020B0503020204020204" pitchFamily="34" charset="-122"/>
                <a:ea typeface="微软雅黑" panose="020B0503020204020204" pitchFamily="34" charset="-122"/>
              </a:rPr>
              <a:t>覆盖率高</a:t>
            </a:r>
            <a:endParaRPr lang="en-US" altLang="zh-CN" sz="2400" b="1" dirty="0">
              <a:solidFill>
                <a:schemeClr val="accent5">
                  <a:lumMod val="50000"/>
                </a:schemeClr>
              </a:solidFill>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分辨率低</a:t>
            </a:r>
            <a:endParaRPr lang="en-US" altLang="zh-CN" sz="24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CC349996-1F00-24B9-86D2-8FD05C2731B0}"/>
              </a:ext>
            </a:extLst>
          </p:cNvPr>
          <p:cNvSpPr txBox="1"/>
          <p:nvPr/>
        </p:nvSpPr>
        <p:spPr>
          <a:xfrm>
            <a:off x="-135750" y="1383356"/>
            <a:ext cx="6357668" cy="369332"/>
          </a:xfrm>
          <a:prstGeom prst="rect">
            <a:avLst/>
          </a:prstGeom>
          <a:noFill/>
        </p:spPr>
        <p:txBody>
          <a:bodyPr wrap="square">
            <a:spAutoFit/>
          </a:bodyPr>
          <a:lstStyle/>
          <a:p>
            <a:pPr algn="ctr"/>
            <a:r>
              <a:rPr lang="en-US" altLang="zh-CN" sz="1800" b="1" dirty="0">
                <a:solidFill>
                  <a:schemeClr val="accent1">
                    <a:lumMod val="50000"/>
                  </a:schemeClr>
                </a:solidFill>
                <a:latin typeface="微软雅黑" panose="020B0503020204020204" pitchFamily="34" charset="-122"/>
                <a:ea typeface="微软雅黑" panose="020B0503020204020204" pitchFamily="34" charset="-122"/>
              </a:rPr>
              <a:t>VIIRS</a:t>
            </a:r>
            <a:endParaRPr lang="zh-CN" altLang="en-US" sz="18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F06D57C-876F-59A8-679E-4529C087A6B3}"/>
              </a:ext>
            </a:extLst>
          </p:cNvPr>
          <p:cNvSpPr txBox="1"/>
          <p:nvPr/>
        </p:nvSpPr>
        <p:spPr>
          <a:xfrm>
            <a:off x="-68726" y="4095859"/>
            <a:ext cx="6357668" cy="369332"/>
          </a:xfrm>
          <a:prstGeom prst="rect">
            <a:avLst/>
          </a:prstGeom>
          <a:noFill/>
        </p:spPr>
        <p:txBody>
          <a:bodyPr wrap="square">
            <a:spAutoFit/>
          </a:bodyPr>
          <a:lstStyle/>
          <a:p>
            <a:pPr algn="ctr"/>
            <a:r>
              <a:rPr lang="en-US" altLang="zh-CN" sz="1800" b="1" dirty="0">
                <a:solidFill>
                  <a:schemeClr val="accent1">
                    <a:lumMod val="50000"/>
                  </a:schemeClr>
                </a:solidFill>
                <a:latin typeface="微软雅黑" panose="020B0503020204020204" pitchFamily="34" charset="-122"/>
                <a:ea typeface="微软雅黑" panose="020B0503020204020204" pitchFamily="34" charset="-122"/>
              </a:rPr>
              <a:t>AMSR2</a:t>
            </a:r>
            <a:endParaRPr lang="zh-CN" altLang="en-US" sz="1800" b="1" dirty="0">
              <a:solidFill>
                <a:schemeClr val="accent1">
                  <a:lumMod val="50000"/>
                </a:schemeClr>
              </a:solidFill>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F6211BDF-2FEF-D1C7-B5F0-FAB7EF827E5E}"/>
              </a:ext>
            </a:extLst>
          </p:cNvPr>
          <p:cNvPicPr>
            <a:picLocks noChangeAspect="1"/>
          </p:cNvPicPr>
          <p:nvPr/>
        </p:nvPicPr>
        <p:blipFill>
          <a:blip r:embed="rId4"/>
          <a:stretch>
            <a:fillRect/>
          </a:stretch>
        </p:blipFill>
        <p:spPr>
          <a:xfrm>
            <a:off x="153020" y="4372432"/>
            <a:ext cx="6280784" cy="2268797"/>
          </a:xfrm>
          <a:prstGeom prst="rect">
            <a:avLst/>
          </a:prstGeom>
        </p:spPr>
      </p:pic>
      <p:cxnSp>
        <p:nvCxnSpPr>
          <p:cNvPr id="20" name="直接箭头连接符 19">
            <a:extLst>
              <a:ext uri="{FF2B5EF4-FFF2-40B4-BE49-F238E27FC236}">
                <a16:creationId xmlns:a16="http://schemas.microsoft.com/office/drawing/2014/main" id="{2F2B0513-FE72-AB17-43D9-3CE5BB2892EE}"/>
              </a:ext>
            </a:extLst>
          </p:cNvPr>
          <p:cNvCxnSpPr>
            <a:cxnSpLocks/>
          </p:cNvCxnSpPr>
          <p:nvPr/>
        </p:nvCxnSpPr>
        <p:spPr>
          <a:xfrm>
            <a:off x="3059343" y="2853154"/>
            <a:ext cx="3541534" cy="551455"/>
          </a:xfrm>
          <a:prstGeom prst="straightConnector1">
            <a:avLst/>
          </a:prstGeom>
          <a:noFill/>
          <a:ln w="44450" cap="flat" cmpd="sng" algn="ctr">
            <a:solidFill>
              <a:srgbClr val="979797">
                <a:alpha val="100000"/>
              </a:srgbClr>
            </a:solidFill>
            <a:prstDash val="solid"/>
            <a:miter lim="800000"/>
            <a:headEnd type="none"/>
            <a:tailEnd type="triangle"/>
          </a:ln>
          <a:effectLst/>
        </p:spPr>
      </p:cxnSp>
      <p:cxnSp>
        <p:nvCxnSpPr>
          <p:cNvPr id="22" name="直接箭头连接符 21">
            <a:extLst>
              <a:ext uri="{FF2B5EF4-FFF2-40B4-BE49-F238E27FC236}">
                <a16:creationId xmlns:a16="http://schemas.microsoft.com/office/drawing/2014/main" id="{8EBB5082-6F9D-884F-7DE3-9EC3836B918A}"/>
              </a:ext>
            </a:extLst>
          </p:cNvPr>
          <p:cNvCxnSpPr>
            <a:cxnSpLocks/>
          </p:cNvCxnSpPr>
          <p:nvPr/>
        </p:nvCxnSpPr>
        <p:spPr>
          <a:xfrm>
            <a:off x="2892270" y="5474644"/>
            <a:ext cx="3541534" cy="551455"/>
          </a:xfrm>
          <a:prstGeom prst="straightConnector1">
            <a:avLst/>
          </a:prstGeom>
          <a:noFill/>
          <a:ln w="44450" cap="flat" cmpd="sng" algn="ctr">
            <a:solidFill>
              <a:srgbClr val="979797">
                <a:alpha val="100000"/>
              </a:srgbClr>
            </a:solidFill>
            <a:prstDash val="solid"/>
            <a:miter lim="800000"/>
            <a:headEnd type="none"/>
            <a:tailEnd type="triangle"/>
          </a:ln>
          <a:effectLst/>
        </p:spPr>
      </p:cxnSp>
      <p:pic>
        <p:nvPicPr>
          <p:cNvPr id="23" name="图片 22">
            <a:extLst>
              <a:ext uri="{FF2B5EF4-FFF2-40B4-BE49-F238E27FC236}">
                <a16:creationId xmlns:a16="http://schemas.microsoft.com/office/drawing/2014/main" id="{71C7D910-FB48-7A0F-7C57-664BF9A29F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4578" y="4366732"/>
            <a:ext cx="2457748" cy="2057028"/>
          </a:xfrm>
          <a:prstGeom prst="rect">
            <a:avLst/>
          </a:prstGeom>
        </p:spPr>
      </p:pic>
    </p:spTree>
    <p:extLst>
      <p:ext uri="{BB962C8B-B14F-4D97-AF65-F5344CB8AC3E}">
        <p14:creationId xmlns:p14="http://schemas.microsoft.com/office/powerpoint/2010/main" val="356922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2A1D22-0340-E322-B125-68053BB452C9}"/>
              </a:ext>
            </a:extLst>
          </p:cNvPr>
          <p:cNvSpPr>
            <a:spLocks noGrp="1"/>
          </p:cNvSpPr>
          <p:nvPr>
            <p:ph type="title"/>
          </p:nvPr>
        </p:nvSpPr>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问题与背景 </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SR3</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扩散模型</a:t>
            </a:r>
          </a:p>
        </p:txBody>
      </p:sp>
      <p:pic>
        <p:nvPicPr>
          <p:cNvPr id="3" name="图片 2">
            <a:extLst>
              <a:ext uri="{FF2B5EF4-FFF2-40B4-BE49-F238E27FC236}">
                <a16:creationId xmlns:a16="http://schemas.microsoft.com/office/drawing/2014/main" id="{CF3D6A3B-2E09-249A-E86E-E16EC177F945}"/>
              </a:ext>
            </a:extLst>
          </p:cNvPr>
          <p:cNvPicPr>
            <a:picLocks noChangeAspect="1"/>
          </p:cNvPicPr>
          <p:nvPr/>
        </p:nvPicPr>
        <p:blipFill>
          <a:blip r:embed="rId2"/>
          <a:stretch>
            <a:fillRect/>
          </a:stretch>
        </p:blipFill>
        <p:spPr>
          <a:xfrm>
            <a:off x="7683568" y="1762561"/>
            <a:ext cx="4015160" cy="4161928"/>
          </a:xfrm>
          <a:prstGeom prst="rect">
            <a:avLst/>
          </a:prstGeom>
        </p:spPr>
      </p:pic>
      <p:sp>
        <p:nvSpPr>
          <p:cNvPr id="6" name="矩形 5">
            <a:extLst>
              <a:ext uri="{FF2B5EF4-FFF2-40B4-BE49-F238E27FC236}">
                <a16:creationId xmlns:a16="http://schemas.microsoft.com/office/drawing/2014/main" id="{65D0C288-7D80-F419-E60D-2EF1A544DB3D}"/>
              </a:ext>
            </a:extLst>
          </p:cNvPr>
          <p:cNvSpPr/>
          <p:nvPr/>
        </p:nvSpPr>
        <p:spPr>
          <a:xfrm>
            <a:off x="358315" y="1641297"/>
            <a:ext cx="2206605" cy="497572"/>
          </a:xfrm>
          <a:prstGeom prst="rect">
            <a:avLst/>
          </a:prstGeom>
          <a:solidFill>
            <a:srgbClr val="256090"/>
          </a:solidFill>
        </p:spPr>
        <p:txBody>
          <a:bodyPr wrap="square" anchor="ctr" anchorCtr="0">
            <a:spAutoFit/>
          </a:bodyPr>
          <a:lstStyle/>
          <a:p>
            <a:pPr lvl="0" algn="ctr">
              <a:lnSpc>
                <a:spcPct val="120000"/>
              </a:lnSpc>
              <a:defRPr/>
            </a:pPr>
            <a:r>
              <a:rPr kumimoji="0" lang="zh-CN" altLang="en-US" sz="24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超分辨率任务</a:t>
            </a:r>
            <a:endPar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8" name="文本框 7">
            <a:extLst>
              <a:ext uri="{FF2B5EF4-FFF2-40B4-BE49-F238E27FC236}">
                <a16:creationId xmlns:a16="http://schemas.microsoft.com/office/drawing/2014/main" id="{FC2E9223-838A-B541-B171-F93FE699EE12}"/>
              </a:ext>
            </a:extLst>
          </p:cNvPr>
          <p:cNvSpPr txBox="1"/>
          <p:nvPr/>
        </p:nvSpPr>
        <p:spPr>
          <a:xfrm>
            <a:off x="421574" y="2375333"/>
            <a:ext cx="6661966" cy="497572"/>
          </a:xfrm>
          <a:prstGeom prst="rect">
            <a:avLst/>
          </a:prstGeom>
          <a:noFill/>
        </p:spPr>
        <p:txBody>
          <a:bodyPr wrap="square">
            <a:spAutoFit/>
          </a:bodyPr>
          <a:lstStyle/>
          <a:p>
            <a:pPr lvl="0" algn="ctr">
              <a:lnSpc>
                <a:spcPct val="120000"/>
              </a:lnSpc>
              <a:defRPr/>
            </a:pPr>
            <a:r>
              <a:rPr lang="zh-CN" altLang="en-US" sz="2400" b="1" kern="0" dirty="0">
                <a:solidFill>
                  <a:schemeClr val="accent5">
                    <a:lumMod val="50000"/>
                  </a:schemeClr>
                </a:solidFill>
                <a:latin typeface="华文细黑" panose="02010600040101010101" pitchFamily="2" charset="-122"/>
                <a:ea typeface="微软雅黑" panose="020B0503020204020204" pitchFamily="34" charset="-122"/>
              </a:rPr>
              <a:t>低分辨率图像 →</a:t>
            </a:r>
            <a:r>
              <a:rPr lang="en-US" altLang="zh-CN" sz="2400" b="1" kern="0" dirty="0">
                <a:solidFill>
                  <a:schemeClr val="accent5">
                    <a:lumMod val="50000"/>
                  </a:schemeClr>
                </a:solidFill>
                <a:latin typeface="华文细黑" panose="02010600040101010101" pitchFamily="2" charset="-122"/>
                <a:ea typeface="微软雅黑" panose="020B0503020204020204" pitchFamily="34" charset="-122"/>
              </a:rPr>
              <a:t> </a:t>
            </a:r>
            <a:r>
              <a:rPr lang="zh-CN" altLang="en-US" sz="2400" b="1" kern="0" dirty="0">
                <a:solidFill>
                  <a:schemeClr val="accent5">
                    <a:lumMod val="50000"/>
                  </a:schemeClr>
                </a:solidFill>
                <a:latin typeface="华文细黑" panose="02010600040101010101" pitchFamily="2" charset="-122"/>
                <a:ea typeface="微软雅黑" panose="020B0503020204020204" pitchFamily="34" charset="-122"/>
              </a:rPr>
              <a:t>高分辨率图像</a:t>
            </a:r>
            <a:endParaRPr lang="en-US" altLang="zh-CN" sz="2400" b="1" kern="0"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9" name="矩形 8">
            <a:extLst>
              <a:ext uri="{FF2B5EF4-FFF2-40B4-BE49-F238E27FC236}">
                <a16:creationId xmlns:a16="http://schemas.microsoft.com/office/drawing/2014/main" id="{4D393FA4-02E0-43E0-F1F1-AFB5B0C32C46}"/>
              </a:ext>
            </a:extLst>
          </p:cNvPr>
          <p:cNvSpPr/>
          <p:nvPr/>
        </p:nvSpPr>
        <p:spPr>
          <a:xfrm>
            <a:off x="358315" y="3091648"/>
            <a:ext cx="1574002" cy="496867"/>
          </a:xfrm>
          <a:prstGeom prst="rect">
            <a:avLst/>
          </a:prstGeom>
          <a:solidFill>
            <a:srgbClr val="256090"/>
          </a:solidFill>
        </p:spPr>
        <p:txBody>
          <a:bodyPr wrap="square" anchor="ctr" anchorCtr="0">
            <a:spAutoFit/>
          </a:bodyPr>
          <a:lstStyle/>
          <a:p>
            <a:pPr lvl="0" algn="ctr">
              <a:lnSpc>
                <a:spcPct val="120000"/>
              </a:lnSpc>
              <a:defRPr/>
            </a:pPr>
            <a:r>
              <a:rPr kumimoji="0" lang="en-US" altLang="zh-CN" sz="2400" b="0" i="0" u="none" strike="noStrike" kern="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华文细黑" panose="02010600040101010101" pitchFamily="2" charset="-122"/>
              </a:rPr>
              <a:t>SR3(2022)</a:t>
            </a:r>
            <a:endParaRPr kumimoji="0" lang="en-US" altLang="zh-CN" sz="3200" b="0" i="0" u="none" strike="noStrike" kern="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sym typeface="华文细黑" panose="02010600040101010101" pitchFamily="2" charset="-122"/>
            </a:endParaRPr>
          </a:p>
        </p:txBody>
      </p:sp>
      <p:sp>
        <p:nvSpPr>
          <p:cNvPr id="10" name="文本框 9">
            <a:extLst>
              <a:ext uri="{FF2B5EF4-FFF2-40B4-BE49-F238E27FC236}">
                <a16:creationId xmlns:a16="http://schemas.microsoft.com/office/drawing/2014/main" id="{B63230C0-0529-6649-F799-6269F70A1E35}"/>
              </a:ext>
            </a:extLst>
          </p:cNvPr>
          <p:cNvSpPr txBox="1"/>
          <p:nvPr/>
        </p:nvSpPr>
        <p:spPr>
          <a:xfrm>
            <a:off x="698179" y="3802976"/>
            <a:ext cx="6108757" cy="497572"/>
          </a:xfrm>
          <a:prstGeom prst="rect">
            <a:avLst/>
          </a:prstGeom>
          <a:noFill/>
        </p:spPr>
        <p:txBody>
          <a:bodyPr wrap="square">
            <a:spAutoFit/>
          </a:bodyPr>
          <a:lstStyle/>
          <a:p>
            <a:pPr lvl="0" algn="ctr">
              <a:lnSpc>
                <a:spcPct val="120000"/>
              </a:lnSpc>
              <a:defRPr/>
            </a:pPr>
            <a:r>
              <a:rPr lang="zh-CN" altLang="en-US" sz="2400" b="1" kern="0"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通过扩散模型实现超分辨率的框架</a:t>
            </a:r>
            <a:endParaRPr lang="en-US" altLang="zh-CN" sz="2400" b="1" kern="0"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pic>
        <p:nvPicPr>
          <p:cNvPr id="11" name="图片 10">
            <a:extLst>
              <a:ext uri="{FF2B5EF4-FFF2-40B4-BE49-F238E27FC236}">
                <a16:creationId xmlns:a16="http://schemas.microsoft.com/office/drawing/2014/main" id="{D13FC40D-7B7E-C4FE-F93A-CD791AC2FE3F}"/>
              </a:ext>
            </a:extLst>
          </p:cNvPr>
          <p:cNvPicPr>
            <a:picLocks noChangeAspect="1"/>
          </p:cNvPicPr>
          <p:nvPr/>
        </p:nvPicPr>
        <p:blipFill>
          <a:blip r:embed="rId3"/>
          <a:stretch>
            <a:fillRect/>
          </a:stretch>
        </p:blipFill>
        <p:spPr>
          <a:xfrm>
            <a:off x="493272" y="4448828"/>
            <a:ext cx="6833836" cy="1579178"/>
          </a:xfrm>
          <a:prstGeom prst="rect">
            <a:avLst/>
          </a:prstGeom>
        </p:spPr>
      </p:pic>
    </p:spTree>
    <p:extLst>
      <p:ext uri="{BB962C8B-B14F-4D97-AF65-F5344CB8AC3E}">
        <p14:creationId xmlns:p14="http://schemas.microsoft.com/office/powerpoint/2010/main" val="47295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2A98F-D1C6-D621-0CF6-89CFF0348C02}"/>
              </a:ext>
            </a:extLst>
          </p:cNvPr>
          <p:cNvSpPr>
            <a:spLocks noGrp="1"/>
          </p:cNvSpPr>
          <p:nvPr>
            <p:ph type="title"/>
          </p:nvPr>
        </p:nvSpPr>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问题与背景 </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研究目标</a:t>
            </a:r>
            <a:endParaRPr lang="zh-CN" altLang="en-US" dirty="0"/>
          </a:p>
        </p:txBody>
      </p:sp>
      <p:cxnSp>
        <p:nvCxnSpPr>
          <p:cNvPr id="6" name="直接箭头连接符 5">
            <a:extLst>
              <a:ext uri="{FF2B5EF4-FFF2-40B4-BE49-F238E27FC236}">
                <a16:creationId xmlns:a16="http://schemas.microsoft.com/office/drawing/2014/main" id="{E28419A0-EC7A-0C10-D4C4-1B17AF96CB54}"/>
              </a:ext>
            </a:extLst>
          </p:cNvPr>
          <p:cNvCxnSpPr>
            <a:cxnSpLocks/>
          </p:cNvCxnSpPr>
          <p:nvPr/>
        </p:nvCxnSpPr>
        <p:spPr>
          <a:xfrm>
            <a:off x="3746794" y="3176702"/>
            <a:ext cx="4515639" cy="0"/>
          </a:xfrm>
          <a:prstGeom prst="straightConnector1">
            <a:avLst/>
          </a:prstGeom>
          <a:ln w="762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A5962157-5FAD-6F6F-5AA1-9224D509F423}"/>
              </a:ext>
            </a:extLst>
          </p:cNvPr>
          <p:cNvSpPr/>
          <p:nvPr/>
        </p:nvSpPr>
        <p:spPr>
          <a:xfrm>
            <a:off x="4104862" y="3432227"/>
            <a:ext cx="3799503" cy="632674"/>
          </a:xfrm>
          <a:prstGeom prst="rect">
            <a:avLst/>
          </a:prstGeom>
          <a:solidFill>
            <a:srgbClr val="256090">
              <a:lumMod val="60000"/>
              <a:lumOff val="40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SR3 </a:t>
            </a:r>
            <a:r>
              <a:rPr kumimoji="0" lang="zh-CN" altLang="en-US" sz="3200" b="1"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扩散模型</a:t>
            </a:r>
            <a:endParaRPr kumimoji="0" lang="en-US" altLang="zh-CN" sz="3200" b="1"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10" name="文本框 9">
            <a:extLst>
              <a:ext uri="{FF2B5EF4-FFF2-40B4-BE49-F238E27FC236}">
                <a16:creationId xmlns:a16="http://schemas.microsoft.com/office/drawing/2014/main" id="{61975FB7-6C18-8AA1-9292-B3807AAFF2FF}"/>
              </a:ext>
            </a:extLst>
          </p:cNvPr>
          <p:cNvSpPr txBox="1"/>
          <p:nvPr/>
        </p:nvSpPr>
        <p:spPr>
          <a:xfrm>
            <a:off x="725556" y="5275425"/>
            <a:ext cx="10426460" cy="830997"/>
          </a:xfrm>
          <a:prstGeom prst="rect">
            <a:avLst/>
          </a:prstGeom>
          <a:noFill/>
        </p:spPr>
        <p:txBody>
          <a:bodyPr wrap="square">
            <a:spAutoFit/>
          </a:bodyPr>
          <a:lstStyle/>
          <a:p>
            <a:pPr algn="ctr"/>
            <a:r>
              <a:rPr lang="zh-CN" altLang="en-US" sz="2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通过超分辨率处理，</a:t>
            </a:r>
            <a:r>
              <a:rPr lang="zh-CN" altLang="en-US" sz="2400" b="1" dirty="0">
                <a:solidFill>
                  <a:schemeClr val="accent5">
                    <a:lumMod val="50000"/>
                  </a:schemeClr>
                </a:solidFill>
                <a:latin typeface="华文细黑" panose="02010600040101010101" pitchFamily="2" charset="-122"/>
                <a:ea typeface="微软雅黑" panose="020B0503020204020204" pitchFamily="34" charset="-122"/>
              </a:rPr>
              <a:t>生成</a:t>
            </a:r>
            <a:r>
              <a:rPr lang="zh-CN" altLang="en-US" sz="2400" b="1" dirty="0">
                <a:solidFill>
                  <a:srgbClr val="0070C0"/>
                </a:solidFill>
                <a:latin typeface="华文细黑" panose="02010600040101010101" pitchFamily="2" charset="-122"/>
                <a:ea typeface="微软雅黑" panose="020B0503020204020204" pitchFamily="34" charset="-122"/>
              </a:rPr>
              <a:t>高覆盖率</a:t>
            </a:r>
            <a:r>
              <a:rPr lang="zh-CN" altLang="en-US" sz="2400" b="1" dirty="0">
                <a:solidFill>
                  <a:schemeClr val="accent5">
                    <a:lumMod val="50000"/>
                  </a:schemeClr>
                </a:solidFill>
                <a:latin typeface="华文细黑" panose="02010600040101010101" pitchFamily="2" charset="-122"/>
                <a:ea typeface="微软雅黑" panose="020B0503020204020204" pitchFamily="34" charset="-122"/>
              </a:rPr>
              <a:t>、</a:t>
            </a:r>
            <a:r>
              <a:rPr lang="zh-CN" altLang="en-US" sz="2400" b="1" dirty="0">
                <a:solidFill>
                  <a:srgbClr val="0070C0"/>
                </a:solidFill>
                <a:latin typeface="华文细黑" panose="02010600040101010101" pitchFamily="2" charset="-122"/>
                <a:ea typeface="微软雅黑" panose="020B0503020204020204" pitchFamily="34" charset="-122"/>
              </a:rPr>
              <a:t>高分辨率</a:t>
            </a:r>
            <a:r>
              <a:rPr lang="zh-CN" altLang="en-US" sz="2400" b="1" dirty="0">
                <a:solidFill>
                  <a:schemeClr val="accent5">
                    <a:lumMod val="50000"/>
                  </a:schemeClr>
                </a:solidFill>
                <a:latin typeface="华文细黑" panose="02010600040101010101" pitchFamily="2" charset="-122"/>
                <a:ea typeface="微软雅黑" panose="020B0503020204020204" pitchFamily="34" charset="-122"/>
              </a:rPr>
              <a:t>的海洋表面温度数据集，相较于以往的海表温度超分处理研究具有</a:t>
            </a:r>
            <a:r>
              <a:rPr lang="zh-CN" altLang="en-US" sz="2400" b="1" dirty="0">
                <a:solidFill>
                  <a:srgbClr val="0070C0"/>
                </a:solidFill>
                <a:latin typeface="华文细黑" panose="02010600040101010101" pitchFamily="2" charset="-122"/>
                <a:ea typeface="微软雅黑" panose="020B0503020204020204" pitchFamily="34" charset="-122"/>
              </a:rPr>
              <a:t>更少的计算时间</a:t>
            </a:r>
            <a:r>
              <a:rPr lang="zh-CN" altLang="en-US" sz="2400" b="1" dirty="0">
                <a:solidFill>
                  <a:schemeClr val="accent5">
                    <a:lumMod val="50000"/>
                  </a:schemeClr>
                </a:solidFill>
                <a:latin typeface="华文细黑" panose="02010600040101010101" pitchFamily="2" charset="-122"/>
                <a:ea typeface="微软雅黑" panose="020B0503020204020204" pitchFamily="34" charset="-122"/>
              </a:rPr>
              <a:t>和</a:t>
            </a:r>
            <a:r>
              <a:rPr lang="zh-CN" altLang="en-US" sz="2400" b="1" dirty="0">
                <a:solidFill>
                  <a:srgbClr val="0070C0"/>
                </a:solidFill>
                <a:latin typeface="华文细黑" panose="02010600040101010101" pitchFamily="2" charset="-122"/>
                <a:ea typeface="微软雅黑" panose="020B0503020204020204" pitchFamily="34" charset="-122"/>
              </a:rPr>
              <a:t>更高的超分准确率</a:t>
            </a:r>
            <a:endParaRPr lang="en-US" altLang="zh-CN" sz="2400" b="1" dirty="0">
              <a:solidFill>
                <a:srgbClr val="0070C0"/>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5" name="文本框 4">
            <a:extLst>
              <a:ext uri="{FF2B5EF4-FFF2-40B4-BE49-F238E27FC236}">
                <a16:creationId xmlns:a16="http://schemas.microsoft.com/office/drawing/2014/main" id="{A6654F68-2691-6E4A-0556-DCFCC2DFE17C}"/>
              </a:ext>
            </a:extLst>
          </p:cNvPr>
          <p:cNvSpPr txBox="1"/>
          <p:nvPr/>
        </p:nvSpPr>
        <p:spPr>
          <a:xfrm>
            <a:off x="2607803" y="2601900"/>
            <a:ext cx="6661966" cy="396262"/>
          </a:xfrm>
          <a:prstGeom prst="rect">
            <a:avLst/>
          </a:prstGeom>
          <a:noFill/>
        </p:spPr>
        <p:txBody>
          <a:bodyPr wrap="square">
            <a:spAutoFit/>
          </a:bodyPr>
          <a:lstStyle/>
          <a:p>
            <a:pPr lvl="0" algn="ctr">
              <a:lnSpc>
                <a:spcPct val="120000"/>
              </a:lnSpc>
              <a:defRPr/>
            </a:pPr>
            <a:r>
              <a:rPr lang="zh-CN" altLang="en-US" b="1" kern="0" dirty="0">
                <a:solidFill>
                  <a:schemeClr val="accent5">
                    <a:lumMod val="50000"/>
                  </a:schemeClr>
                </a:solidFill>
                <a:latin typeface="华文细黑" panose="02010600040101010101" pitchFamily="2" charset="-122"/>
                <a:ea typeface="微软雅黑" panose="020B0503020204020204" pitchFamily="34" charset="-122"/>
              </a:rPr>
              <a:t>对于只有微波观测，没有红外观测的数据</a:t>
            </a:r>
            <a:endParaRPr lang="en-US" altLang="zh-CN" b="1" kern="0"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pic>
        <p:nvPicPr>
          <p:cNvPr id="7" name="图片 6">
            <a:extLst>
              <a:ext uri="{FF2B5EF4-FFF2-40B4-BE49-F238E27FC236}">
                <a16:creationId xmlns:a16="http://schemas.microsoft.com/office/drawing/2014/main" id="{BD5DCE58-61C3-A422-B3D1-0F983514E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784" y="1801278"/>
            <a:ext cx="3278007" cy="2823342"/>
          </a:xfrm>
          <a:prstGeom prst="rect">
            <a:avLst/>
          </a:prstGeom>
        </p:spPr>
      </p:pic>
      <p:pic>
        <p:nvPicPr>
          <p:cNvPr id="9" name="图片 8">
            <a:extLst>
              <a:ext uri="{FF2B5EF4-FFF2-40B4-BE49-F238E27FC236}">
                <a16:creationId xmlns:a16="http://schemas.microsoft.com/office/drawing/2014/main" id="{C33BE457-329C-11C2-E87A-A5718A1DC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59" y="1801278"/>
            <a:ext cx="3427759" cy="2868885"/>
          </a:xfrm>
          <a:prstGeom prst="rect">
            <a:avLst/>
          </a:prstGeom>
        </p:spPr>
      </p:pic>
    </p:spTree>
    <p:extLst>
      <p:ext uri="{BB962C8B-B14F-4D97-AF65-F5344CB8AC3E}">
        <p14:creationId xmlns:p14="http://schemas.microsoft.com/office/powerpoint/2010/main" val="39623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F3FF-2195-1083-5031-760B79D24228}"/>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248B67DD-3239-4C55-814E-C2FE036840E9}"/>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t="-95" b="8779"/>
          <a:stretch/>
        </p:blipFill>
        <p:spPr>
          <a:xfrm>
            <a:off x="0" y="-57150"/>
            <a:ext cx="12192000" cy="7080250"/>
          </a:xfrm>
          <a:prstGeom prst="rect">
            <a:avLst/>
          </a:prstGeom>
        </p:spPr>
      </p:pic>
      <p:grpSp>
        <p:nvGrpSpPr>
          <p:cNvPr id="8" name="组合 7">
            <a:extLst>
              <a:ext uri="{FF2B5EF4-FFF2-40B4-BE49-F238E27FC236}">
                <a16:creationId xmlns:a16="http://schemas.microsoft.com/office/drawing/2014/main" id="{70FF5560-EBA2-5AE1-C3CA-60DA3C1BAE61}"/>
              </a:ext>
            </a:extLst>
          </p:cNvPr>
          <p:cNvGrpSpPr/>
          <p:nvPr/>
        </p:nvGrpSpPr>
        <p:grpSpPr>
          <a:xfrm>
            <a:off x="1080500" y="2444929"/>
            <a:ext cx="8926141" cy="2076091"/>
            <a:chOff x="1276032" y="2737579"/>
            <a:chExt cx="8926141" cy="2076091"/>
          </a:xfrm>
        </p:grpSpPr>
        <p:sp>
          <p:nvSpPr>
            <p:cNvPr id="6" name="矩形 5">
              <a:extLst>
                <a:ext uri="{FF2B5EF4-FFF2-40B4-BE49-F238E27FC236}">
                  <a16:creationId xmlns:a16="http://schemas.microsoft.com/office/drawing/2014/main" id="{E2DEFC50-8748-B50D-8CD8-88F2ACAA6EFC}"/>
                </a:ext>
              </a:extLst>
            </p:cNvPr>
            <p:cNvSpPr/>
            <p:nvPr/>
          </p:nvSpPr>
          <p:spPr>
            <a:xfrm>
              <a:off x="2185358" y="2737579"/>
              <a:ext cx="8016815" cy="2076091"/>
            </a:xfrm>
            <a:prstGeom prst="rect">
              <a:avLst/>
            </a:prstGeom>
            <a:solidFill>
              <a:schemeClr val="bg1">
                <a:lumMod val="9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28D1669-7E28-A1D5-312E-DD90DA7B06A9}"/>
                </a:ext>
              </a:extLst>
            </p:cNvPr>
            <p:cNvSpPr txBox="1"/>
            <p:nvPr/>
          </p:nvSpPr>
          <p:spPr>
            <a:xfrm>
              <a:off x="2506033" y="3011540"/>
              <a:ext cx="2133600" cy="1323439"/>
            </a:xfrm>
            <a:prstGeom prst="rect">
              <a:avLst/>
            </a:prstGeom>
            <a:noFill/>
          </p:spPr>
          <p:txBody>
            <a:bodyPr wrap="square" rtlCol="0">
              <a:spAutoFit/>
            </a:bodyPr>
            <a:lstStyle>
              <a:defPPr>
                <a:defRPr lang="zh-CN"/>
              </a:defPPr>
              <a:lvl1pPr algn="ctr">
                <a:defRPr sz="8000">
                  <a:solidFill>
                    <a:schemeClr val="bg1"/>
                  </a:solidFill>
                  <a:latin typeface="造字工房尚黑 G0v1 常规体" pitchFamily="50" charset="-122"/>
                  <a:ea typeface="造字工房尚黑 G0v1 常规体" pitchFamily="50" charset="-122"/>
                </a:defRPr>
              </a:lvl1pPr>
            </a:lstStyle>
            <a:p>
              <a:r>
                <a:rPr lang="en-US" altLang="zh-CN"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02</a:t>
              </a:r>
              <a:endParaRPr lang="zh-CN" altLang="en-US"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1" name="文本框 20">
              <a:extLst>
                <a:ext uri="{FF2B5EF4-FFF2-40B4-BE49-F238E27FC236}">
                  <a16:creationId xmlns:a16="http://schemas.microsoft.com/office/drawing/2014/main" id="{08C6C12B-D89E-2E63-8900-1902FE1CE67D}"/>
                </a:ext>
              </a:extLst>
            </p:cNvPr>
            <p:cNvSpPr txBox="1"/>
            <p:nvPr/>
          </p:nvSpPr>
          <p:spPr>
            <a:xfrm>
              <a:off x="2883194" y="4109784"/>
              <a:ext cx="1287264" cy="307777"/>
            </a:xfrm>
            <a:prstGeom prst="rect">
              <a:avLst/>
            </a:prstGeom>
            <a:noFill/>
          </p:spPr>
          <p:txBody>
            <a:bodyPr wrap="square" rtlCol="0">
              <a:spAutoFit/>
            </a:bodyPr>
            <a:lstStyle/>
            <a:p>
              <a:pPr algn="ctr"/>
              <a:r>
                <a:rPr lang="en-US" altLang="zh-CN"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rPr>
                <a:t>PART TWO</a:t>
              </a:r>
              <a:endParaRPr lang="zh-CN" altLang="en-US"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2" name="文本框 41">
              <a:extLst>
                <a:ext uri="{FF2B5EF4-FFF2-40B4-BE49-F238E27FC236}">
                  <a16:creationId xmlns:a16="http://schemas.microsoft.com/office/drawing/2014/main" id="{4C00697F-0F24-CC4E-73E5-1721DE166C9B}"/>
                </a:ext>
              </a:extLst>
            </p:cNvPr>
            <p:cNvSpPr txBox="1"/>
            <p:nvPr/>
          </p:nvSpPr>
          <p:spPr>
            <a:xfrm>
              <a:off x="5579408" y="3224970"/>
              <a:ext cx="3218519"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研究方法</a:t>
              </a:r>
              <a:endParaRPr lang="en-US" altLang="zh-CN"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3" name="矩形 22">
              <a:extLst>
                <a:ext uri="{FF2B5EF4-FFF2-40B4-BE49-F238E27FC236}">
                  <a16:creationId xmlns:a16="http://schemas.microsoft.com/office/drawing/2014/main" id="{BEFC5BC5-15FB-4098-E101-B86FC8364FED}"/>
                </a:ext>
              </a:extLst>
            </p:cNvPr>
            <p:cNvSpPr/>
            <p:nvPr/>
          </p:nvSpPr>
          <p:spPr>
            <a:xfrm>
              <a:off x="1276032" y="3906336"/>
              <a:ext cx="7521895" cy="42864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rPr>
                <a:t>Methods</a:t>
              </a:r>
              <a:endParaRPr lang="zh-CN" altLang="en-US"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Tree>
    <p:extLst>
      <p:ext uri="{BB962C8B-B14F-4D97-AF65-F5344CB8AC3E}">
        <p14:creationId xmlns:p14="http://schemas.microsoft.com/office/powerpoint/2010/main" val="21200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48A8F4FE-B93C-A342-332F-66D9FEEEE7F4}"/>
              </a:ext>
            </a:extLst>
          </p:cNvPr>
          <p:cNvSpPr/>
          <p:nvPr/>
        </p:nvSpPr>
        <p:spPr>
          <a:xfrm>
            <a:off x="934580" y="4449954"/>
            <a:ext cx="10429283" cy="2112364"/>
          </a:xfrm>
          <a:prstGeom prst="roundRect">
            <a:avLst/>
          </a:prstGeom>
          <a:noFill/>
          <a:ln w="28575">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15CECAF9-A56B-969F-BBE0-926CE666EAC8}"/>
              </a:ext>
            </a:extLst>
          </p:cNvPr>
          <p:cNvSpPr>
            <a:spLocks noGrp="1"/>
          </p:cNvSpPr>
          <p:nvPr>
            <p:ph type="title"/>
          </p:nvPr>
        </p:nvSpPr>
        <p:spPr/>
        <p:txBody>
          <a:bodyPr/>
          <a:lstStyle/>
          <a:p>
            <a:r>
              <a:rPr lang="zh-CN" altLang="en-US" dirty="0"/>
              <a:t>研究方法 </a:t>
            </a:r>
            <a:r>
              <a:rPr lang="en-US" altLang="zh-CN" dirty="0"/>
              <a:t>-- </a:t>
            </a:r>
            <a:r>
              <a:rPr lang="zh-CN" altLang="en-US" dirty="0"/>
              <a:t>框架</a:t>
            </a:r>
          </a:p>
        </p:txBody>
      </p:sp>
      <p:sp>
        <p:nvSpPr>
          <p:cNvPr id="12" name="箭头: 右 11">
            <a:extLst>
              <a:ext uri="{FF2B5EF4-FFF2-40B4-BE49-F238E27FC236}">
                <a16:creationId xmlns:a16="http://schemas.microsoft.com/office/drawing/2014/main" id="{337CC332-FD32-01F9-D5F8-F4A78EDEFCCF}"/>
              </a:ext>
            </a:extLst>
          </p:cNvPr>
          <p:cNvSpPr/>
          <p:nvPr/>
        </p:nvSpPr>
        <p:spPr>
          <a:xfrm rot="5400000">
            <a:off x="5713746" y="3869320"/>
            <a:ext cx="562828" cy="445299"/>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a:extLst>
              <a:ext uri="{FF2B5EF4-FFF2-40B4-BE49-F238E27FC236}">
                <a16:creationId xmlns:a16="http://schemas.microsoft.com/office/drawing/2014/main" id="{95529B5E-460B-1F90-B9BB-3DD8466984F5}"/>
              </a:ext>
            </a:extLst>
          </p:cNvPr>
          <p:cNvSpPr/>
          <p:nvPr/>
        </p:nvSpPr>
        <p:spPr>
          <a:xfrm>
            <a:off x="934581" y="1584094"/>
            <a:ext cx="10429283" cy="2112364"/>
          </a:xfrm>
          <a:prstGeom prst="roundRect">
            <a:avLst/>
          </a:prstGeom>
          <a:noFill/>
          <a:ln w="28575">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A40056AD-0BF5-B471-ABF9-073365C56ED6}"/>
              </a:ext>
            </a:extLst>
          </p:cNvPr>
          <p:cNvSpPr txBox="1"/>
          <p:nvPr/>
        </p:nvSpPr>
        <p:spPr>
          <a:xfrm>
            <a:off x="386477" y="1309662"/>
            <a:ext cx="1415772" cy="461665"/>
          </a:xfrm>
          <a:prstGeom prst="rect">
            <a:avLst/>
          </a:prstGeom>
          <a:solidFill>
            <a:schemeClr val="bg1">
              <a:lumMod val="95000"/>
            </a:schemeClr>
          </a:solidFill>
        </p:spPr>
        <p:txBody>
          <a:bodyPr wrap="none" rtlCol="0">
            <a:spAutoFit/>
          </a:bodyPr>
          <a:lstStyle/>
          <a:p>
            <a:pPr algn="ct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数据配对</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94758E52-B922-EE1C-2B2A-A631DCC9F89B}"/>
              </a:ext>
            </a:extLst>
          </p:cNvPr>
          <p:cNvSpPr txBox="1"/>
          <p:nvPr/>
        </p:nvSpPr>
        <p:spPr>
          <a:xfrm>
            <a:off x="1451503" y="1790722"/>
            <a:ext cx="5532353" cy="830997"/>
          </a:xfrm>
          <a:prstGeom prst="rect">
            <a:avLst/>
          </a:prstGeom>
          <a:noFill/>
        </p:spPr>
        <p:txBody>
          <a:bodyPr wrap="square" rtlCol="0">
            <a:spAutoFit/>
          </a:bodyPr>
          <a:lstStyle/>
          <a:p>
            <a:pPr algn="ct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扫描每一天</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VIIRS</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和</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AMSR2</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的全球观测</a:t>
            </a:r>
            <a:endParaRPr lang="en-US" altLang="zh-CN" sz="2400" b="1" dirty="0">
              <a:solidFill>
                <a:schemeClr val="tx2">
                  <a:lumMod val="75000"/>
                </a:schemeClr>
              </a:solidFill>
              <a:latin typeface="微软雅黑" panose="020B0503020204020204" pitchFamily="34" charset="-122"/>
              <a:ea typeface="微软雅黑" panose="020B0503020204020204" pitchFamily="34" charset="-122"/>
            </a:endParaRPr>
          </a:p>
          <a:p>
            <a:pPr algn="ct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进行无缺失值的</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3°×3°patch</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匹配</a:t>
            </a:r>
            <a:endParaRPr lang="en-US" altLang="zh-CN" sz="2400" b="1" dirty="0">
              <a:solidFill>
                <a:schemeClr val="tx2">
                  <a:lumMod val="75000"/>
                </a:schemeClr>
              </a:solidFill>
              <a:latin typeface="微软雅黑" panose="020B0503020204020204" pitchFamily="34" charset="-122"/>
              <a:ea typeface="微软雅黑" panose="020B0503020204020204" pitchFamily="34" charset="-122"/>
            </a:endParaRPr>
          </a:p>
        </p:txBody>
      </p:sp>
      <p:pic>
        <p:nvPicPr>
          <p:cNvPr id="25" name="图片 24">
            <a:extLst>
              <a:ext uri="{FF2B5EF4-FFF2-40B4-BE49-F238E27FC236}">
                <a16:creationId xmlns:a16="http://schemas.microsoft.com/office/drawing/2014/main" id="{87468EFA-1C8C-6BAE-7C5B-ED9B0CDBDCE1}"/>
              </a:ext>
            </a:extLst>
          </p:cNvPr>
          <p:cNvPicPr>
            <a:picLocks noChangeAspect="1"/>
          </p:cNvPicPr>
          <p:nvPr/>
        </p:nvPicPr>
        <p:blipFill>
          <a:blip r:embed="rId2"/>
          <a:stretch>
            <a:fillRect/>
          </a:stretch>
        </p:blipFill>
        <p:spPr>
          <a:xfrm>
            <a:off x="7774638" y="2098613"/>
            <a:ext cx="1369631" cy="1357616"/>
          </a:xfrm>
          <a:prstGeom prst="rect">
            <a:avLst/>
          </a:prstGeom>
        </p:spPr>
      </p:pic>
      <p:pic>
        <p:nvPicPr>
          <p:cNvPr id="28" name="图片 27">
            <a:extLst>
              <a:ext uri="{FF2B5EF4-FFF2-40B4-BE49-F238E27FC236}">
                <a16:creationId xmlns:a16="http://schemas.microsoft.com/office/drawing/2014/main" id="{F3196AEB-32AC-E9F0-3C22-0B2622590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9429" y="2107480"/>
            <a:ext cx="1339881" cy="1339881"/>
          </a:xfrm>
          <a:prstGeom prst="rect">
            <a:avLst/>
          </a:prstGeom>
        </p:spPr>
      </p:pic>
      <p:sp>
        <p:nvSpPr>
          <p:cNvPr id="29" name="文本框 28">
            <a:extLst>
              <a:ext uri="{FF2B5EF4-FFF2-40B4-BE49-F238E27FC236}">
                <a16:creationId xmlns:a16="http://schemas.microsoft.com/office/drawing/2014/main" id="{D8708527-0F82-EF46-08FC-DFFF223842A7}"/>
              </a:ext>
            </a:extLst>
          </p:cNvPr>
          <p:cNvSpPr txBox="1"/>
          <p:nvPr/>
        </p:nvSpPr>
        <p:spPr>
          <a:xfrm>
            <a:off x="1474969" y="2703175"/>
            <a:ext cx="2994153" cy="715089"/>
          </a:xfrm>
          <a:prstGeom prst="roundRect">
            <a:avLst/>
          </a:prstGeom>
          <a:solidFill>
            <a:schemeClr val="accent5">
              <a:lumMod val="20000"/>
              <a:lumOff val="80000"/>
            </a:schemeClr>
          </a:solid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训练集：</a:t>
            </a:r>
            <a:r>
              <a:rPr lang="en-US" altLang="zh-CN" b="1" dirty="0">
                <a:solidFill>
                  <a:schemeClr val="tx2">
                    <a:lumMod val="75000"/>
                  </a:schemeClr>
                </a:solidFill>
                <a:latin typeface="微软雅黑" panose="020B0503020204020204" pitchFamily="34" charset="-122"/>
                <a:ea typeface="微软雅黑" panose="020B0503020204020204" pitchFamily="34" charset="-122"/>
              </a:rPr>
              <a:t>2022.1-2023.12 </a:t>
            </a:r>
          </a:p>
          <a:p>
            <a:pPr algn="ctr"/>
            <a:r>
              <a:rPr lang="en-US" altLang="zh-CN" b="1" dirty="0">
                <a:solidFill>
                  <a:schemeClr val="accent1"/>
                </a:solidFill>
                <a:latin typeface="微软雅黑" panose="020B0503020204020204" pitchFamily="34" charset="-122"/>
                <a:ea typeface="微软雅黑" panose="020B0503020204020204" pitchFamily="34" charset="-122"/>
              </a:rPr>
              <a:t>Size</a:t>
            </a:r>
            <a:r>
              <a:rPr lang="zh-CN" altLang="en-US" b="1" dirty="0">
                <a:solidFill>
                  <a:schemeClr val="accent1"/>
                </a:solidFill>
                <a:latin typeface="微软雅黑" panose="020B0503020204020204" pitchFamily="34" charset="-122"/>
                <a:ea typeface="微软雅黑" panose="020B0503020204020204" pitchFamily="34" charset="-122"/>
              </a:rPr>
              <a:t>：</a:t>
            </a:r>
            <a:r>
              <a:rPr lang="en-US" altLang="zh-CN" b="1" dirty="0">
                <a:solidFill>
                  <a:schemeClr val="tx2">
                    <a:lumMod val="75000"/>
                  </a:schemeClr>
                </a:solidFill>
                <a:latin typeface="微软雅黑" panose="020B0503020204020204" pitchFamily="34" charset="-122"/>
                <a:ea typeface="微软雅黑" panose="020B0503020204020204" pitchFamily="34" charset="-122"/>
              </a:rPr>
              <a:t>75722</a:t>
            </a:r>
            <a:r>
              <a:rPr lang="zh-CN" altLang="en-US" b="1" dirty="0">
                <a:solidFill>
                  <a:schemeClr val="tx2">
                    <a:lumMod val="75000"/>
                  </a:schemeClr>
                </a:solidFill>
                <a:latin typeface="微软雅黑" panose="020B0503020204020204" pitchFamily="34" charset="-122"/>
                <a:ea typeface="微软雅黑" panose="020B0503020204020204" pitchFamily="34" charset="-122"/>
              </a:rPr>
              <a:t>对</a:t>
            </a:r>
            <a:endParaRPr lang="en-US" altLang="zh-CN" sz="24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345A2941-9875-88C4-8F02-66D9B28CD669}"/>
              </a:ext>
            </a:extLst>
          </p:cNvPr>
          <p:cNvSpPr txBox="1"/>
          <p:nvPr/>
        </p:nvSpPr>
        <p:spPr>
          <a:xfrm>
            <a:off x="4980057" y="2680062"/>
            <a:ext cx="2349813" cy="715089"/>
          </a:xfrm>
          <a:prstGeom prst="roundRect">
            <a:avLst/>
          </a:prstGeom>
          <a:solidFill>
            <a:schemeClr val="accent5">
              <a:lumMod val="20000"/>
              <a:lumOff val="80000"/>
            </a:schemeClr>
          </a:solidFill>
        </p:spPr>
        <p:txBody>
          <a:bodyPr wrap="square">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验证集：</a:t>
            </a:r>
            <a:r>
              <a:rPr lang="en-US" altLang="zh-CN" b="1" dirty="0">
                <a:solidFill>
                  <a:schemeClr val="tx2">
                    <a:lumMod val="75000"/>
                  </a:schemeClr>
                </a:solidFill>
                <a:latin typeface="微软雅黑" panose="020B0503020204020204" pitchFamily="34" charset="-122"/>
                <a:ea typeface="微软雅黑" panose="020B0503020204020204" pitchFamily="34" charset="-122"/>
              </a:rPr>
              <a:t>2024.1</a:t>
            </a:r>
          </a:p>
          <a:p>
            <a:pPr algn="ctr"/>
            <a:r>
              <a:rPr lang="en-US" altLang="zh-CN" b="1" dirty="0">
                <a:solidFill>
                  <a:schemeClr val="accent1"/>
                </a:solidFill>
                <a:latin typeface="微软雅黑" panose="020B0503020204020204" pitchFamily="34" charset="-122"/>
                <a:ea typeface="微软雅黑" panose="020B0503020204020204" pitchFamily="34" charset="-122"/>
              </a:rPr>
              <a:t>Size</a:t>
            </a:r>
            <a:r>
              <a:rPr lang="zh-CN" altLang="en-US" b="1" dirty="0">
                <a:solidFill>
                  <a:schemeClr val="accent1"/>
                </a:solidFill>
                <a:latin typeface="微软雅黑" panose="020B0503020204020204" pitchFamily="34" charset="-122"/>
                <a:ea typeface="微软雅黑" panose="020B0503020204020204" pitchFamily="34" charset="-122"/>
              </a:rPr>
              <a:t>：</a:t>
            </a:r>
            <a:r>
              <a:rPr lang="en-US" altLang="zh-CN" b="1" dirty="0">
                <a:solidFill>
                  <a:schemeClr val="tx2">
                    <a:lumMod val="75000"/>
                  </a:schemeClr>
                </a:solidFill>
                <a:latin typeface="微软雅黑" panose="020B0503020204020204" pitchFamily="34" charset="-122"/>
                <a:ea typeface="微软雅黑" panose="020B0503020204020204" pitchFamily="34" charset="-122"/>
              </a:rPr>
              <a:t>4359</a:t>
            </a:r>
            <a:r>
              <a:rPr lang="zh-CN" altLang="en-US" b="1" dirty="0">
                <a:solidFill>
                  <a:schemeClr val="tx2">
                    <a:lumMod val="75000"/>
                  </a:schemeClr>
                </a:solidFill>
                <a:latin typeface="微软雅黑" panose="020B0503020204020204" pitchFamily="34" charset="-122"/>
                <a:ea typeface="微软雅黑" panose="020B0503020204020204" pitchFamily="34" charset="-122"/>
              </a:rPr>
              <a:t>对</a:t>
            </a:r>
          </a:p>
        </p:txBody>
      </p:sp>
      <p:sp>
        <p:nvSpPr>
          <p:cNvPr id="32" name="文本框 31">
            <a:extLst>
              <a:ext uri="{FF2B5EF4-FFF2-40B4-BE49-F238E27FC236}">
                <a16:creationId xmlns:a16="http://schemas.microsoft.com/office/drawing/2014/main" id="{4D77968F-E813-2DC5-5B5D-472C0D02800B}"/>
              </a:ext>
            </a:extLst>
          </p:cNvPr>
          <p:cNvSpPr txBox="1"/>
          <p:nvPr/>
        </p:nvSpPr>
        <p:spPr>
          <a:xfrm>
            <a:off x="532015" y="4311174"/>
            <a:ext cx="1107996" cy="461665"/>
          </a:xfrm>
          <a:prstGeom prst="rect">
            <a:avLst/>
          </a:prstGeom>
          <a:solidFill>
            <a:schemeClr val="bg1">
              <a:lumMod val="95000"/>
            </a:schemeClr>
          </a:solidFill>
        </p:spPr>
        <p:txBody>
          <a:bodyPr wrap="none" rtlCol="0">
            <a:spAutoFit/>
          </a:bodyPr>
          <a:lstStyle/>
          <a:p>
            <a:pPr algn="ct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预处理</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8BD2832C-7976-907A-2460-FC067034C87B}"/>
              </a:ext>
            </a:extLst>
          </p:cNvPr>
          <p:cNvSpPr txBox="1"/>
          <p:nvPr/>
        </p:nvSpPr>
        <p:spPr>
          <a:xfrm>
            <a:off x="1236265" y="4877643"/>
            <a:ext cx="3224507" cy="1427129"/>
          </a:xfrm>
          <a:prstGeom prst="roundRect">
            <a:avLst/>
          </a:prstGeom>
          <a:solidFill>
            <a:schemeClr val="accent5">
              <a:lumMod val="20000"/>
              <a:lumOff val="80000"/>
            </a:schemeClr>
          </a:solidFill>
        </p:spPr>
        <p:txBody>
          <a:bodyPr wrap="square" rtlCol="0">
            <a:spAutoFit/>
          </a:bodyPr>
          <a:lstStyle/>
          <a:p>
            <a:pPr algn="ctr">
              <a:lnSpc>
                <a:spcPct val="150000"/>
              </a:lnSpc>
            </a:pPr>
            <a:r>
              <a:rPr lang="zh-CN" altLang="en-US" b="1" dirty="0">
                <a:solidFill>
                  <a:schemeClr val="accent5">
                    <a:lumMod val="75000"/>
                  </a:schemeClr>
                </a:solidFill>
                <a:latin typeface="微软雅黑" panose="020B0503020204020204" pitchFamily="34" charset="-122"/>
                <a:ea typeface="微软雅黑" panose="020B0503020204020204" pitchFamily="34" charset="-122"/>
              </a:rPr>
              <a:t>图像大小</a:t>
            </a:r>
            <a:r>
              <a:rPr lang="en-US" altLang="zh-CN"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b="1" dirty="0">
                <a:solidFill>
                  <a:schemeClr val="accent5">
                    <a:lumMod val="75000"/>
                  </a:schemeClr>
                </a:solidFill>
                <a:latin typeface="微软雅黑" panose="020B0503020204020204" pitchFamily="34" charset="-122"/>
                <a:ea typeface="微软雅黑" panose="020B0503020204020204" pitchFamily="34" charset="-122"/>
              </a:rPr>
              <a:t>像素</a:t>
            </a:r>
            <a:r>
              <a:rPr lang="en-US" altLang="zh-CN" b="1" dirty="0">
                <a:solidFill>
                  <a:schemeClr val="accent5">
                    <a:lumMod val="75000"/>
                  </a:schemeClr>
                </a:solidFill>
                <a:latin typeface="微软雅黑" panose="020B0503020204020204" pitchFamily="34" charset="-122"/>
                <a:ea typeface="微软雅黑" panose="020B0503020204020204" pitchFamily="34" charset="-122"/>
              </a:rPr>
              <a:t>)</a:t>
            </a:r>
          </a:p>
          <a:p>
            <a:pPr algn="ctr">
              <a:lnSpc>
                <a:spcPct val="150000"/>
              </a:lnSpc>
            </a:pPr>
            <a:r>
              <a:rPr lang="en-US" altLang="zh-CN" b="1" dirty="0">
                <a:solidFill>
                  <a:schemeClr val="tx2">
                    <a:lumMod val="75000"/>
                  </a:schemeClr>
                </a:solidFill>
                <a:latin typeface="微软雅黑" panose="020B0503020204020204" pitchFamily="34" charset="-122"/>
                <a:ea typeface="微软雅黑" panose="020B0503020204020204" pitchFamily="34" charset="-122"/>
              </a:rPr>
              <a:t>HR(</a:t>
            </a:r>
            <a:r>
              <a:rPr lang="zh-CN" altLang="en-US" b="1" dirty="0">
                <a:solidFill>
                  <a:schemeClr val="tx2">
                    <a:lumMod val="75000"/>
                  </a:schemeClr>
                </a:solidFill>
                <a:latin typeface="微软雅黑" panose="020B0503020204020204" pitchFamily="34" charset="-122"/>
                <a:ea typeface="微软雅黑" panose="020B0503020204020204" pitchFamily="34" charset="-122"/>
              </a:rPr>
              <a:t>高分辨率</a:t>
            </a:r>
            <a:r>
              <a:rPr lang="en-US" altLang="zh-CN" b="1" dirty="0">
                <a:solidFill>
                  <a:schemeClr val="tx2">
                    <a:lumMod val="75000"/>
                  </a:schemeClr>
                </a:solidFill>
                <a:latin typeface="微软雅黑" panose="020B0503020204020204" pitchFamily="34" charset="-122"/>
                <a:ea typeface="微软雅黑" panose="020B0503020204020204" pitchFamily="34" charset="-122"/>
              </a:rPr>
              <a:t>)</a:t>
            </a:r>
            <a:r>
              <a:rPr lang="zh-CN" altLang="en-US" b="1" dirty="0">
                <a:solidFill>
                  <a:schemeClr val="tx2">
                    <a:lumMod val="75000"/>
                  </a:schemeClr>
                </a:solidFill>
                <a:latin typeface="微软雅黑" panose="020B0503020204020204" pitchFamily="34" charset="-122"/>
                <a:ea typeface="微软雅黑" panose="020B0503020204020204" pitchFamily="34" charset="-122"/>
              </a:rPr>
              <a:t>：</a:t>
            </a:r>
            <a:r>
              <a:rPr lang="en-US" altLang="zh-CN" b="1" dirty="0">
                <a:solidFill>
                  <a:schemeClr val="tx2">
                    <a:lumMod val="75000"/>
                  </a:schemeClr>
                </a:solidFill>
                <a:latin typeface="微软雅黑" panose="020B0503020204020204" pitchFamily="34" charset="-122"/>
                <a:ea typeface="微软雅黑" panose="020B0503020204020204" pitchFamily="34" charset="-122"/>
              </a:rPr>
              <a:t>150×150</a:t>
            </a:r>
          </a:p>
          <a:p>
            <a:pPr algn="ctr">
              <a:lnSpc>
                <a:spcPct val="150000"/>
              </a:lnSpc>
            </a:pPr>
            <a:r>
              <a:rPr lang="en-US" altLang="zh-CN" b="1" dirty="0">
                <a:solidFill>
                  <a:schemeClr val="tx2">
                    <a:lumMod val="75000"/>
                  </a:schemeClr>
                </a:solidFill>
                <a:latin typeface="微软雅黑" panose="020B0503020204020204" pitchFamily="34" charset="-122"/>
                <a:ea typeface="微软雅黑" panose="020B0503020204020204" pitchFamily="34" charset="-122"/>
              </a:rPr>
              <a:t>LR(</a:t>
            </a:r>
            <a:r>
              <a:rPr lang="zh-CN" altLang="en-US" b="1" dirty="0">
                <a:solidFill>
                  <a:schemeClr val="tx2">
                    <a:lumMod val="75000"/>
                  </a:schemeClr>
                </a:solidFill>
                <a:latin typeface="微软雅黑" panose="020B0503020204020204" pitchFamily="34" charset="-122"/>
                <a:ea typeface="微软雅黑" panose="020B0503020204020204" pitchFamily="34" charset="-122"/>
              </a:rPr>
              <a:t>低分辨率</a:t>
            </a:r>
            <a:r>
              <a:rPr lang="en-US" altLang="zh-CN" b="1" dirty="0">
                <a:solidFill>
                  <a:schemeClr val="tx2">
                    <a:lumMod val="75000"/>
                  </a:schemeClr>
                </a:solidFill>
                <a:latin typeface="微软雅黑" panose="020B0503020204020204" pitchFamily="34" charset="-122"/>
                <a:ea typeface="微软雅黑" panose="020B0503020204020204" pitchFamily="34" charset="-122"/>
              </a:rPr>
              <a:t>)</a:t>
            </a:r>
            <a:r>
              <a:rPr lang="zh-CN" altLang="en-US" b="1" dirty="0">
                <a:solidFill>
                  <a:schemeClr val="tx2">
                    <a:lumMod val="75000"/>
                  </a:schemeClr>
                </a:solidFill>
                <a:latin typeface="微软雅黑" panose="020B0503020204020204" pitchFamily="34" charset="-122"/>
                <a:ea typeface="微软雅黑" panose="020B0503020204020204" pitchFamily="34" charset="-122"/>
              </a:rPr>
              <a:t>：</a:t>
            </a:r>
            <a:r>
              <a:rPr lang="en-US" altLang="zh-CN" b="1" dirty="0">
                <a:solidFill>
                  <a:schemeClr val="tx2">
                    <a:lumMod val="75000"/>
                  </a:schemeClr>
                </a:solidFill>
                <a:latin typeface="微软雅黑" panose="020B0503020204020204" pitchFamily="34" charset="-122"/>
                <a:ea typeface="微软雅黑" panose="020B0503020204020204" pitchFamily="34" charset="-122"/>
              </a:rPr>
              <a:t>12×12</a:t>
            </a:r>
          </a:p>
        </p:txBody>
      </p:sp>
      <p:sp>
        <p:nvSpPr>
          <p:cNvPr id="35" name="文本框 34">
            <a:extLst>
              <a:ext uri="{FF2B5EF4-FFF2-40B4-BE49-F238E27FC236}">
                <a16:creationId xmlns:a16="http://schemas.microsoft.com/office/drawing/2014/main" id="{55E6B18B-6352-1331-A4FE-B5852ECA169C}"/>
              </a:ext>
            </a:extLst>
          </p:cNvPr>
          <p:cNvSpPr txBox="1"/>
          <p:nvPr/>
        </p:nvSpPr>
        <p:spPr>
          <a:xfrm>
            <a:off x="4494136" y="4839904"/>
            <a:ext cx="2985350" cy="1422954"/>
          </a:xfrm>
          <a:prstGeom prst="rect">
            <a:avLst/>
          </a:prstGeom>
          <a:noFill/>
        </p:spPr>
        <p:txBody>
          <a:bodyPr wrap="square" rtlCol="0">
            <a:spAutoFit/>
          </a:bodyPr>
          <a:lstStyle/>
          <a:p>
            <a:pPr algn="ctr">
              <a:lnSpc>
                <a:spcPct val="15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rPr>
              <a:t>数据归一化</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2000" b="1" dirty="0">
                <a:solidFill>
                  <a:schemeClr val="accent5">
                    <a:lumMod val="75000"/>
                  </a:schemeClr>
                </a:solidFill>
                <a:latin typeface="微软雅黑" panose="020B0503020204020204" pitchFamily="34" charset="-122"/>
                <a:ea typeface="微软雅黑" panose="020B0503020204020204" pitchFamily="34" charset="-122"/>
              </a:rPr>
              <a:t>LR</a:t>
            </a:r>
            <a:r>
              <a:rPr lang="zh-CN" altLang="en-US" sz="2000" b="1" dirty="0">
                <a:solidFill>
                  <a:schemeClr val="accent5">
                    <a:lumMod val="75000"/>
                  </a:schemeClr>
                </a:solidFill>
                <a:latin typeface="微软雅黑" panose="020B0503020204020204" pitchFamily="34" charset="-122"/>
                <a:ea typeface="微软雅黑" panose="020B0503020204020204" pitchFamily="34" charset="-122"/>
              </a:rPr>
              <a:t>双线性插值</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(12×12</a:t>
            </a: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a:t>
            </a: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150×150)</a:t>
            </a:r>
          </a:p>
        </p:txBody>
      </p:sp>
      <p:pic>
        <p:nvPicPr>
          <p:cNvPr id="36" name="图片 35">
            <a:extLst>
              <a:ext uri="{FF2B5EF4-FFF2-40B4-BE49-F238E27FC236}">
                <a16:creationId xmlns:a16="http://schemas.microsoft.com/office/drawing/2014/main" id="{8907C769-0FC1-222E-0C40-E73D124A5CF9}"/>
              </a:ext>
            </a:extLst>
          </p:cNvPr>
          <p:cNvPicPr>
            <a:picLocks noChangeAspect="1"/>
          </p:cNvPicPr>
          <p:nvPr/>
        </p:nvPicPr>
        <p:blipFill>
          <a:blip r:embed="rId2"/>
          <a:stretch>
            <a:fillRect/>
          </a:stretch>
        </p:blipFill>
        <p:spPr>
          <a:xfrm>
            <a:off x="7573802" y="5003009"/>
            <a:ext cx="1369631" cy="1357616"/>
          </a:xfrm>
          <a:prstGeom prst="rect">
            <a:avLst/>
          </a:prstGeom>
        </p:spPr>
      </p:pic>
      <p:cxnSp>
        <p:nvCxnSpPr>
          <p:cNvPr id="38" name="直接箭头连接符 37">
            <a:extLst>
              <a:ext uri="{FF2B5EF4-FFF2-40B4-BE49-F238E27FC236}">
                <a16:creationId xmlns:a16="http://schemas.microsoft.com/office/drawing/2014/main" id="{1CF2C684-0655-4F0A-6FEB-B5F9B90D6533}"/>
              </a:ext>
            </a:extLst>
          </p:cNvPr>
          <p:cNvCxnSpPr>
            <a:cxnSpLocks/>
          </p:cNvCxnSpPr>
          <p:nvPr/>
        </p:nvCxnSpPr>
        <p:spPr>
          <a:xfrm>
            <a:off x="9003220" y="5681817"/>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a:extLst>
              <a:ext uri="{FF2B5EF4-FFF2-40B4-BE49-F238E27FC236}">
                <a16:creationId xmlns:a16="http://schemas.microsoft.com/office/drawing/2014/main" id="{9640C947-1FE5-58F8-B581-1736782788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0968" y="5009296"/>
            <a:ext cx="1344554" cy="1344554"/>
          </a:xfrm>
          <a:prstGeom prst="rect">
            <a:avLst/>
          </a:prstGeom>
        </p:spPr>
      </p:pic>
      <p:sp>
        <p:nvSpPr>
          <p:cNvPr id="44" name="文本框 43">
            <a:extLst>
              <a:ext uri="{FF2B5EF4-FFF2-40B4-BE49-F238E27FC236}">
                <a16:creationId xmlns:a16="http://schemas.microsoft.com/office/drawing/2014/main" id="{98E5FB45-415C-F39B-8365-C7031FED4071}"/>
              </a:ext>
            </a:extLst>
          </p:cNvPr>
          <p:cNvSpPr txBox="1"/>
          <p:nvPr/>
        </p:nvSpPr>
        <p:spPr>
          <a:xfrm>
            <a:off x="7651884" y="1682018"/>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AMSR2(LR)</a:t>
            </a:r>
            <a:endParaRPr lang="zh-CN" altLang="en-US" dirty="0"/>
          </a:p>
        </p:txBody>
      </p:sp>
      <p:sp>
        <p:nvSpPr>
          <p:cNvPr id="45" name="文本框 44">
            <a:extLst>
              <a:ext uri="{FF2B5EF4-FFF2-40B4-BE49-F238E27FC236}">
                <a16:creationId xmlns:a16="http://schemas.microsoft.com/office/drawing/2014/main" id="{110C18D0-A6E6-E5BC-9740-65F8406FA57C}"/>
              </a:ext>
            </a:extLst>
          </p:cNvPr>
          <p:cNvSpPr txBox="1"/>
          <p:nvPr/>
        </p:nvSpPr>
        <p:spPr>
          <a:xfrm>
            <a:off x="9483920" y="1682018"/>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VIIRS(HR)</a:t>
            </a:r>
            <a:endParaRPr lang="zh-CN" altLang="en-US" dirty="0"/>
          </a:p>
        </p:txBody>
      </p:sp>
      <p:sp>
        <p:nvSpPr>
          <p:cNvPr id="46" name="文本框 45">
            <a:extLst>
              <a:ext uri="{FF2B5EF4-FFF2-40B4-BE49-F238E27FC236}">
                <a16:creationId xmlns:a16="http://schemas.microsoft.com/office/drawing/2014/main" id="{5548E2F2-BF58-B4CD-B689-941BFBCD2F65}"/>
              </a:ext>
            </a:extLst>
          </p:cNvPr>
          <p:cNvSpPr txBox="1"/>
          <p:nvPr/>
        </p:nvSpPr>
        <p:spPr>
          <a:xfrm>
            <a:off x="7453166" y="4610174"/>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LR</a:t>
            </a:r>
            <a:endParaRPr lang="zh-CN" altLang="en-US" dirty="0"/>
          </a:p>
        </p:txBody>
      </p:sp>
      <p:sp>
        <p:nvSpPr>
          <p:cNvPr id="47" name="文本框 46">
            <a:extLst>
              <a:ext uri="{FF2B5EF4-FFF2-40B4-BE49-F238E27FC236}">
                <a16:creationId xmlns:a16="http://schemas.microsoft.com/office/drawing/2014/main" id="{C166B06A-DB9A-2D0B-3A9D-767BF37DB62C}"/>
              </a:ext>
            </a:extLst>
          </p:cNvPr>
          <p:cNvSpPr txBox="1"/>
          <p:nvPr/>
        </p:nvSpPr>
        <p:spPr>
          <a:xfrm>
            <a:off x="9537794" y="4588173"/>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LR</a:t>
            </a:r>
            <a:r>
              <a:rPr lang="zh-CN" altLang="en-US" b="1" dirty="0">
                <a:solidFill>
                  <a:schemeClr val="tx2">
                    <a:lumMod val="75000"/>
                  </a:schemeClr>
                </a:solidFill>
                <a:latin typeface="微软雅黑" panose="020B0503020204020204" pitchFamily="34" charset="-122"/>
                <a:ea typeface="微软雅黑" panose="020B0503020204020204" pitchFamily="34" charset="-122"/>
              </a:rPr>
              <a:t>插值</a:t>
            </a:r>
            <a:endParaRPr lang="zh-CN" altLang="en-US" dirty="0"/>
          </a:p>
        </p:txBody>
      </p:sp>
    </p:spTree>
    <p:extLst>
      <p:ext uri="{BB962C8B-B14F-4D97-AF65-F5344CB8AC3E}">
        <p14:creationId xmlns:p14="http://schemas.microsoft.com/office/powerpoint/2010/main" val="3774329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9912-B8D0-0C71-0651-8E2F17E715C0}"/>
            </a:ext>
          </a:extLst>
        </p:cNvPr>
        <p:cNvGrpSpPr/>
        <p:nvPr/>
      </p:nvGrpSpPr>
      <p:grpSpPr>
        <a:xfrm>
          <a:off x="0" y="0"/>
          <a:ext cx="0" cy="0"/>
          <a:chOff x="0" y="0"/>
          <a:chExt cx="0" cy="0"/>
        </a:xfrm>
      </p:grpSpPr>
      <p:sp>
        <p:nvSpPr>
          <p:cNvPr id="33" name="矩形: 圆角 32">
            <a:extLst>
              <a:ext uri="{FF2B5EF4-FFF2-40B4-BE49-F238E27FC236}">
                <a16:creationId xmlns:a16="http://schemas.microsoft.com/office/drawing/2014/main" id="{C75DB788-32CE-8DD1-1E01-22390611C017}"/>
              </a:ext>
            </a:extLst>
          </p:cNvPr>
          <p:cNvSpPr/>
          <p:nvPr/>
        </p:nvSpPr>
        <p:spPr>
          <a:xfrm>
            <a:off x="926231" y="4427214"/>
            <a:ext cx="10429283" cy="1812540"/>
          </a:xfrm>
          <a:prstGeom prst="roundRect">
            <a:avLst/>
          </a:prstGeom>
          <a:noFill/>
          <a:ln w="28575">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0AD22B2-958D-FA40-7B91-16050938F94C}"/>
              </a:ext>
            </a:extLst>
          </p:cNvPr>
          <p:cNvSpPr>
            <a:spLocks noGrp="1"/>
          </p:cNvSpPr>
          <p:nvPr>
            <p:ph type="title"/>
          </p:nvPr>
        </p:nvSpPr>
        <p:spPr/>
        <p:txBody>
          <a:bodyPr/>
          <a:lstStyle/>
          <a:p>
            <a:r>
              <a:rPr lang="zh-CN" altLang="en-US" dirty="0"/>
              <a:t>研究方法 </a:t>
            </a:r>
            <a:r>
              <a:rPr lang="en-US" altLang="zh-CN" dirty="0"/>
              <a:t>-- </a:t>
            </a:r>
            <a:r>
              <a:rPr lang="zh-CN" altLang="en-US" dirty="0"/>
              <a:t>框架</a:t>
            </a:r>
          </a:p>
        </p:txBody>
      </p:sp>
      <p:sp>
        <p:nvSpPr>
          <p:cNvPr id="12" name="箭头: 右 11">
            <a:extLst>
              <a:ext uri="{FF2B5EF4-FFF2-40B4-BE49-F238E27FC236}">
                <a16:creationId xmlns:a16="http://schemas.microsoft.com/office/drawing/2014/main" id="{AFC718D1-BC00-FAE6-F47B-B857B9B9392E}"/>
              </a:ext>
            </a:extLst>
          </p:cNvPr>
          <p:cNvSpPr/>
          <p:nvPr/>
        </p:nvSpPr>
        <p:spPr>
          <a:xfrm rot="5400000">
            <a:off x="5713746" y="3753205"/>
            <a:ext cx="562828" cy="445299"/>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a:extLst>
              <a:ext uri="{FF2B5EF4-FFF2-40B4-BE49-F238E27FC236}">
                <a16:creationId xmlns:a16="http://schemas.microsoft.com/office/drawing/2014/main" id="{2432F10D-EBFE-E63D-4D47-9687C60232AC}"/>
              </a:ext>
            </a:extLst>
          </p:cNvPr>
          <p:cNvSpPr/>
          <p:nvPr/>
        </p:nvSpPr>
        <p:spPr>
          <a:xfrm>
            <a:off x="926231" y="2122135"/>
            <a:ext cx="10429283" cy="1423167"/>
          </a:xfrm>
          <a:prstGeom prst="roundRect">
            <a:avLst/>
          </a:prstGeom>
          <a:noFill/>
          <a:ln w="28575">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C1547CA5-E9CE-DF0E-CDC2-FEE72DB23E6B}"/>
              </a:ext>
            </a:extLst>
          </p:cNvPr>
          <p:cNvSpPr txBox="1"/>
          <p:nvPr/>
        </p:nvSpPr>
        <p:spPr>
          <a:xfrm>
            <a:off x="378128" y="1722811"/>
            <a:ext cx="1415772" cy="461665"/>
          </a:xfrm>
          <a:prstGeom prst="rect">
            <a:avLst/>
          </a:prstGeom>
          <a:solidFill>
            <a:schemeClr val="bg1">
              <a:lumMod val="95000"/>
            </a:schemeClr>
          </a:solidFill>
        </p:spPr>
        <p:txBody>
          <a:bodyPr wrap="none" rtlCol="0">
            <a:spAutoFit/>
          </a:bodyPr>
          <a:lstStyle/>
          <a:p>
            <a:pPr algn="ct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超分处理</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FABFF126-FBE6-F94B-2875-36357757BCC7}"/>
              </a:ext>
            </a:extLst>
          </p:cNvPr>
          <p:cNvSpPr txBox="1"/>
          <p:nvPr/>
        </p:nvSpPr>
        <p:spPr>
          <a:xfrm>
            <a:off x="378128" y="4195059"/>
            <a:ext cx="1415772" cy="461665"/>
          </a:xfrm>
          <a:prstGeom prst="rect">
            <a:avLst/>
          </a:prstGeom>
          <a:solidFill>
            <a:schemeClr val="bg1">
              <a:lumMod val="95000"/>
            </a:schemeClr>
          </a:solidFill>
        </p:spPr>
        <p:txBody>
          <a:bodyPr wrap="none" rtlCol="0">
            <a:spAutoFit/>
          </a:bodyPr>
          <a:lstStyle/>
          <a:p>
            <a:pPr algn="ct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指标评估</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30E8346E-DE08-FBF9-189D-5D2F3EFE7ED8}"/>
              </a:ext>
            </a:extLst>
          </p:cNvPr>
          <p:cNvSpPr txBox="1"/>
          <p:nvPr/>
        </p:nvSpPr>
        <p:spPr>
          <a:xfrm>
            <a:off x="1133302" y="4559540"/>
            <a:ext cx="6748128" cy="1422954"/>
          </a:xfrm>
          <a:prstGeom prst="rect">
            <a:avLst/>
          </a:prstGeom>
          <a:noFill/>
        </p:spPr>
        <p:txBody>
          <a:bodyPr wrap="square" rtlCol="0">
            <a:spAutoFit/>
          </a:bodyPr>
          <a:lstStyle/>
          <a:p>
            <a:pPr algn="ctr">
              <a:lnSpc>
                <a:spcPct val="150000"/>
              </a:lnSpc>
            </a:pPr>
            <a:r>
              <a:rPr lang="zh-CN" altLang="en-US" sz="2000" b="1" dirty="0">
                <a:solidFill>
                  <a:schemeClr val="accent5">
                    <a:lumMod val="75000"/>
                  </a:schemeClr>
                </a:solidFill>
                <a:latin typeface="微软雅黑" panose="020B0503020204020204" pitchFamily="34" charset="-122"/>
                <a:ea typeface="微软雅黑" panose="020B0503020204020204" pitchFamily="34" charset="-122"/>
              </a:rPr>
              <a:t>数据反归一化</a:t>
            </a:r>
            <a:endParaRPr lang="en-US" altLang="zh-CN" sz="2000" b="1" dirty="0">
              <a:solidFill>
                <a:schemeClr val="accent5">
                  <a:lumMod val="7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计算超分处理后的图像</a:t>
            </a: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SR</a:t>
            </a: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与</a:t>
            </a: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HR(ground truth)</a:t>
            </a:r>
          </a:p>
          <a:p>
            <a:pPr algn="ctr">
              <a:lnSpc>
                <a:spcPct val="150000"/>
              </a:lnSpc>
            </a:pP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在</a:t>
            </a: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SST</a:t>
            </a: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上的</a:t>
            </a: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RMSE</a:t>
            </a:r>
          </a:p>
        </p:txBody>
      </p:sp>
      <p:sp>
        <p:nvSpPr>
          <p:cNvPr id="3" name="箭头: 右 2">
            <a:extLst>
              <a:ext uri="{FF2B5EF4-FFF2-40B4-BE49-F238E27FC236}">
                <a16:creationId xmlns:a16="http://schemas.microsoft.com/office/drawing/2014/main" id="{D43CFEFD-B523-C286-2B9D-CD9AE61B1E0C}"/>
              </a:ext>
            </a:extLst>
          </p:cNvPr>
          <p:cNvSpPr/>
          <p:nvPr/>
        </p:nvSpPr>
        <p:spPr>
          <a:xfrm rot="5400000">
            <a:off x="5742500" y="1402131"/>
            <a:ext cx="562828" cy="445299"/>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1D5EAB09-A3DB-56CE-3C21-C038AFE9FCBA}"/>
              </a:ext>
            </a:extLst>
          </p:cNvPr>
          <p:cNvGrpSpPr/>
          <p:nvPr/>
        </p:nvGrpSpPr>
        <p:grpSpPr>
          <a:xfrm>
            <a:off x="2342003" y="2188641"/>
            <a:ext cx="3155899" cy="1240359"/>
            <a:chOff x="2223341" y="2188641"/>
            <a:chExt cx="3155899" cy="1240359"/>
          </a:xfrm>
        </p:grpSpPr>
        <p:sp>
          <p:nvSpPr>
            <p:cNvPr id="20" name="矩形: 圆角 19">
              <a:extLst>
                <a:ext uri="{FF2B5EF4-FFF2-40B4-BE49-F238E27FC236}">
                  <a16:creationId xmlns:a16="http://schemas.microsoft.com/office/drawing/2014/main" id="{12B3C13D-73A3-EB26-2DD6-2E65349CAE29}"/>
                </a:ext>
              </a:extLst>
            </p:cNvPr>
            <p:cNvSpPr/>
            <p:nvPr/>
          </p:nvSpPr>
          <p:spPr>
            <a:xfrm>
              <a:off x="2223341" y="2229780"/>
              <a:ext cx="3155899" cy="1199220"/>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8453D68-E861-85E7-CEF7-7E21F67D8ECF}"/>
                </a:ext>
              </a:extLst>
            </p:cNvPr>
            <p:cNvSpPr txBox="1"/>
            <p:nvPr/>
          </p:nvSpPr>
          <p:spPr>
            <a:xfrm>
              <a:off x="2431421" y="2188641"/>
              <a:ext cx="2809796" cy="1135054"/>
            </a:xfrm>
            <a:prstGeom prst="rect">
              <a:avLst/>
            </a:prstGeom>
            <a:noFill/>
          </p:spPr>
          <p:txBody>
            <a:bodyPr wrap="square" rtlCol="0">
              <a:spAutoFit/>
            </a:bodyPr>
            <a:lstStyle/>
            <a:p>
              <a:pPr algn="ctr">
                <a:lnSpc>
                  <a:spcPct val="150000"/>
                </a:lnSpc>
              </a:pP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初始</a:t>
              </a:r>
              <a:r>
                <a:rPr lang="en-US" altLang="zh-CN" sz="2400" b="1" dirty="0">
                  <a:solidFill>
                    <a:schemeClr val="accent5">
                      <a:lumMod val="75000"/>
                    </a:schemeClr>
                  </a:solidFill>
                  <a:latin typeface="微软雅黑" panose="020B0503020204020204" pitchFamily="34" charset="-122"/>
                  <a:ea typeface="微软雅黑" panose="020B0503020204020204" pitchFamily="34" charset="-122"/>
                </a:rPr>
                <a:t>SR3</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扩散模型</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训练     推断</a:t>
              </a:r>
              <a:endParaRPr lang="en-US" altLang="zh-CN" sz="2400" b="1" dirty="0">
                <a:solidFill>
                  <a:schemeClr val="tx2">
                    <a:lumMod val="75000"/>
                  </a:schemeClr>
                </a:solidFill>
                <a:latin typeface="微软雅黑" panose="020B0503020204020204" pitchFamily="34" charset="-122"/>
                <a:ea typeface="微软雅黑" panose="020B0503020204020204" pitchFamily="34" charset="-122"/>
              </a:endParaRPr>
            </a:p>
          </p:txBody>
        </p:sp>
      </p:grpSp>
      <p:pic>
        <p:nvPicPr>
          <p:cNvPr id="6" name="图片 5">
            <a:extLst>
              <a:ext uri="{FF2B5EF4-FFF2-40B4-BE49-F238E27FC236}">
                <a16:creationId xmlns:a16="http://schemas.microsoft.com/office/drawing/2014/main" id="{E317875A-AC50-1A08-1D23-E8315C283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1396" y="4829469"/>
            <a:ext cx="1240356" cy="1240356"/>
          </a:xfrm>
          <a:prstGeom prst="rect">
            <a:avLst/>
          </a:prstGeom>
        </p:spPr>
      </p:pic>
      <p:pic>
        <p:nvPicPr>
          <p:cNvPr id="7" name="图片 6">
            <a:extLst>
              <a:ext uri="{FF2B5EF4-FFF2-40B4-BE49-F238E27FC236}">
                <a16:creationId xmlns:a16="http://schemas.microsoft.com/office/drawing/2014/main" id="{1B25FC0C-6400-2169-3430-A3DC26E3F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3070" y="4829469"/>
            <a:ext cx="1240356" cy="1240356"/>
          </a:xfrm>
          <a:prstGeom prst="rect">
            <a:avLst/>
          </a:prstGeom>
        </p:spPr>
      </p:pic>
      <p:sp>
        <p:nvSpPr>
          <p:cNvPr id="8" name="文本框 7">
            <a:extLst>
              <a:ext uri="{FF2B5EF4-FFF2-40B4-BE49-F238E27FC236}">
                <a16:creationId xmlns:a16="http://schemas.microsoft.com/office/drawing/2014/main" id="{D5F61D83-CBA7-2A6D-76D2-EB55DA7AF89E}"/>
              </a:ext>
            </a:extLst>
          </p:cNvPr>
          <p:cNvSpPr txBox="1"/>
          <p:nvPr/>
        </p:nvSpPr>
        <p:spPr>
          <a:xfrm>
            <a:off x="7816510" y="4471907"/>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SR</a:t>
            </a:r>
            <a:endParaRPr lang="zh-CN" altLang="en-US" dirty="0"/>
          </a:p>
        </p:txBody>
      </p:sp>
      <p:sp>
        <p:nvSpPr>
          <p:cNvPr id="9" name="文本框 8">
            <a:extLst>
              <a:ext uri="{FF2B5EF4-FFF2-40B4-BE49-F238E27FC236}">
                <a16:creationId xmlns:a16="http://schemas.microsoft.com/office/drawing/2014/main" id="{EC5F203B-E898-CFBB-1B86-0DBDCEE73706}"/>
              </a:ext>
            </a:extLst>
          </p:cNvPr>
          <p:cNvSpPr txBox="1"/>
          <p:nvPr/>
        </p:nvSpPr>
        <p:spPr>
          <a:xfrm>
            <a:off x="9447797" y="4477792"/>
            <a:ext cx="1610901" cy="369332"/>
          </a:xfrm>
          <a:prstGeom prst="rect">
            <a:avLst/>
          </a:prstGeom>
          <a:noFill/>
        </p:spPr>
        <p:txBody>
          <a:bodyPr wrap="square">
            <a:spAutoFit/>
          </a:bodyPr>
          <a:lstStyle/>
          <a:p>
            <a:pPr algn="ctr"/>
            <a:r>
              <a:rPr lang="en-US" altLang="zh-CN" b="1" dirty="0">
                <a:solidFill>
                  <a:schemeClr val="tx2">
                    <a:lumMod val="75000"/>
                  </a:schemeClr>
                </a:solidFill>
                <a:latin typeface="微软雅黑" panose="020B0503020204020204" pitchFamily="34" charset="-122"/>
                <a:ea typeface="微软雅黑" panose="020B0503020204020204" pitchFamily="34" charset="-122"/>
              </a:rPr>
              <a:t>HR</a:t>
            </a:r>
            <a:endParaRPr lang="zh-CN" altLang="en-US" dirty="0"/>
          </a:p>
        </p:txBody>
      </p:sp>
      <p:grpSp>
        <p:nvGrpSpPr>
          <p:cNvPr id="16" name="组合 15">
            <a:extLst>
              <a:ext uri="{FF2B5EF4-FFF2-40B4-BE49-F238E27FC236}">
                <a16:creationId xmlns:a16="http://schemas.microsoft.com/office/drawing/2014/main" id="{ECD18CF1-9C9F-1EB2-FE90-E262C96454FE}"/>
              </a:ext>
            </a:extLst>
          </p:cNvPr>
          <p:cNvGrpSpPr/>
          <p:nvPr/>
        </p:nvGrpSpPr>
        <p:grpSpPr>
          <a:xfrm>
            <a:off x="5801264" y="2229780"/>
            <a:ext cx="3774291" cy="1199220"/>
            <a:chOff x="4512818" y="2229780"/>
            <a:chExt cx="3774291" cy="1199220"/>
          </a:xfrm>
        </p:grpSpPr>
        <p:sp>
          <p:nvSpPr>
            <p:cNvPr id="14" name="矩形: 圆角 13">
              <a:extLst>
                <a:ext uri="{FF2B5EF4-FFF2-40B4-BE49-F238E27FC236}">
                  <a16:creationId xmlns:a16="http://schemas.microsoft.com/office/drawing/2014/main" id="{5462181F-FFE8-5961-CA73-40F28BFE2263}"/>
                </a:ext>
              </a:extLst>
            </p:cNvPr>
            <p:cNvSpPr/>
            <p:nvPr/>
          </p:nvSpPr>
          <p:spPr>
            <a:xfrm>
              <a:off x="5204604" y="2229780"/>
              <a:ext cx="3082505" cy="1199220"/>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C74307-D328-1744-7310-2C8C46F90513}"/>
                </a:ext>
              </a:extLst>
            </p:cNvPr>
            <p:cNvSpPr txBox="1"/>
            <p:nvPr/>
          </p:nvSpPr>
          <p:spPr>
            <a:xfrm>
              <a:off x="4512818" y="2602885"/>
              <a:ext cx="2964684" cy="461665"/>
            </a:xfrm>
            <a:prstGeom prst="rect">
              <a:avLst/>
            </a:prstGeom>
            <a:noFill/>
          </p:spPr>
          <p:txBody>
            <a:bodyPr wrap="square" rtlCol="0">
              <a:spAutoFit/>
            </a:bodyPr>
            <a:lstStyle/>
            <a:p>
              <a:pPr algn="ct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模型优化</a:t>
              </a:r>
              <a:endParaRPr lang="en-US" altLang="zh-CN" sz="24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ABDEA3E-16A6-6DA4-DD74-17BA77919DA5}"/>
                </a:ext>
              </a:extLst>
            </p:cNvPr>
            <p:cNvSpPr txBox="1"/>
            <p:nvPr/>
          </p:nvSpPr>
          <p:spPr>
            <a:xfrm>
              <a:off x="6840988" y="2346686"/>
              <a:ext cx="1273027" cy="1015663"/>
            </a:xfrm>
            <a:prstGeom prst="rect">
              <a:avLst/>
            </a:prstGeom>
            <a:noFill/>
          </p:spPr>
          <p:txBody>
            <a:bodyPr wrap="square">
              <a:spAutoFit/>
            </a:bodyPr>
            <a:lstStyle/>
            <a:p>
              <a:pPr algn="ct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DDIM</a:t>
              </a:r>
            </a:p>
            <a:p>
              <a:pPr algn="ctr"/>
              <a:r>
                <a:rPr lang="en-US" altLang="zh-CN" sz="2000" b="1" dirty="0">
                  <a:solidFill>
                    <a:schemeClr val="tx2">
                      <a:lumMod val="75000"/>
                    </a:schemeClr>
                  </a:solidFill>
                  <a:latin typeface="微软雅黑" panose="020B0503020204020204" pitchFamily="34" charset="-122"/>
                  <a:ea typeface="微软雅黑" panose="020B0503020204020204" pitchFamily="34" charset="-122"/>
                </a:rPr>
                <a:t>MAE</a:t>
              </a:r>
            </a:p>
            <a:p>
              <a:pPr algn="ctr"/>
              <a:r>
                <a:rPr lang="zh-CN" altLang="en-US" sz="2000" b="1" dirty="0">
                  <a:solidFill>
                    <a:schemeClr val="tx2">
                      <a:lumMod val="75000"/>
                    </a:schemeClr>
                  </a:solidFill>
                  <a:latin typeface="微软雅黑" panose="020B0503020204020204" pitchFamily="34" charset="-122"/>
                  <a:ea typeface="微软雅黑" panose="020B0503020204020204" pitchFamily="34" charset="-122"/>
                </a:rPr>
                <a:t>模型微调</a:t>
              </a:r>
            </a:p>
          </p:txBody>
        </p:sp>
      </p:grpSp>
    </p:spTree>
    <p:extLst>
      <p:ext uri="{BB962C8B-B14F-4D97-AF65-F5344CB8AC3E}">
        <p14:creationId xmlns:p14="http://schemas.microsoft.com/office/powerpoint/2010/main" val="284035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96A7-27E4-D78E-DD7D-B31ADC87214A}"/>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E18C7CB8-D773-1444-0866-98DF450BB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3BF012E9-FA4D-B723-FAD2-2C5EA4CCBD25}"/>
              </a:ext>
            </a:extLst>
          </p:cNvPr>
          <p:cNvSpPr>
            <a:spLocks noGrp="1"/>
          </p:cNvSpPr>
          <p:nvPr>
            <p:ph type="title"/>
          </p:nvPr>
        </p:nvSpPr>
        <p:spPr/>
        <p:txBody>
          <a:bodyPr/>
          <a:lstStyle/>
          <a:p>
            <a:r>
              <a:rPr lang="zh-CN" altLang="en-US" dirty="0"/>
              <a:t>研究方法 </a:t>
            </a:r>
            <a:r>
              <a:rPr lang="en-US" altLang="zh-CN" dirty="0"/>
              <a:t>-- SR3</a:t>
            </a:r>
            <a:r>
              <a:rPr lang="zh-CN" altLang="en-US" dirty="0"/>
              <a:t>初始模型</a:t>
            </a:r>
          </a:p>
        </p:txBody>
      </p:sp>
      <p:sp>
        <p:nvSpPr>
          <p:cNvPr id="9" name="矩形: 圆角 8">
            <a:extLst>
              <a:ext uri="{FF2B5EF4-FFF2-40B4-BE49-F238E27FC236}">
                <a16:creationId xmlns:a16="http://schemas.microsoft.com/office/drawing/2014/main" id="{8CAFCC40-459B-1159-E484-DDF6ED270019}"/>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9F0D6F12-912A-3CEE-8D0C-891AF7CEE78C}"/>
              </a:ext>
            </a:extLst>
          </p:cNvPr>
          <p:cNvSpPr/>
          <p:nvPr/>
        </p:nvSpPr>
        <p:spPr>
          <a:xfrm>
            <a:off x="395198" y="3842263"/>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656E68C8-07A3-E47C-53ED-F61EAD419837}"/>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93C15594-301E-C42B-A3EC-88B0970D5C64}"/>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41106871-849A-5922-4A93-054F9B21CCAC}"/>
              </a:ext>
            </a:extLst>
          </p:cNvPr>
          <p:cNvSpPr/>
          <p:nvPr/>
        </p:nvSpPr>
        <p:spPr>
          <a:xfrm rot="10800000">
            <a:off x="2222098" y="6277451"/>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0876A5A8-3A60-116E-6221-ADA2CE1179F2}"/>
              </a:ext>
            </a:extLst>
          </p:cNvPr>
          <p:cNvSpPr txBox="1"/>
          <p:nvPr/>
        </p:nvSpPr>
        <p:spPr>
          <a:xfrm>
            <a:off x="6004196" y="6186130"/>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E072D0F7-BEFF-FA89-4BF6-890A8ACA564A}"/>
              </a:ext>
            </a:extLst>
          </p:cNvPr>
          <p:cNvGrpSpPr/>
          <p:nvPr/>
        </p:nvGrpSpPr>
        <p:grpSpPr>
          <a:xfrm>
            <a:off x="685560" y="4263686"/>
            <a:ext cx="10870164" cy="2164017"/>
            <a:chOff x="1112747" y="4071678"/>
            <a:chExt cx="10870164" cy="2164017"/>
          </a:xfrm>
        </p:grpSpPr>
        <p:grpSp>
          <p:nvGrpSpPr>
            <p:cNvPr id="57" name="组合 56">
              <a:extLst>
                <a:ext uri="{FF2B5EF4-FFF2-40B4-BE49-F238E27FC236}">
                  <a16:creationId xmlns:a16="http://schemas.microsoft.com/office/drawing/2014/main" id="{5EA0BAE9-A6D8-1B0C-B87C-BE8455E9C136}"/>
                </a:ext>
              </a:extLst>
            </p:cNvPr>
            <p:cNvGrpSpPr/>
            <p:nvPr/>
          </p:nvGrpSpPr>
          <p:grpSpPr>
            <a:xfrm>
              <a:off x="9002674" y="4128841"/>
              <a:ext cx="1233290" cy="1485298"/>
              <a:chOff x="8808628" y="3727329"/>
              <a:chExt cx="1233290" cy="1485298"/>
            </a:xfrm>
          </p:grpSpPr>
          <p:pic>
            <p:nvPicPr>
              <p:cNvPr id="43" name="图片 42">
                <a:extLst>
                  <a:ext uri="{FF2B5EF4-FFF2-40B4-BE49-F238E27FC236}">
                    <a16:creationId xmlns:a16="http://schemas.microsoft.com/office/drawing/2014/main" id="{32C98787-E9FA-96A3-9FF5-213D5E824AA9}"/>
                  </a:ext>
                </a:extLst>
              </p:cNvPr>
              <p:cNvPicPr>
                <a:picLocks noChangeAspect="1"/>
              </p:cNvPicPr>
              <p:nvPr/>
            </p:nvPicPr>
            <p:blipFill>
              <a:blip r:embed="rId3"/>
              <a:stretch>
                <a:fillRect/>
              </a:stretch>
            </p:blipFill>
            <p:spPr>
              <a:xfrm>
                <a:off x="8808628" y="3727329"/>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D5476389-3282-3EB4-CACB-8DBA11197C03}"/>
                      </a:ext>
                    </a:extLst>
                  </p:cNvPr>
                  <p:cNvSpPr txBox="1"/>
                  <p:nvPr/>
                </p:nvSpPr>
                <p:spPr>
                  <a:xfrm>
                    <a:off x="9281629" y="4935628"/>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D5476389-3282-3EB4-CACB-8DBA11197C03}"/>
                      </a:ext>
                    </a:extLst>
                  </p:cNvPr>
                  <p:cNvSpPr txBox="1">
                    <a:spLocks noRot="1" noChangeAspect="1" noMove="1" noResize="1" noEditPoints="1" noAdjustHandles="1" noChangeArrowheads="1" noChangeShapeType="1" noTextEdit="1"/>
                  </p:cNvSpPr>
                  <p:nvPr/>
                </p:nvSpPr>
                <p:spPr>
                  <a:xfrm>
                    <a:off x="9281629" y="4935628"/>
                    <a:ext cx="350808" cy="276999"/>
                  </a:xfrm>
                  <a:prstGeom prst="rect">
                    <a:avLst/>
                  </a:prstGeom>
                  <a:blipFill>
                    <a:blip r:embed="rId4"/>
                    <a:stretch>
                      <a:fillRect b="-15556"/>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05CA9504-F4D6-1DFB-EB7B-23B3B1794B20}"/>
                </a:ext>
              </a:extLst>
            </p:cNvPr>
            <p:cNvGrpSpPr/>
            <p:nvPr/>
          </p:nvGrpSpPr>
          <p:grpSpPr>
            <a:xfrm>
              <a:off x="10763711" y="4739496"/>
              <a:ext cx="1219200" cy="1496199"/>
              <a:chOff x="10317221" y="5039755"/>
              <a:chExt cx="1219200" cy="1496199"/>
            </a:xfrm>
          </p:grpSpPr>
          <p:pic>
            <p:nvPicPr>
              <p:cNvPr id="51" name="图片 50">
                <a:extLst>
                  <a:ext uri="{FF2B5EF4-FFF2-40B4-BE49-F238E27FC236}">
                    <a16:creationId xmlns:a16="http://schemas.microsoft.com/office/drawing/2014/main" id="{82C94E18-5C74-9410-EFF3-60158A6C27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7221" y="5039755"/>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2E6899E-922E-369F-2FFC-8463DB2D1B1B}"/>
                      </a:ext>
                    </a:extLst>
                  </p:cNvPr>
                  <p:cNvSpPr txBox="1"/>
                  <p:nvPr/>
                </p:nvSpPr>
                <p:spPr>
                  <a:xfrm>
                    <a:off x="10317221" y="6258955"/>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53" name="文本框 52">
                    <a:extLst>
                      <a:ext uri="{FF2B5EF4-FFF2-40B4-BE49-F238E27FC236}">
                        <a16:creationId xmlns:a16="http://schemas.microsoft.com/office/drawing/2014/main" id="{02E6899E-922E-369F-2FFC-8463DB2D1B1B}"/>
                      </a:ext>
                    </a:extLst>
                  </p:cNvPr>
                  <p:cNvSpPr txBox="1">
                    <a:spLocks noRot="1" noChangeAspect="1" noMove="1" noResize="1" noEditPoints="1" noAdjustHandles="1" noChangeArrowheads="1" noChangeShapeType="1" noTextEdit="1"/>
                  </p:cNvSpPr>
                  <p:nvPr/>
                </p:nvSpPr>
                <p:spPr>
                  <a:xfrm>
                    <a:off x="10317221" y="6258955"/>
                    <a:ext cx="1219200" cy="276999"/>
                  </a:xfrm>
                  <a:prstGeom prst="rect">
                    <a:avLst/>
                  </a:prstGeom>
                  <a:blipFill>
                    <a:blip r:embed="rId6"/>
                    <a:stretch>
                      <a:fillRect b="-8889"/>
                    </a:stretch>
                  </a:blipFill>
                </p:spPr>
                <p:txBody>
                  <a:bodyPr/>
                  <a:lstStyle/>
                  <a:p>
                    <a:r>
                      <a:rPr lang="zh-CN" altLang="en-US">
                        <a:noFill/>
                      </a:rPr>
                      <a:t> </a:t>
                    </a:r>
                  </a:p>
                </p:txBody>
              </p:sp>
            </mc:Fallback>
          </mc:AlternateContent>
        </p:grpSp>
        <p:cxnSp>
          <p:nvCxnSpPr>
            <p:cNvPr id="59" name="直接箭头连接符 58">
              <a:extLst>
                <a:ext uri="{FF2B5EF4-FFF2-40B4-BE49-F238E27FC236}">
                  <a16:creationId xmlns:a16="http://schemas.microsoft.com/office/drawing/2014/main" id="{FA39ECA6-C68A-97A3-2A80-3235BDA45B66}"/>
                </a:ext>
              </a:extLst>
            </p:cNvPr>
            <p:cNvCxnSpPr>
              <a:cxnSpLocks/>
            </p:cNvCxnSpPr>
            <p:nvPr/>
          </p:nvCxnSpPr>
          <p:spPr>
            <a:xfrm flipH="1">
              <a:off x="8412844" y="4739496"/>
              <a:ext cx="46086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142BC637-52B7-30F8-4E64-2F1E08C3E89C}"/>
                </a:ext>
              </a:extLst>
            </p:cNvPr>
            <p:cNvCxnSpPr>
              <a:cxnSpLocks/>
            </p:cNvCxnSpPr>
            <p:nvPr/>
          </p:nvCxnSpPr>
          <p:spPr>
            <a:xfrm rot="10800000">
              <a:off x="8696876" y="4739496"/>
              <a:ext cx="1936619" cy="943836"/>
            </a:xfrm>
            <a:prstGeom prst="bentConnector3">
              <a:avLst>
                <a:gd name="adj1" fmla="val 99889"/>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CDB18652-79DD-AB1A-70E8-EBE8130A0B14}"/>
                </a:ext>
              </a:extLst>
            </p:cNvPr>
            <p:cNvPicPr>
              <a:picLocks noChangeAspect="1"/>
            </p:cNvPicPr>
            <p:nvPr/>
          </p:nvPicPr>
          <p:blipFill>
            <a:blip r:embed="rId7"/>
            <a:stretch>
              <a:fillRect/>
            </a:stretch>
          </p:blipFill>
          <p:spPr>
            <a:xfrm>
              <a:off x="3507766"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353BC544-F2DF-72F8-DA1E-8F4CC788B484}"/>
                    </a:ext>
                  </a:extLst>
                </p:cNvPr>
                <p:cNvSpPr txBox="1"/>
                <p:nvPr/>
              </p:nvSpPr>
              <p:spPr>
                <a:xfrm>
                  <a:off x="3948775" y="531647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353BC544-F2DF-72F8-DA1E-8F4CC788B484}"/>
                    </a:ext>
                  </a:extLst>
                </p:cNvPr>
                <p:cNvSpPr txBox="1">
                  <a:spLocks noRot="1" noChangeAspect="1" noMove="1" noResize="1" noEditPoints="1" noAdjustHandles="1" noChangeArrowheads="1" noChangeShapeType="1" noTextEdit="1"/>
                </p:cNvSpPr>
                <p:nvPr/>
              </p:nvSpPr>
              <p:spPr>
                <a:xfrm>
                  <a:off x="3948775" y="5316473"/>
                  <a:ext cx="350808" cy="276999"/>
                </a:xfrm>
                <a:prstGeom prst="rect">
                  <a:avLst/>
                </a:prstGeom>
                <a:blipFill>
                  <a:blip r:embed="rId8"/>
                  <a:stretch>
                    <a:fillRect l="-17544" r="-35088" b="-15556"/>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A4AAA390-AA28-20C8-7532-A63732717B6B}"/>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FB44EE98-E655-E764-D902-94E6A608F1C9}"/>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2D1ECAE2-1615-C2E6-1C72-04521CB3A67E}"/>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7BC909D4-93C1-D4AF-C771-5E580EE6A7A0}"/>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834C442B-669F-CCF1-DEC9-31D0AA6576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68B63A74-984D-3679-9DF9-060C3D3AE31A}"/>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68B63A74-984D-3679-9DF9-060C3D3AE31A}"/>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0"/>
                  <a:stretch>
                    <a:fillRect b="-15556"/>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3CDB075D-9DF2-879D-766D-12FC5A6568E0}"/>
              </a:ext>
            </a:extLst>
          </p:cNvPr>
          <p:cNvGrpSpPr/>
          <p:nvPr/>
        </p:nvGrpSpPr>
        <p:grpSpPr>
          <a:xfrm>
            <a:off x="696658" y="2000941"/>
            <a:ext cx="7908202" cy="1522093"/>
            <a:chOff x="620321" y="1838534"/>
            <a:chExt cx="7908202" cy="1522093"/>
          </a:xfrm>
        </p:grpSpPr>
        <p:grpSp>
          <p:nvGrpSpPr>
            <p:cNvPr id="52" name="组合 51">
              <a:extLst>
                <a:ext uri="{FF2B5EF4-FFF2-40B4-BE49-F238E27FC236}">
                  <a16:creationId xmlns:a16="http://schemas.microsoft.com/office/drawing/2014/main" id="{96ED2F99-0113-075E-C435-5AE80399443C}"/>
                </a:ext>
              </a:extLst>
            </p:cNvPr>
            <p:cNvGrpSpPr/>
            <p:nvPr/>
          </p:nvGrpSpPr>
          <p:grpSpPr>
            <a:xfrm>
              <a:off x="620321" y="1838534"/>
              <a:ext cx="7908202" cy="1522093"/>
              <a:chOff x="1134934" y="1680170"/>
              <a:chExt cx="7908202" cy="1522093"/>
            </a:xfrm>
          </p:grpSpPr>
          <p:grpSp>
            <p:nvGrpSpPr>
              <p:cNvPr id="40" name="组合 39">
                <a:extLst>
                  <a:ext uri="{FF2B5EF4-FFF2-40B4-BE49-F238E27FC236}">
                    <a16:creationId xmlns:a16="http://schemas.microsoft.com/office/drawing/2014/main" id="{D0752850-6440-EBCF-8A65-8734CFBC8C35}"/>
                  </a:ext>
                </a:extLst>
              </p:cNvPr>
              <p:cNvGrpSpPr/>
              <p:nvPr/>
            </p:nvGrpSpPr>
            <p:grpSpPr>
              <a:xfrm>
                <a:off x="1134934" y="1680170"/>
                <a:ext cx="7908202" cy="1522093"/>
                <a:chOff x="674323" y="1994990"/>
                <a:chExt cx="7908202" cy="1522093"/>
              </a:xfrm>
            </p:grpSpPr>
            <p:cxnSp>
              <p:nvCxnSpPr>
                <p:cNvPr id="13" name="直接箭头连接符 12">
                  <a:extLst>
                    <a:ext uri="{FF2B5EF4-FFF2-40B4-BE49-F238E27FC236}">
                      <a16:creationId xmlns:a16="http://schemas.microsoft.com/office/drawing/2014/main" id="{67DD8AE7-A0E9-EAA4-7348-0EC3F63ADE56}"/>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D7DEE8D-7FEB-006F-E2EF-ED3DBC1548B6}"/>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4D7DEE8D-7FEB-006F-E2EF-ED3DBC1548B6}"/>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1"/>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B05ABCA-F06B-9A89-76C8-B57042E7EBCC}"/>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AB05ABCA-F06B-9A89-76C8-B57042E7EBCC}"/>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2"/>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F6083011-B819-DDF0-96AA-4210266771B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AF2AC7A6-EC36-B2F3-49A1-28345754C7FB}"/>
                    </a:ext>
                  </a:extLst>
                </p:cNvPr>
                <p:cNvPicPr>
                  <a:picLocks noChangeAspect="1"/>
                </p:cNvPicPr>
                <p:nvPr/>
              </p:nvPicPr>
              <p:blipFill>
                <a:blip r:embed="rId14">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0C8B7D90-8F11-1900-B2FA-DC2518270188}"/>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0C8B7D90-8F11-1900-B2FA-DC2518270188}"/>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6"/>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CC492540-3489-163E-9644-F99E26F9D496}"/>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039F4DFF-26EB-C941-EF24-B0F3E6B4EBE9}"/>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F6541E77-5DA9-20E5-D094-CB6F7960B990}"/>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BED64442-8D18-E41C-CEA2-747247D8D3EE}"/>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6484E9E-8071-02CC-D9CF-E8E789F75566}"/>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BD465095-C296-8356-1258-A6005500FDF6}"/>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502D08AF-E085-DFAA-E986-B1071BA2DA0A}"/>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D6767345-F09A-2F2F-AAB3-C11E8E5F6137}"/>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63E82AD0-81AD-60FE-AB9B-7CE5688FE321}"/>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63E82AD0-81AD-60FE-AB9B-7CE5688FE321}"/>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7"/>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C94F11B2-31FF-D8C6-EB1B-1E0E240F88FC}"/>
                </a:ext>
              </a:extLst>
            </p:cNvPr>
            <p:cNvPicPr>
              <a:picLocks noChangeAspect="1"/>
            </p:cNvPicPr>
            <p:nvPr/>
          </p:nvPicPr>
          <p:blipFill>
            <a:blip r:embed="rId18">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E1375D98-642E-D601-80B9-4760CE9B370A}"/>
              </a:ext>
            </a:extLst>
          </p:cNvPr>
          <p:cNvSpPr/>
          <p:nvPr/>
        </p:nvSpPr>
        <p:spPr>
          <a:xfrm>
            <a:off x="9808777" y="2200702"/>
            <a:ext cx="1788578" cy="799514"/>
          </a:xfrm>
          <a:prstGeom prst="rect">
            <a:avLst/>
          </a:prstGeom>
          <a:solidFill>
            <a:srgbClr val="256090"/>
          </a:solidFill>
        </p:spPr>
        <p:txBody>
          <a:bodyPr wrap="square" anchor="ctr" anchorCtr="0">
            <a:spAutoFit/>
          </a:bodyPr>
          <a:lstStyle/>
          <a:p>
            <a:pPr algn="ctr">
              <a:lnSpc>
                <a:spcPct val="120000"/>
              </a:lnSpc>
              <a:defRPr/>
            </a:pPr>
            <a:r>
              <a:rPr lang="zh-CN" altLang="en-US"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初始的</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SR3</a:t>
            </a:r>
          </a:p>
          <a:p>
            <a:pPr lvl="0" algn="ctr">
              <a:lnSpc>
                <a:spcPct val="120000"/>
              </a:lnSpc>
              <a:defRPr/>
            </a:pPr>
            <a:r>
              <a:rPr lang="zh-CN" altLang="en-US"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扩散模型</a:t>
            </a:r>
            <a:endParaRPr lang="en-US" altLang="zh-CN"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BD35B22-CC5C-FDF6-6917-761451BD714B}"/>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10" name="文本框 9">
                <a:extLst>
                  <a:ext uri="{FF2B5EF4-FFF2-40B4-BE49-F238E27FC236}">
                    <a16:creationId xmlns:a16="http://schemas.microsoft.com/office/drawing/2014/main" id="{8BD35B22-CC5C-FDF6-6917-761451BD714B}"/>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19"/>
                <a:stretch>
                  <a:fillRect l="-1905" r="-1905" b="-6667"/>
                </a:stretch>
              </a:blipFill>
            </p:spPr>
            <p:txBody>
              <a:bodyPr/>
              <a:lstStyle/>
              <a:p>
                <a:r>
                  <a:rPr lang="zh-CN" altLang="en-US">
                    <a:noFill/>
                  </a:rPr>
                  <a:t> </a:t>
                </a:r>
              </a:p>
            </p:txBody>
          </p:sp>
        </mc:Fallback>
      </mc:AlternateContent>
      <p:cxnSp>
        <p:nvCxnSpPr>
          <p:cNvPr id="4" name="直接箭头连接符 3">
            <a:extLst>
              <a:ext uri="{FF2B5EF4-FFF2-40B4-BE49-F238E27FC236}">
                <a16:creationId xmlns:a16="http://schemas.microsoft.com/office/drawing/2014/main" id="{F7F04AA7-6722-EBC2-3A10-2151FA00C761}"/>
              </a:ext>
            </a:extLst>
          </p:cNvPr>
          <p:cNvCxnSpPr>
            <a:cxnSpLocks/>
          </p:cNvCxnSpPr>
          <p:nvPr/>
        </p:nvCxnSpPr>
        <p:spPr>
          <a:xfrm flipH="1">
            <a:off x="4495568" y="4859840"/>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6F6B05B5-6155-B7AE-5EEF-AD8FBAD624C3}"/>
              </a:ext>
            </a:extLst>
          </p:cNvPr>
          <p:cNvPicPr>
            <a:picLocks noChangeAspect="1"/>
          </p:cNvPicPr>
          <p:nvPr/>
        </p:nvPicPr>
        <p:blipFill>
          <a:blip r:embed="rId3"/>
          <a:stretch>
            <a:fillRect/>
          </a:stretch>
        </p:blipFill>
        <p:spPr>
          <a:xfrm>
            <a:off x="7779476" y="2003697"/>
            <a:ext cx="1233290" cy="1222312"/>
          </a:xfrm>
          <a:prstGeom prst="rect">
            <a:avLst/>
          </a:prstGeom>
        </p:spPr>
      </p:pic>
    </p:spTree>
    <p:extLst>
      <p:ext uri="{BB962C8B-B14F-4D97-AF65-F5344CB8AC3E}">
        <p14:creationId xmlns:p14="http://schemas.microsoft.com/office/powerpoint/2010/main" val="1027663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9C014-5F15-82F0-05E6-F3AFFAFAA8BA}"/>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8AE71D7A-E062-615B-696B-AB4D0EDE4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347517FE-E461-D4BC-681C-A9A95CD55783}"/>
              </a:ext>
            </a:extLst>
          </p:cNvPr>
          <p:cNvSpPr>
            <a:spLocks noGrp="1"/>
          </p:cNvSpPr>
          <p:nvPr>
            <p:ph type="title"/>
          </p:nvPr>
        </p:nvSpPr>
        <p:spPr/>
        <p:txBody>
          <a:bodyPr/>
          <a:lstStyle/>
          <a:p>
            <a:r>
              <a:rPr lang="zh-CN" altLang="en-US" dirty="0"/>
              <a:t>研究方法 </a:t>
            </a:r>
            <a:r>
              <a:rPr lang="en-US" altLang="zh-CN" dirty="0"/>
              <a:t>-- SST-Diffusion</a:t>
            </a:r>
            <a:endParaRPr lang="zh-CN" altLang="en-US" dirty="0"/>
          </a:p>
        </p:txBody>
      </p:sp>
      <p:sp>
        <p:nvSpPr>
          <p:cNvPr id="9" name="矩形: 圆角 8">
            <a:extLst>
              <a:ext uri="{FF2B5EF4-FFF2-40B4-BE49-F238E27FC236}">
                <a16:creationId xmlns:a16="http://schemas.microsoft.com/office/drawing/2014/main" id="{0D5731E5-AFEA-DA84-CA86-525A70336914}"/>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37BBAAE1-C8FC-75C4-1A61-D2FADB48140A}"/>
              </a:ext>
            </a:extLst>
          </p:cNvPr>
          <p:cNvSpPr/>
          <p:nvPr/>
        </p:nvSpPr>
        <p:spPr>
          <a:xfrm>
            <a:off x="395198" y="3836775"/>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8FD18C22-FB8E-6767-7666-8D7B2C2025F1}"/>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43FBD2D9-63E3-11C0-49DA-63AE15EEEAD2}"/>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CE6DA1EB-9C01-2A8D-9E61-C9CF86B0A5D5}"/>
              </a:ext>
            </a:extLst>
          </p:cNvPr>
          <p:cNvSpPr/>
          <p:nvPr/>
        </p:nvSpPr>
        <p:spPr>
          <a:xfrm rot="10800000">
            <a:off x="2222098" y="6271963"/>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0D099B32-3B4E-9B9E-6EB5-33F9EA06210B}"/>
              </a:ext>
            </a:extLst>
          </p:cNvPr>
          <p:cNvSpPr txBox="1"/>
          <p:nvPr/>
        </p:nvSpPr>
        <p:spPr>
          <a:xfrm>
            <a:off x="6004196" y="6180642"/>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E3F5BE45-CA6B-6073-E01A-D4D0A1F0C76D}"/>
              </a:ext>
            </a:extLst>
          </p:cNvPr>
          <p:cNvGrpSpPr/>
          <p:nvPr/>
        </p:nvGrpSpPr>
        <p:grpSpPr>
          <a:xfrm>
            <a:off x="685560" y="4258198"/>
            <a:ext cx="10870164" cy="2164017"/>
            <a:chOff x="1112747" y="4071678"/>
            <a:chExt cx="10870164" cy="2164017"/>
          </a:xfrm>
        </p:grpSpPr>
        <p:grpSp>
          <p:nvGrpSpPr>
            <p:cNvPr id="57" name="组合 56">
              <a:extLst>
                <a:ext uri="{FF2B5EF4-FFF2-40B4-BE49-F238E27FC236}">
                  <a16:creationId xmlns:a16="http://schemas.microsoft.com/office/drawing/2014/main" id="{2C5759A5-215A-0C8B-ADB3-A43CBE981B0D}"/>
                </a:ext>
              </a:extLst>
            </p:cNvPr>
            <p:cNvGrpSpPr/>
            <p:nvPr/>
          </p:nvGrpSpPr>
          <p:grpSpPr>
            <a:xfrm>
              <a:off x="9002674" y="4128841"/>
              <a:ext cx="1233290" cy="1485298"/>
              <a:chOff x="8808628" y="3727329"/>
              <a:chExt cx="1233290" cy="1485298"/>
            </a:xfrm>
          </p:grpSpPr>
          <p:pic>
            <p:nvPicPr>
              <p:cNvPr id="43" name="图片 42">
                <a:extLst>
                  <a:ext uri="{FF2B5EF4-FFF2-40B4-BE49-F238E27FC236}">
                    <a16:creationId xmlns:a16="http://schemas.microsoft.com/office/drawing/2014/main" id="{4D96E571-EAD5-B6A6-9356-2E555975D6A4}"/>
                  </a:ext>
                </a:extLst>
              </p:cNvPr>
              <p:cNvPicPr>
                <a:picLocks noChangeAspect="1"/>
              </p:cNvPicPr>
              <p:nvPr/>
            </p:nvPicPr>
            <p:blipFill>
              <a:blip r:embed="rId3"/>
              <a:stretch>
                <a:fillRect/>
              </a:stretch>
            </p:blipFill>
            <p:spPr>
              <a:xfrm>
                <a:off x="8808628" y="3727329"/>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2F2EB536-59E1-EEEE-9E2B-926734D53AE1}"/>
                      </a:ext>
                    </a:extLst>
                  </p:cNvPr>
                  <p:cNvSpPr txBox="1"/>
                  <p:nvPr/>
                </p:nvSpPr>
                <p:spPr>
                  <a:xfrm>
                    <a:off x="9281629" y="4935628"/>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2F2EB536-59E1-EEEE-9E2B-926734D53AE1}"/>
                      </a:ext>
                    </a:extLst>
                  </p:cNvPr>
                  <p:cNvSpPr txBox="1">
                    <a:spLocks noRot="1" noChangeAspect="1" noMove="1" noResize="1" noEditPoints="1" noAdjustHandles="1" noChangeArrowheads="1" noChangeShapeType="1" noTextEdit="1"/>
                  </p:cNvSpPr>
                  <p:nvPr/>
                </p:nvSpPr>
                <p:spPr>
                  <a:xfrm>
                    <a:off x="9281629" y="4935628"/>
                    <a:ext cx="350808" cy="276999"/>
                  </a:xfrm>
                  <a:prstGeom prst="rect">
                    <a:avLst/>
                  </a:prstGeom>
                  <a:blipFill>
                    <a:blip r:embed="rId4"/>
                    <a:stretch>
                      <a:fillRect b="-13043"/>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AE4A7136-8EA3-5BA2-50E2-5CE97B0819AB}"/>
                </a:ext>
              </a:extLst>
            </p:cNvPr>
            <p:cNvGrpSpPr/>
            <p:nvPr/>
          </p:nvGrpSpPr>
          <p:grpSpPr>
            <a:xfrm>
              <a:off x="10763711" y="4739496"/>
              <a:ext cx="1219200" cy="1496199"/>
              <a:chOff x="10317221" y="5039755"/>
              <a:chExt cx="1219200" cy="1496199"/>
            </a:xfrm>
          </p:grpSpPr>
          <p:pic>
            <p:nvPicPr>
              <p:cNvPr id="51" name="图片 50">
                <a:extLst>
                  <a:ext uri="{FF2B5EF4-FFF2-40B4-BE49-F238E27FC236}">
                    <a16:creationId xmlns:a16="http://schemas.microsoft.com/office/drawing/2014/main" id="{5A55800C-C599-7481-1302-7B08DF2164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7221" y="5039755"/>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322A728E-16BF-AD46-1BF0-9D6A6A135E47}"/>
                      </a:ext>
                    </a:extLst>
                  </p:cNvPr>
                  <p:cNvSpPr txBox="1"/>
                  <p:nvPr/>
                </p:nvSpPr>
                <p:spPr>
                  <a:xfrm>
                    <a:off x="10317221" y="6258955"/>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53" name="文本框 52">
                    <a:extLst>
                      <a:ext uri="{FF2B5EF4-FFF2-40B4-BE49-F238E27FC236}">
                        <a16:creationId xmlns:a16="http://schemas.microsoft.com/office/drawing/2014/main" id="{322A728E-16BF-AD46-1BF0-9D6A6A135E47}"/>
                      </a:ext>
                    </a:extLst>
                  </p:cNvPr>
                  <p:cNvSpPr txBox="1">
                    <a:spLocks noRot="1" noChangeAspect="1" noMove="1" noResize="1" noEditPoints="1" noAdjustHandles="1" noChangeArrowheads="1" noChangeShapeType="1" noTextEdit="1"/>
                  </p:cNvSpPr>
                  <p:nvPr/>
                </p:nvSpPr>
                <p:spPr>
                  <a:xfrm>
                    <a:off x="10317221" y="6258955"/>
                    <a:ext cx="1219200" cy="276999"/>
                  </a:xfrm>
                  <a:prstGeom prst="rect">
                    <a:avLst/>
                  </a:prstGeom>
                  <a:blipFill>
                    <a:blip r:embed="rId6"/>
                    <a:stretch>
                      <a:fillRect b="-6522"/>
                    </a:stretch>
                  </a:blipFill>
                </p:spPr>
                <p:txBody>
                  <a:bodyPr/>
                  <a:lstStyle/>
                  <a:p>
                    <a:r>
                      <a:rPr lang="zh-CN" altLang="en-US">
                        <a:noFill/>
                      </a:rPr>
                      <a:t> </a:t>
                    </a:r>
                  </a:p>
                </p:txBody>
              </p:sp>
            </mc:Fallback>
          </mc:AlternateContent>
        </p:grpSp>
        <p:cxnSp>
          <p:nvCxnSpPr>
            <p:cNvPr id="59" name="直接箭头连接符 58">
              <a:extLst>
                <a:ext uri="{FF2B5EF4-FFF2-40B4-BE49-F238E27FC236}">
                  <a16:creationId xmlns:a16="http://schemas.microsoft.com/office/drawing/2014/main" id="{B5C17029-2E84-3F3A-EF94-185006E80EF5}"/>
                </a:ext>
              </a:extLst>
            </p:cNvPr>
            <p:cNvCxnSpPr>
              <a:cxnSpLocks/>
            </p:cNvCxnSpPr>
            <p:nvPr/>
          </p:nvCxnSpPr>
          <p:spPr>
            <a:xfrm flipH="1">
              <a:off x="8412844" y="4739496"/>
              <a:ext cx="46086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1FA0C57A-077A-3083-E6BE-729EFEE32385}"/>
                </a:ext>
              </a:extLst>
            </p:cNvPr>
            <p:cNvCxnSpPr>
              <a:cxnSpLocks/>
            </p:cNvCxnSpPr>
            <p:nvPr/>
          </p:nvCxnSpPr>
          <p:spPr>
            <a:xfrm rot="10800000">
              <a:off x="8696876" y="4739496"/>
              <a:ext cx="1936619" cy="943836"/>
            </a:xfrm>
            <a:prstGeom prst="bentConnector3">
              <a:avLst>
                <a:gd name="adj1" fmla="val 99889"/>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FBD1A813-BF53-4F4F-8EA3-418C1B2469DB}"/>
                </a:ext>
              </a:extLst>
            </p:cNvPr>
            <p:cNvCxnSpPr>
              <a:cxnSpLocks/>
            </p:cNvCxnSpPr>
            <p:nvPr/>
          </p:nvCxnSpPr>
          <p:spPr>
            <a:xfrm flipH="1">
              <a:off x="4922755" y="4673320"/>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C1FE23CC-EFBF-472D-0E32-51B9D45BD15F}"/>
                </a:ext>
              </a:extLst>
            </p:cNvPr>
            <p:cNvPicPr>
              <a:picLocks noChangeAspect="1"/>
            </p:cNvPicPr>
            <p:nvPr/>
          </p:nvPicPr>
          <p:blipFill>
            <a:blip r:embed="rId7"/>
            <a:stretch>
              <a:fillRect/>
            </a:stretch>
          </p:blipFill>
          <p:spPr>
            <a:xfrm>
              <a:off x="3507766"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6C8AEF16-CF60-277B-1150-EAE956EFA2E3}"/>
                    </a:ext>
                  </a:extLst>
                </p:cNvPr>
                <p:cNvSpPr txBox="1"/>
                <p:nvPr/>
              </p:nvSpPr>
              <p:spPr>
                <a:xfrm>
                  <a:off x="3948775" y="531647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6C8AEF16-CF60-277B-1150-EAE956EFA2E3}"/>
                    </a:ext>
                  </a:extLst>
                </p:cNvPr>
                <p:cNvSpPr txBox="1">
                  <a:spLocks noRot="1" noChangeAspect="1" noMove="1" noResize="1" noEditPoints="1" noAdjustHandles="1" noChangeArrowheads="1" noChangeShapeType="1" noTextEdit="1"/>
                </p:cNvSpPr>
                <p:nvPr/>
              </p:nvSpPr>
              <p:spPr>
                <a:xfrm>
                  <a:off x="3948775" y="5316473"/>
                  <a:ext cx="350808" cy="276999"/>
                </a:xfrm>
                <a:prstGeom prst="rect">
                  <a:avLst/>
                </a:prstGeom>
                <a:blipFill>
                  <a:blip r:embed="rId8"/>
                  <a:stretch>
                    <a:fillRect l="-17544" r="-35088" b="-15556"/>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419EC7B9-29C4-EFBA-ECFF-AC12EFFAC2F2}"/>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B61FA9EF-86A9-8F89-4399-A2DEF069853D}"/>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63CB17E3-3DE1-34D5-D729-57E3DA9906FE}"/>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4ADCE499-1D5A-F57C-A0A8-E938554C3442}"/>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054EE8C9-985B-3913-9044-429023D2C52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38DF4E49-8FF5-4C3A-8DE0-B8632AAA5611}"/>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38DF4E49-8FF5-4C3A-8DE0-B8632AAA5611}"/>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0"/>
                  <a:stretch>
                    <a:fillRect b="-15217"/>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1053704D-706F-136C-E454-676943EF4F5E}"/>
              </a:ext>
            </a:extLst>
          </p:cNvPr>
          <p:cNvGrpSpPr/>
          <p:nvPr/>
        </p:nvGrpSpPr>
        <p:grpSpPr>
          <a:xfrm>
            <a:off x="696658" y="2000941"/>
            <a:ext cx="8290338" cy="1522093"/>
            <a:chOff x="620321" y="1838534"/>
            <a:chExt cx="8290338" cy="1522093"/>
          </a:xfrm>
        </p:grpSpPr>
        <p:grpSp>
          <p:nvGrpSpPr>
            <p:cNvPr id="52" name="组合 51">
              <a:extLst>
                <a:ext uri="{FF2B5EF4-FFF2-40B4-BE49-F238E27FC236}">
                  <a16:creationId xmlns:a16="http://schemas.microsoft.com/office/drawing/2014/main" id="{BA756DE2-7B82-28EC-8439-DD2AF618E129}"/>
                </a:ext>
              </a:extLst>
            </p:cNvPr>
            <p:cNvGrpSpPr/>
            <p:nvPr/>
          </p:nvGrpSpPr>
          <p:grpSpPr>
            <a:xfrm>
              <a:off x="620321" y="1838534"/>
              <a:ext cx="8290338" cy="1522093"/>
              <a:chOff x="1134934" y="1680170"/>
              <a:chExt cx="8290338" cy="1522093"/>
            </a:xfrm>
          </p:grpSpPr>
          <p:grpSp>
            <p:nvGrpSpPr>
              <p:cNvPr id="40" name="组合 39">
                <a:extLst>
                  <a:ext uri="{FF2B5EF4-FFF2-40B4-BE49-F238E27FC236}">
                    <a16:creationId xmlns:a16="http://schemas.microsoft.com/office/drawing/2014/main" id="{B361CABF-C9E6-80F3-2395-8C22BEF5A3AE}"/>
                  </a:ext>
                </a:extLst>
              </p:cNvPr>
              <p:cNvGrpSpPr/>
              <p:nvPr/>
            </p:nvGrpSpPr>
            <p:grpSpPr>
              <a:xfrm>
                <a:off x="1134934" y="1680170"/>
                <a:ext cx="8290338" cy="1522093"/>
                <a:chOff x="674323" y="1994990"/>
                <a:chExt cx="8290338" cy="1522093"/>
              </a:xfrm>
            </p:grpSpPr>
            <p:cxnSp>
              <p:nvCxnSpPr>
                <p:cNvPr id="13" name="直接箭头连接符 12">
                  <a:extLst>
                    <a:ext uri="{FF2B5EF4-FFF2-40B4-BE49-F238E27FC236}">
                      <a16:creationId xmlns:a16="http://schemas.microsoft.com/office/drawing/2014/main" id="{345A854D-8BD1-4B52-51E2-EB2BA540B783}"/>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8B03003-3AB7-A353-7329-4561DB35FACD}"/>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58B03003-3AB7-A353-7329-4561DB35FACD}"/>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1"/>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B7DE065-F513-90EE-90EE-EBE0193E9608}"/>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9B7DE065-F513-90EE-90EE-EBE0193E9608}"/>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2"/>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B4A8545B-A112-A3CF-9779-47A4D0AC252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106EC61B-FA85-2A1F-2EC4-7F462776E56D}"/>
                    </a:ext>
                  </a:extLst>
                </p:cNvPr>
                <p:cNvPicPr>
                  <a:picLocks noChangeAspect="1"/>
                </p:cNvPicPr>
                <p:nvPr/>
              </p:nvPicPr>
              <p:blipFill>
                <a:blip r:embed="rId14">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p:pic>
              <p:nvPicPr>
                <p:cNvPr id="25" name="图片 24">
                  <a:extLst>
                    <a:ext uri="{FF2B5EF4-FFF2-40B4-BE49-F238E27FC236}">
                      <a16:creationId xmlns:a16="http://schemas.microsoft.com/office/drawing/2014/main" id="{274D30C2-66C3-53AA-52C2-C01C3DBC82BE}"/>
                    </a:ext>
                  </a:extLst>
                </p:cNvPr>
                <p:cNvPicPr>
                  <a:picLocks noChangeAspect="1"/>
                </p:cNvPicPr>
                <p:nvPr/>
              </p:nvPicPr>
              <p:blipFill>
                <a:blip r:embed="rId3"/>
                <a:stretch>
                  <a:fillRect/>
                </a:stretch>
              </p:blipFill>
              <p:spPr>
                <a:xfrm>
                  <a:off x="7731371" y="2017772"/>
                  <a:ext cx="1233290" cy="1222312"/>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B3E1399-B031-AB6D-8CC6-DB02F156C1AA}"/>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AB3E1399-B031-AB6D-8CC6-DB02F156C1AA}"/>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5"/>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35BCA2C0-5C26-98E8-CBAF-E5A8535743FE}"/>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6348F93B-3783-CD72-15C7-3B350E866968}"/>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1CE13625-DC9B-6EEB-C93C-9B332CE72799}"/>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9A1C2B78-B99A-4B4A-A5EC-9215F3851702}"/>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FBFAD8DC-655B-0D3A-EF5A-45ECE1131E75}"/>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E7DC90FF-7827-F16A-B7BB-A0F102DFE924}"/>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25D9BC79-EC45-8DAB-40E5-D6971B642CD6}"/>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0C79C9D8-49D2-1AEB-25EF-D90F84608ACA}"/>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08A5BC9C-B367-DB44-596F-A507ADBBA49A}"/>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08A5BC9C-B367-DB44-596F-A507ADBBA49A}"/>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6"/>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0ED40AB6-CE72-40C3-32B5-677D613228E3}"/>
                </a:ext>
              </a:extLst>
            </p:cNvPr>
            <p:cNvPicPr>
              <a:picLocks noChangeAspect="1"/>
            </p:cNvPicPr>
            <p:nvPr/>
          </p:nvPicPr>
          <p:blipFill>
            <a:blip r:embed="rId17">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43124A08-C36B-B6C3-4358-AAD7B72CC406}"/>
              </a:ext>
            </a:extLst>
          </p:cNvPr>
          <p:cNvSpPr/>
          <p:nvPr/>
        </p:nvSpPr>
        <p:spPr>
          <a:xfrm>
            <a:off x="9877710" y="2199932"/>
            <a:ext cx="1788578" cy="799514"/>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①</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DDIM</a:t>
            </a:r>
          </a:p>
          <a:p>
            <a:pPr lvl="0" algn="ctr">
              <a:lnSpc>
                <a:spcPct val="120000"/>
              </a:lnSpc>
              <a:defRPr/>
            </a:pPr>
            <a:r>
              <a:rPr kumimoji="0" lang="zh-CN" altLang="en-US"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加速</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逆扩散</a:t>
            </a:r>
            <a:endParaRPr kumimoji="0" lang="en-US" altLang="zh-CN"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DBDE1A9-8E42-81F6-C929-4ED1546F805D}"/>
                  </a:ext>
                </a:extLst>
              </p:cNvPr>
              <p:cNvSpPr txBox="1"/>
              <p:nvPr/>
            </p:nvSpPr>
            <p:spPr>
              <a:xfrm>
                <a:off x="2175445" y="4424345"/>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𝐷𝐷𝐼𝑀</m:t>
                      </m:r>
                    </m:oMath>
                  </m:oMathPara>
                </a14:m>
                <a:endParaRPr lang="en-US" altLang="zh-CN" b="0" dirty="0">
                  <a:solidFill>
                    <a:srgbClr val="FF0000"/>
                  </a:solidFill>
                </a:endParaRPr>
              </a:p>
            </p:txBody>
          </p:sp>
        </mc:Choice>
        <mc:Fallback xmlns="">
          <p:sp>
            <p:nvSpPr>
              <p:cNvPr id="3" name="文本框 2">
                <a:extLst>
                  <a:ext uri="{FF2B5EF4-FFF2-40B4-BE49-F238E27FC236}">
                    <a16:creationId xmlns:a16="http://schemas.microsoft.com/office/drawing/2014/main" id="{8DBDE1A9-8E42-81F6-C929-4ED1546F805D}"/>
                  </a:ext>
                </a:extLst>
              </p:cNvPr>
              <p:cNvSpPr txBox="1">
                <a:spLocks noRot="1" noChangeAspect="1" noMove="1" noResize="1" noEditPoints="1" noAdjustHandles="1" noChangeArrowheads="1" noChangeShapeType="1" noTextEdit="1"/>
              </p:cNvSpPr>
              <p:nvPr/>
            </p:nvSpPr>
            <p:spPr>
              <a:xfrm>
                <a:off x="2175445" y="4424345"/>
                <a:ext cx="641806" cy="276999"/>
              </a:xfrm>
              <a:prstGeom prst="rect">
                <a:avLst/>
              </a:prstGeom>
              <a:blipFill>
                <a:blip r:embed="rId18"/>
                <a:stretch>
                  <a:fillRect l="-10476" r="-8571"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9A95370-925B-EBF6-2F67-C63F614EF365}"/>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6" name="文本框 5">
                <a:extLst>
                  <a:ext uri="{FF2B5EF4-FFF2-40B4-BE49-F238E27FC236}">
                    <a16:creationId xmlns:a16="http://schemas.microsoft.com/office/drawing/2014/main" id="{F9A95370-925B-EBF6-2F67-C63F614EF365}"/>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19"/>
                <a:stretch>
                  <a:fillRect l="-1905" r="-1905"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468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图片 106">
            <a:extLst>
              <a:ext uri="{FF2B5EF4-FFF2-40B4-BE49-F238E27FC236}">
                <a16:creationId xmlns:a16="http://schemas.microsoft.com/office/drawing/2014/main" id="{F4E6F7C0-1F5D-D43B-712E-9B20E0F15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E51443A3-94F6-B0BF-D455-1A2A37E99C8B}"/>
              </a:ext>
            </a:extLst>
          </p:cNvPr>
          <p:cNvSpPr>
            <a:spLocks noGrp="1"/>
          </p:cNvSpPr>
          <p:nvPr>
            <p:ph type="title"/>
          </p:nvPr>
        </p:nvSpPr>
        <p:spPr/>
        <p:txBody>
          <a:bodyPr/>
          <a:lstStyle/>
          <a:p>
            <a:r>
              <a:rPr lang="zh-CN" altLang="en-US" dirty="0"/>
              <a:t>研究方法 </a:t>
            </a:r>
            <a:r>
              <a:rPr lang="en-US" altLang="zh-CN" dirty="0"/>
              <a:t>-- SST-Diffusion</a:t>
            </a:r>
            <a:endParaRPr lang="zh-CN" altLang="en-US" dirty="0"/>
          </a:p>
        </p:txBody>
      </p:sp>
      <p:sp>
        <p:nvSpPr>
          <p:cNvPr id="9" name="矩形: 圆角 8">
            <a:extLst>
              <a:ext uri="{FF2B5EF4-FFF2-40B4-BE49-F238E27FC236}">
                <a16:creationId xmlns:a16="http://schemas.microsoft.com/office/drawing/2014/main" id="{F1E2A6FB-D6B0-D3EE-F54F-5AD3AE2CFE44}"/>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2934D9DE-4663-8CBD-E73B-2A9A08094260}"/>
              </a:ext>
            </a:extLst>
          </p:cNvPr>
          <p:cNvSpPr/>
          <p:nvPr/>
        </p:nvSpPr>
        <p:spPr>
          <a:xfrm>
            <a:off x="395198" y="3852557"/>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FD7918A2-6B39-F441-659B-F0AC443EF128}"/>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EA8DAEDF-3626-A5C0-5233-842D7B2CB34B}"/>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67456624-056A-9043-AEFE-6104C6E39122}"/>
              </a:ext>
            </a:extLst>
          </p:cNvPr>
          <p:cNvSpPr/>
          <p:nvPr/>
        </p:nvSpPr>
        <p:spPr>
          <a:xfrm rot="10800000">
            <a:off x="2222098" y="6287745"/>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CA122A1A-45EA-E8B4-70AD-212BD6275060}"/>
              </a:ext>
            </a:extLst>
          </p:cNvPr>
          <p:cNvSpPr txBox="1"/>
          <p:nvPr/>
        </p:nvSpPr>
        <p:spPr>
          <a:xfrm>
            <a:off x="6004196" y="6196424"/>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6A8FE5DE-429A-DDAD-9583-0EECC6FE0513}"/>
              </a:ext>
            </a:extLst>
          </p:cNvPr>
          <p:cNvGrpSpPr/>
          <p:nvPr/>
        </p:nvGrpSpPr>
        <p:grpSpPr>
          <a:xfrm>
            <a:off x="685560" y="4238538"/>
            <a:ext cx="10870164" cy="2199459"/>
            <a:chOff x="1112747" y="4036236"/>
            <a:chExt cx="10870164" cy="2199459"/>
          </a:xfrm>
        </p:grpSpPr>
        <p:grpSp>
          <p:nvGrpSpPr>
            <p:cNvPr id="57" name="组合 56">
              <a:extLst>
                <a:ext uri="{FF2B5EF4-FFF2-40B4-BE49-F238E27FC236}">
                  <a16:creationId xmlns:a16="http://schemas.microsoft.com/office/drawing/2014/main" id="{9AA8B007-46F2-9CFB-57FE-2E6391B4885D}"/>
                </a:ext>
              </a:extLst>
            </p:cNvPr>
            <p:cNvGrpSpPr/>
            <p:nvPr/>
          </p:nvGrpSpPr>
          <p:grpSpPr>
            <a:xfrm>
              <a:off x="9002674" y="4036236"/>
              <a:ext cx="1233290" cy="1485298"/>
              <a:chOff x="8808628" y="3634724"/>
              <a:chExt cx="1233290" cy="1485298"/>
            </a:xfrm>
          </p:grpSpPr>
          <p:pic>
            <p:nvPicPr>
              <p:cNvPr id="43" name="图片 42">
                <a:extLst>
                  <a:ext uri="{FF2B5EF4-FFF2-40B4-BE49-F238E27FC236}">
                    <a16:creationId xmlns:a16="http://schemas.microsoft.com/office/drawing/2014/main" id="{355741AC-A1E0-561F-AE8A-A086607DCDB2}"/>
                  </a:ext>
                </a:extLst>
              </p:cNvPr>
              <p:cNvPicPr>
                <a:picLocks noChangeAspect="1"/>
              </p:cNvPicPr>
              <p:nvPr/>
            </p:nvPicPr>
            <p:blipFill>
              <a:blip r:embed="rId3"/>
              <a:stretch>
                <a:fillRect/>
              </a:stretch>
            </p:blipFill>
            <p:spPr>
              <a:xfrm>
                <a:off x="8808628" y="3634724"/>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795068BA-183C-3DF5-A6EE-862635892A91}"/>
                      </a:ext>
                    </a:extLst>
                  </p:cNvPr>
                  <p:cNvSpPr txBox="1"/>
                  <p:nvPr/>
                </p:nvSpPr>
                <p:spPr>
                  <a:xfrm>
                    <a:off x="9281629" y="484302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795068BA-183C-3DF5-A6EE-862635892A91}"/>
                      </a:ext>
                    </a:extLst>
                  </p:cNvPr>
                  <p:cNvSpPr txBox="1">
                    <a:spLocks noRot="1" noChangeAspect="1" noMove="1" noResize="1" noEditPoints="1" noAdjustHandles="1" noChangeArrowheads="1" noChangeShapeType="1" noTextEdit="1"/>
                  </p:cNvSpPr>
                  <p:nvPr/>
                </p:nvSpPr>
                <p:spPr>
                  <a:xfrm>
                    <a:off x="9281629" y="4843023"/>
                    <a:ext cx="350808" cy="276999"/>
                  </a:xfrm>
                  <a:prstGeom prst="rect">
                    <a:avLst/>
                  </a:prstGeom>
                  <a:blipFill>
                    <a:blip r:embed="rId4"/>
                    <a:stretch>
                      <a:fillRect b="-15556"/>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48F13889-F9CD-7363-684A-C7319D6707C3}"/>
                </a:ext>
              </a:extLst>
            </p:cNvPr>
            <p:cNvGrpSpPr/>
            <p:nvPr/>
          </p:nvGrpSpPr>
          <p:grpSpPr>
            <a:xfrm>
              <a:off x="10763711" y="4739496"/>
              <a:ext cx="1219200" cy="1496199"/>
              <a:chOff x="10317221" y="5039755"/>
              <a:chExt cx="1219200" cy="1496199"/>
            </a:xfrm>
          </p:grpSpPr>
          <p:pic>
            <p:nvPicPr>
              <p:cNvPr id="51" name="图片 50">
                <a:extLst>
                  <a:ext uri="{FF2B5EF4-FFF2-40B4-BE49-F238E27FC236}">
                    <a16:creationId xmlns:a16="http://schemas.microsoft.com/office/drawing/2014/main" id="{97769DFE-D8CB-5B96-0F7A-C4DF8475C2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7221" y="5039755"/>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57601C06-732D-F100-1A5B-5DE1847CCE10}"/>
                      </a:ext>
                    </a:extLst>
                  </p:cNvPr>
                  <p:cNvSpPr txBox="1"/>
                  <p:nvPr/>
                </p:nvSpPr>
                <p:spPr>
                  <a:xfrm>
                    <a:off x="10317221" y="6258955"/>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53" name="文本框 52">
                    <a:extLst>
                      <a:ext uri="{FF2B5EF4-FFF2-40B4-BE49-F238E27FC236}">
                        <a16:creationId xmlns:a16="http://schemas.microsoft.com/office/drawing/2014/main" id="{57601C06-732D-F100-1A5B-5DE1847CCE10}"/>
                      </a:ext>
                    </a:extLst>
                  </p:cNvPr>
                  <p:cNvSpPr txBox="1">
                    <a:spLocks noRot="1" noChangeAspect="1" noMove="1" noResize="1" noEditPoints="1" noAdjustHandles="1" noChangeArrowheads="1" noChangeShapeType="1" noTextEdit="1"/>
                  </p:cNvSpPr>
                  <p:nvPr/>
                </p:nvSpPr>
                <p:spPr>
                  <a:xfrm>
                    <a:off x="10317221" y="6258955"/>
                    <a:ext cx="1219200" cy="276999"/>
                  </a:xfrm>
                  <a:prstGeom prst="rect">
                    <a:avLst/>
                  </a:prstGeom>
                  <a:blipFill>
                    <a:blip r:embed="rId6"/>
                    <a:stretch>
                      <a:fillRect b="-888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7DBBE1E5-AD73-48F0-3CB5-C76D7A2E2C61}"/>
                    </a:ext>
                  </a:extLst>
                </p:cNvPr>
                <p:cNvSpPr txBox="1"/>
                <p:nvPr/>
              </p:nvSpPr>
              <p:spPr>
                <a:xfrm>
                  <a:off x="6521989" y="5421836"/>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55" name="文本框 54">
                  <a:extLst>
                    <a:ext uri="{FF2B5EF4-FFF2-40B4-BE49-F238E27FC236}">
                      <a16:creationId xmlns:a16="http://schemas.microsoft.com/office/drawing/2014/main" id="{7DBBE1E5-AD73-48F0-3CB5-C76D7A2E2C61}"/>
                    </a:ext>
                  </a:extLst>
                </p:cNvPr>
                <p:cNvSpPr txBox="1">
                  <a:spLocks noRot="1" noChangeAspect="1" noMove="1" noResize="1" noEditPoints="1" noAdjustHandles="1" noChangeArrowheads="1" noChangeShapeType="1" noTextEdit="1"/>
                </p:cNvSpPr>
                <p:nvPr/>
              </p:nvSpPr>
              <p:spPr>
                <a:xfrm>
                  <a:off x="6521989" y="5421836"/>
                  <a:ext cx="641806" cy="276999"/>
                </a:xfrm>
                <a:prstGeom prst="rect">
                  <a:avLst/>
                </a:prstGeom>
                <a:blipFill>
                  <a:blip r:embed="rId7"/>
                  <a:stretch>
                    <a:fillRect l="-1905" r="-1905" b="-6667"/>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7BBB6D12-CBD6-D2A6-9C06-AAAE96A46B81}"/>
                </a:ext>
              </a:extLst>
            </p:cNvPr>
            <p:cNvCxnSpPr>
              <a:cxnSpLocks/>
            </p:cNvCxnSpPr>
            <p:nvPr/>
          </p:nvCxnSpPr>
          <p:spPr>
            <a:xfrm flipH="1">
              <a:off x="8412844" y="4663626"/>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16FFC160-27F3-B2A8-3EA5-69C17B99E9C5}"/>
                </a:ext>
              </a:extLst>
            </p:cNvPr>
            <p:cNvCxnSpPr>
              <a:cxnSpLocks/>
            </p:cNvCxnSpPr>
            <p:nvPr/>
          </p:nvCxnSpPr>
          <p:spPr>
            <a:xfrm rot="10800000">
              <a:off x="8412844" y="5032242"/>
              <a:ext cx="2220650" cy="651091"/>
            </a:xfrm>
            <a:prstGeom prst="bentConnector3">
              <a:avLst>
                <a:gd name="adj1" fmla="val 82942"/>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98BD6AA4-ABEC-28ED-8A32-76D39CE32CF3}"/>
                </a:ext>
              </a:extLst>
            </p:cNvPr>
            <p:cNvCxnSpPr>
              <a:cxnSpLocks/>
            </p:cNvCxnSpPr>
            <p:nvPr/>
          </p:nvCxnSpPr>
          <p:spPr>
            <a:xfrm flipH="1">
              <a:off x="4703136" y="4647392"/>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80BE9B5A-3708-763A-538B-742E8CE04655}"/>
                </a:ext>
              </a:extLst>
            </p:cNvPr>
            <p:cNvPicPr>
              <a:picLocks noChangeAspect="1"/>
            </p:cNvPicPr>
            <p:nvPr/>
          </p:nvPicPr>
          <p:blipFill>
            <a:blip r:embed="rId8"/>
            <a:stretch>
              <a:fillRect/>
            </a:stretch>
          </p:blipFill>
          <p:spPr>
            <a:xfrm>
              <a:off x="3467073"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F2DBCC63-C786-4113-D90B-EA1D41540A85}"/>
                    </a:ext>
                  </a:extLst>
                </p:cNvPr>
                <p:cNvSpPr txBox="1"/>
                <p:nvPr/>
              </p:nvSpPr>
              <p:spPr>
                <a:xfrm>
                  <a:off x="3885120" y="5327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F2DBCC63-C786-4113-D90B-EA1D41540A85}"/>
                    </a:ext>
                  </a:extLst>
                </p:cNvPr>
                <p:cNvSpPr txBox="1">
                  <a:spLocks noRot="1" noChangeAspect="1" noMove="1" noResize="1" noEditPoints="1" noAdjustHandles="1" noChangeArrowheads="1" noChangeShapeType="1" noTextEdit="1"/>
                </p:cNvSpPr>
                <p:nvPr/>
              </p:nvSpPr>
              <p:spPr>
                <a:xfrm>
                  <a:off x="3885120" y="5327062"/>
                  <a:ext cx="350808" cy="276999"/>
                </a:xfrm>
                <a:prstGeom prst="rect">
                  <a:avLst/>
                </a:prstGeom>
                <a:blipFill>
                  <a:blip r:embed="rId9"/>
                  <a:stretch>
                    <a:fillRect l="-17241" r="-34483" b="-17778"/>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C1B49E84-7836-7EDA-5416-2E42CEE1D793}"/>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6D45AD22-B2B4-2EE9-56C7-396C09EC00F2}"/>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758EE78B-660A-2664-013A-1DBB7A23FC07}"/>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7F13AF01-8C4B-1AD9-198E-87813D21D7E1}"/>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335BE047-032D-310A-ECA2-303FF27514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3B058B27-D2E7-0AF9-9DE2-432A6E6FD962}"/>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3B058B27-D2E7-0AF9-9DE2-432A6E6FD962}"/>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1"/>
                  <a:stretch>
                    <a:fillRect b="-15556"/>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3C36CA8B-B348-F2D3-3D9C-E9D3A420BDE7}"/>
              </a:ext>
            </a:extLst>
          </p:cNvPr>
          <p:cNvGrpSpPr/>
          <p:nvPr/>
        </p:nvGrpSpPr>
        <p:grpSpPr>
          <a:xfrm>
            <a:off x="696658" y="2000941"/>
            <a:ext cx="8290338" cy="1522093"/>
            <a:chOff x="620321" y="1838534"/>
            <a:chExt cx="8290338" cy="1522093"/>
          </a:xfrm>
        </p:grpSpPr>
        <p:grpSp>
          <p:nvGrpSpPr>
            <p:cNvPr id="52" name="组合 51">
              <a:extLst>
                <a:ext uri="{FF2B5EF4-FFF2-40B4-BE49-F238E27FC236}">
                  <a16:creationId xmlns:a16="http://schemas.microsoft.com/office/drawing/2014/main" id="{BC1323E4-AD37-2C2D-3143-3A188644C7F8}"/>
                </a:ext>
              </a:extLst>
            </p:cNvPr>
            <p:cNvGrpSpPr/>
            <p:nvPr/>
          </p:nvGrpSpPr>
          <p:grpSpPr>
            <a:xfrm>
              <a:off x="620321" y="1838534"/>
              <a:ext cx="8290338" cy="1522093"/>
              <a:chOff x="1134934" y="1680170"/>
              <a:chExt cx="8290338" cy="1522093"/>
            </a:xfrm>
          </p:grpSpPr>
          <p:grpSp>
            <p:nvGrpSpPr>
              <p:cNvPr id="40" name="组合 39">
                <a:extLst>
                  <a:ext uri="{FF2B5EF4-FFF2-40B4-BE49-F238E27FC236}">
                    <a16:creationId xmlns:a16="http://schemas.microsoft.com/office/drawing/2014/main" id="{2AEB8160-C770-2962-5F1C-9CFDCE25D44B}"/>
                  </a:ext>
                </a:extLst>
              </p:cNvPr>
              <p:cNvGrpSpPr/>
              <p:nvPr/>
            </p:nvGrpSpPr>
            <p:grpSpPr>
              <a:xfrm>
                <a:off x="1134934" y="1680170"/>
                <a:ext cx="8290338" cy="1522093"/>
                <a:chOff x="674323" y="1994990"/>
                <a:chExt cx="8290338" cy="1522093"/>
              </a:xfrm>
            </p:grpSpPr>
            <p:cxnSp>
              <p:nvCxnSpPr>
                <p:cNvPr id="13" name="直接箭头连接符 12">
                  <a:extLst>
                    <a:ext uri="{FF2B5EF4-FFF2-40B4-BE49-F238E27FC236}">
                      <a16:creationId xmlns:a16="http://schemas.microsoft.com/office/drawing/2014/main" id="{A5FBB501-598A-679B-2426-73E60BFAAFE1}"/>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3BF603E-F535-7BB6-046B-418B38230351}"/>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63BF603E-F535-7BB6-046B-418B38230351}"/>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2"/>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2440A90-66CB-9CC2-32AE-D4E885DEACDE}"/>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D2440A90-66CB-9CC2-32AE-D4E885DEACDE}"/>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3"/>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1DC13FF7-EEF2-F595-BB80-D41558CD14E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8085A19D-DC5C-3F93-518C-A0D02611FB0D}"/>
                    </a:ext>
                  </a:extLst>
                </p:cNvPr>
                <p:cNvPicPr>
                  <a:picLocks noChangeAspect="1"/>
                </p:cNvPicPr>
                <p:nvPr/>
              </p:nvPicPr>
              <p:blipFill>
                <a:blip r:embed="rId15">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p:pic>
              <p:nvPicPr>
                <p:cNvPr id="25" name="图片 24">
                  <a:extLst>
                    <a:ext uri="{FF2B5EF4-FFF2-40B4-BE49-F238E27FC236}">
                      <a16:creationId xmlns:a16="http://schemas.microsoft.com/office/drawing/2014/main" id="{03FE251D-6715-5FED-252A-CE85226F84D5}"/>
                    </a:ext>
                  </a:extLst>
                </p:cNvPr>
                <p:cNvPicPr>
                  <a:picLocks noChangeAspect="1"/>
                </p:cNvPicPr>
                <p:nvPr/>
              </p:nvPicPr>
              <p:blipFill>
                <a:blip r:embed="rId3"/>
                <a:stretch>
                  <a:fillRect/>
                </a:stretch>
              </p:blipFill>
              <p:spPr>
                <a:xfrm>
                  <a:off x="7731371" y="2017772"/>
                  <a:ext cx="1233290" cy="1222312"/>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0E9413F-9D4C-D906-FCA6-78E32A48EEEB}"/>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20E9413F-9D4C-D906-FCA6-78E32A48EEEB}"/>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6"/>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9194CE5C-E377-07FD-3CE6-F7C7F005F53A}"/>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493CAA59-4276-2447-BAD9-31818A125E5B}"/>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AEE8618A-B34E-96DB-5594-F9DF9D265AED}"/>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F2374D1C-6F9D-D175-3846-E8A5C417BE94}"/>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008F5CD9-3ECA-8877-BC93-C3A905705DD8}"/>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90F8024C-F04C-54B0-6C52-D0C678CDDAFC}"/>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F3227D8-7F41-C414-C896-B88EAA4C0C0F}"/>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726A51BB-C24B-D0A4-76C6-9B9652D6ABC0}"/>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7D42769-EA0F-CCB3-B305-BB25CC3BBAD0}"/>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E7D42769-EA0F-CCB3-B305-BB25CC3BBAD0}"/>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7"/>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5D6FD2B0-097A-5F87-2E2E-1910DB3620C8}"/>
                </a:ext>
              </a:extLst>
            </p:cNvPr>
            <p:cNvPicPr>
              <a:picLocks noChangeAspect="1"/>
            </p:cNvPicPr>
            <p:nvPr/>
          </p:nvPicPr>
          <p:blipFill>
            <a:blip r:embed="rId18">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288986A2-FF32-21F6-ECB8-71966476CAA8}"/>
              </a:ext>
            </a:extLst>
          </p:cNvPr>
          <p:cNvSpPr/>
          <p:nvPr/>
        </p:nvSpPr>
        <p:spPr>
          <a:xfrm>
            <a:off x="9498192" y="2208977"/>
            <a:ext cx="2533417" cy="798745"/>
          </a:xfrm>
          <a:prstGeom prst="rect">
            <a:avLst/>
          </a:prstGeom>
          <a:solidFill>
            <a:srgbClr val="256090"/>
          </a:solidFill>
        </p:spPr>
        <p:txBody>
          <a:bodyPr wrap="square" anchor="ctr" anchorCtr="0">
            <a:spAutoFit/>
          </a:bodyPr>
          <a:lstStyle/>
          <a:p>
            <a:pPr lvl="0" algn="ctr">
              <a:lnSpc>
                <a:spcPct val="120000"/>
              </a:lnSpc>
              <a:defRPr/>
            </a:pPr>
            <a:r>
              <a:rPr lang="zh-CN" altLang="en-US"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②修改</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条件拼接方式</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a:p>
            <a:pPr lvl="0" algn="ctr">
              <a:lnSpc>
                <a:spcPct val="120000"/>
              </a:lnSpc>
              <a:defRPr/>
            </a:pPr>
            <a:r>
              <a:rPr kumimoji="0" lang="zh-CN" altLang="en-US" sz="2000" b="0" i="0" u="none" strike="noStrike" kern="0" cap="none" spc="0" normalizeH="0" noProof="0" dirty="0">
                <a:ln>
                  <a:noFill/>
                </a:ln>
                <a:solidFill>
                  <a:schemeClr val="accent5">
                    <a:lumMod val="20000"/>
                    <a:lumOff val="8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加强条件信息处理</a:t>
            </a:r>
            <a:endParaRPr kumimoji="0" lang="en-US" altLang="zh-CN" sz="2000" b="0" i="0" u="none" strike="noStrike" kern="0" cap="none" spc="0" normalizeH="0" noProof="0" dirty="0">
              <a:ln>
                <a:noFill/>
              </a:ln>
              <a:solidFill>
                <a:schemeClr val="accent5">
                  <a:lumMod val="20000"/>
                  <a:lumOff val="8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cxnSp>
        <p:nvCxnSpPr>
          <p:cNvPr id="97" name="连接符: 肘形 96">
            <a:extLst>
              <a:ext uri="{FF2B5EF4-FFF2-40B4-BE49-F238E27FC236}">
                <a16:creationId xmlns:a16="http://schemas.microsoft.com/office/drawing/2014/main" id="{B2712EB4-F9DB-B06A-0DF1-DA1F1CAA6382}"/>
              </a:ext>
            </a:extLst>
          </p:cNvPr>
          <p:cNvCxnSpPr>
            <a:cxnSpLocks/>
          </p:cNvCxnSpPr>
          <p:nvPr/>
        </p:nvCxnSpPr>
        <p:spPr>
          <a:xfrm rot="16200000" flipV="1">
            <a:off x="4518439" y="4913915"/>
            <a:ext cx="358024" cy="283232"/>
          </a:xfrm>
          <a:prstGeom prst="bentConnector3">
            <a:avLst>
              <a:gd name="adj1" fmla="val 663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155305-967D-665F-72B2-F6C1F7B20769}"/>
                  </a:ext>
                </a:extLst>
              </p:cNvPr>
              <p:cNvSpPr txBox="1"/>
              <p:nvPr/>
            </p:nvSpPr>
            <p:spPr>
              <a:xfrm>
                <a:off x="2175445" y="4424345"/>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𝐷𝐷𝐼𝑀</m:t>
                      </m:r>
                    </m:oMath>
                  </m:oMathPara>
                </a14:m>
                <a:endParaRPr lang="en-US" altLang="zh-CN" b="0" dirty="0"/>
              </a:p>
            </p:txBody>
          </p:sp>
        </mc:Choice>
        <mc:Fallback xmlns="">
          <p:sp>
            <p:nvSpPr>
              <p:cNvPr id="3" name="文本框 2">
                <a:extLst>
                  <a:ext uri="{FF2B5EF4-FFF2-40B4-BE49-F238E27FC236}">
                    <a16:creationId xmlns:a16="http://schemas.microsoft.com/office/drawing/2014/main" id="{A1155305-967D-665F-72B2-F6C1F7B20769}"/>
                  </a:ext>
                </a:extLst>
              </p:cNvPr>
              <p:cNvSpPr txBox="1">
                <a:spLocks noRot="1" noChangeAspect="1" noMove="1" noResize="1" noEditPoints="1" noAdjustHandles="1" noChangeArrowheads="1" noChangeShapeType="1" noTextEdit="1"/>
              </p:cNvSpPr>
              <p:nvPr/>
            </p:nvSpPr>
            <p:spPr>
              <a:xfrm>
                <a:off x="2175445" y="4424345"/>
                <a:ext cx="641806" cy="276999"/>
              </a:xfrm>
              <a:prstGeom prst="rect">
                <a:avLst/>
              </a:prstGeom>
              <a:blipFill>
                <a:blip r:embed="rId19"/>
                <a:stretch>
                  <a:fillRect l="-10476" r="-8571"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115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789F0-657E-AE20-A01A-41FEA8E3979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5145F4DD-85D0-17F7-F68E-451BCA7B6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39059AD1-A703-F11C-758F-CCBF0D58A700}"/>
              </a:ext>
            </a:extLst>
          </p:cNvPr>
          <p:cNvSpPr>
            <a:spLocks noGrp="1"/>
          </p:cNvSpPr>
          <p:nvPr>
            <p:ph type="title"/>
          </p:nvPr>
        </p:nvSpPr>
        <p:spPr/>
        <p:txBody>
          <a:bodyPr/>
          <a:lstStyle/>
          <a:p>
            <a:r>
              <a:rPr lang="zh-CN" altLang="en-US" dirty="0"/>
              <a:t>研究方法 </a:t>
            </a:r>
            <a:r>
              <a:rPr lang="en-US" altLang="zh-CN" dirty="0"/>
              <a:t>-- SST-Diffusion</a:t>
            </a:r>
            <a:endParaRPr lang="zh-CN" altLang="en-US" dirty="0"/>
          </a:p>
        </p:txBody>
      </p:sp>
      <p:sp>
        <p:nvSpPr>
          <p:cNvPr id="9" name="矩形: 圆角 8">
            <a:extLst>
              <a:ext uri="{FF2B5EF4-FFF2-40B4-BE49-F238E27FC236}">
                <a16:creationId xmlns:a16="http://schemas.microsoft.com/office/drawing/2014/main" id="{29B509DC-A6A4-C1DD-E167-E6BCEFCA2D99}"/>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54C7EC3A-6E9D-72C4-821C-3A825E6A6B43}"/>
              </a:ext>
            </a:extLst>
          </p:cNvPr>
          <p:cNvSpPr/>
          <p:nvPr/>
        </p:nvSpPr>
        <p:spPr>
          <a:xfrm>
            <a:off x="394957" y="3852557"/>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EE0AEFB1-FD3E-76FC-F903-47738918FF13}"/>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2BA1B994-947F-3C0F-4E11-CEEB24767970}"/>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68189CD5-088F-C5C1-85DC-A3F127EED720}"/>
              </a:ext>
            </a:extLst>
          </p:cNvPr>
          <p:cNvSpPr/>
          <p:nvPr/>
        </p:nvSpPr>
        <p:spPr>
          <a:xfrm rot="10800000">
            <a:off x="2221857" y="6287745"/>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216B7436-5D4C-F6DE-55EA-968C6ABE8BB8}"/>
              </a:ext>
            </a:extLst>
          </p:cNvPr>
          <p:cNvSpPr txBox="1"/>
          <p:nvPr/>
        </p:nvSpPr>
        <p:spPr>
          <a:xfrm>
            <a:off x="6003955" y="6196424"/>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C7ECBC1D-F855-4EB0-EA73-08EC90B6211B}"/>
              </a:ext>
            </a:extLst>
          </p:cNvPr>
          <p:cNvGrpSpPr/>
          <p:nvPr/>
        </p:nvGrpSpPr>
        <p:grpSpPr>
          <a:xfrm>
            <a:off x="685319" y="4238538"/>
            <a:ext cx="10870164" cy="2234885"/>
            <a:chOff x="1112747" y="4036236"/>
            <a:chExt cx="10870164" cy="2234885"/>
          </a:xfrm>
        </p:grpSpPr>
        <p:grpSp>
          <p:nvGrpSpPr>
            <p:cNvPr id="57" name="组合 56">
              <a:extLst>
                <a:ext uri="{FF2B5EF4-FFF2-40B4-BE49-F238E27FC236}">
                  <a16:creationId xmlns:a16="http://schemas.microsoft.com/office/drawing/2014/main" id="{3ABC72F1-165B-CC0A-7CD4-798F5D89B3DD}"/>
                </a:ext>
              </a:extLst>
            </p:cNvPr>
            <p:cNvGrpSpPr/>
            <p:nvPr/>
          </p:nvGrpSpPr>
          <p:grpSpPr>
            <a:xfrm>
              <a:off x="9002674" y="4036236"/>
              <a:ext cx="1233290" cy="1485298"/>
              <a:chOff x="8808628" y="3634724"/>
              <a:chExt cx="1233290" cy="1485298"/>
            </a:xfrm>
          </p:grpSpPr>
          <p:pic>
            <p:nvPicPr>
              <p:cNvPr id="43" name="图片 42">
                <a:extLst>
                  <a:ext uri="{FF2B5EF4-FFF2-40B4-BE49-F238E27FC236}">
                    <a16:creationId xmlns:a16="http://schemas.microsoft.com/office/drawing/2014/main" id="{026C4A1D-378E-E0A3-97A8-3A434BC3D8DE}"/>
                  </a:ext>
                </a:extLst>
              </p:cNvPr>
              <p:cNvPicPr>
                <a:picLocks noChangeAspect="1"/>
              </p:cNvPicPr>
              <p:nvPr/>
            </p:nvPicPr>
            <p:blipFill>
              <a:blip r:embed="rId3"/>
              <a:stretch>
                <a:fillRect/>
              </a:stretch>
            </p:blipFill>
            <p:spPr>
              <a:xfrm>
                <a:off x="8808628" y="3634724"/>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1E649388-3F68-B1C1-9C2A-34FAB12BCB7C}"/>
                      </a:ext>
                    </a:extLst>
                  </p:cNvPr>
                  <p:cNvSpPr txBox="1"/>
                  <p:nvPr/>
                </p:nvSpPr>
                <p:spPr>
                  <a:xfrm>
                    <a:off x="9281629" y="484302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1E649388-3F68-B1C1-9C2A-34FAB12BCB7C}"/>
                      </a:ext>
                    </a:extLst>
                  </p:cNvPr>
                  <p:cNvSpPr txBox="1">
                    <a:spLocks noRot="1" noChangeAspect="1" noMove="1" noResize="1" noEditPoints="1" noAdjustHandles="1" noChangeArrowheads="1" noChangeShapeType="1" noTextEdit="1"/>
                  </p:cNvSpPr>
                  <p:nvPr/>
                </p:nvSpPr>
                <p:spPr>
                  <a:xfrm>
                    <a:off x="9281629" y="4843023"/>
                    <a:ext cx="350808" cy="276999"/>
                  </a:xfrm>
                  <a:prstGeom prst="rect">
                    <a:avLst/>
                  </a:prstGeom>
                  <a:blipFill>
                    <a:blip r:embed="rId4"/>
                    <a:stretch>
                      <a:fillRect b="-15556"/>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0B8D2695-58BC-F95B-AA70-484ACE5D7981}"/>
                </a:ext>
              </a:extLst>
            </p:cNvPr>
            <p:cNvGrpSpPr/>
            <p:nvPr/>
          </p:nvGrpSpPr>
          <p:grpSpPr>
            <a:xfrm>
              <a:off x="10723454" y="4739496"/>
              <a:ext cx="1259457" cy="1531625"/>
              <a:chOff x="10276964" y="5039755"/>
              <a:chExt cx="1259457" cy="1531625"/>
            </a:xfrm>
          </p:grpSpPr>
          <p:pic>
            <p:nvPicPr>
              <p:cNvPr id="51" name="图片 50">
                <a:extLst>
                  <a:ext uri="{FF2B5EF4-FFF2-40B4-BE49-F238E27FC236}">
                    <a16:creationId xmlns:a16="http://schemas.microsoft.com/office/drawing/2014/main" id="{0CC1C90C-DC10-9CDA-D6F9-640721641C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17221" y="5039755"/>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EE0F5517-CF75-4EBE-0F94-F1F8A057295C}"/>
                      </a:ext>
                    </a:extLst>
                  </p:cNvPr>
                  <p:cNvSpPr txBox="1"/>
                  <p:nvPr/>
                </p:nvSpPr>
                <p:spPr>
                  <a:xfrm>
                    <a:off x="10276964" y="6294381"/>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𝑇</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𝑐𝑜𝑛𝑑𝑖𝑡𝑖𝑜𝑛</m:t>
                          </m:r>
                          <m:r>
                            <a:rPr lang="en-US" altLang="zh-CN" b="0" i="1" smtClean="0">
                              <a:solidFill>
                                <a:srgbClr val="FF0000"/>
                              </a:solidFill>
                              <a:latin typeface="Cambria Math" panose="02040503050406030204" pitchFamily="18" charset="0"/>
                            </a:rPr>
                            <m:t>)</m:t>
                          </m:r>
                        </m:oMath>
                      </m:oMathPara>
                    </a14:m>
                    <a:endParaRPr lang="en-US" altLang="zh-CN" b="0" dirty="0">
                      <a:solidFill>
                        <a:srgbClr val="FF0000"/>
                      </a:solidFill>
                    </a:endParaRPr>
                  </a:p>
                </p:txBody>
              </p:sp>
            </mc:Choice>
            <mc:Fallback xmlns="">
              <p:sp>
                <p:nvSpPr>
                  <p:cNvPr id="53" name="文本框 52">
                    <a:extLst>
                      <a:ext uri="{FF2B5EF4-FFF2-40B4-BE49-F238E27FC236}">
                        <a16:creationId xmlns:a16="http://schemas.microsoft.com/office/drawing/2014/main" id="{EE0F5517-CF75-4EBE-0F94-F1F8A057295C}"/>
                      </a:ext>
                    </a:extLst>
                  </p:cNvPr>
                  <p:cNvSpPr txBox="1">
                    <a:spLocks noRot="1" noChangeAspect="1" noMove="1" noResize="1" noEditPoints="1" noAdjustHandles="1" noChangeArrowheads="1" noChangeShapeType="1" noTextEdit="1"/>
                  </p:cNvSpPr>
                  <p:nvPr/>
                </p:nvSpPr>
                <p:spPr>
                  <a:xfrm>
                    <a:off x="10276964" y="6294381"/>
                    <a:ext cx="1219200" cy="276999"/>
                  </a:xfrm>
                  <a:prstGeom prst="rect">
                    <a:avLst/>
                  </a:prstGeom>
                  <a:blipFill>
                    <a:blip r:embed="rId6"/>
                    <a:stretch>
                      <a:fillRect l="-7000" t="-2174" r="-17500" b="-3260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D1F8D1F9-7DFB-F1C6-E68F-52A8A4D3704A}"/>
                    </a:ext>
                  </a:extLst>
                </p:cNvPr>
                <p:cNvSpPr txBox="1"/>
                <p:nvPr/>
              </p:nvSpPr>
              <p:spPr>
                <a:xfrm>
                  <a:off x="6025188" y="5465561"/>
                  <a:ext cx="17648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𝑤𝑖𝑡h</m:t>
                        </m:r>
                        <m:r>
                          <a:rPr lang="en-US" altLang="zh-CN" b="0" i="1" smtClean="0">
                            <a:solidFill>
                              <a:srgbClr val="FF0000"/>
                            </a:solidFill>
                            <a:latin typeface="Cambria Math" panose="02040503050406030204" pitchFamily="18" charset="0"/>
                          </a:rPr>
                          <m:t> </m:t>
                        </m:r>
                        <m:r>
                          <a:rPr lang="en-US" altLang="zh-CN" b="0" i="1" smtClean="0">
                            <a:solidFill>
                              <a:srgbClr val="FF0000"/>
                            </a:solidFill>
                            <a:latin typeface="Cambria Math" panose="02040503050406030204" pitchFamily="18" charset="0"/>
                          </a:rPr>
                          <m:t>𝑀𝐴𝐸</m:t>
                        </m:r>
                        <m:r>
                          <a:rPr lang="en-US" altLang="zh-CN" b="0" i="1" smtClean="0">
                            <a:solidFill>
                              <a:srgbClr val="FF0000"/>
                            </a:solidFill>
                            <a:latin typeface="Cambria Math" panose="02040503050406030204" pitchFamily="18" charset="0"/>
                          </a:rPr>
                          <m:t>)</m:t>
                        </m:r>
                      </m:oMath>
                    </m:oMathPara>
                  </a14:m>
                  <a:endParaRPr lang="en-US" altLang="zh-CN" b="0" dirty="0"/>
                </a:p>
              </p:txBody>
            </p:sp>
          </mc:Choice>
          <mc:Fallback xmlns="">
            <p:sp>
              <p:nvSpPr>
                <p:cNvPr id="55" name="文本框 54">
                  <a:extLst>
                    <a:ext uri="{FF2B5EF4-FFF2-40B4-BE49-F238E27FC236}">
                      <a16:creationId xmlns:a16="http://schemas.microsoft.com/office/drawing/2014/main" id="{D1F8D1F9-7DFB-F1C6-E68F-52A8A4D3704A}"/>
                    </a:ext>
                  </a:extLst>
                </p:cNvPr>
                <p:cNvSpPr txBox="1">
                  <a:spLocks noRot="1" noChangeAspect="1" noMove="1" noResize="1" noEditPoints="1" noAdjustHandles="1" noChangeArrowheads="1" noChangeShapeType="1" noTextEdit="1"/>
                </p:cNvSpPr>
                <p:nvPr/>
              </p:nvSpPr>
              <p:spPr>
                <a:xfrm>
                  <a:off x="6025188" y="5465561"/>
                  <a:ext cx="1764813" cy="276999"/>
                </a:xfrm>
                <a:prstGeom prst="rect">
                  <a:avLst/>
                </a:prstGeom>
                <a:blipFill>
                  <a:blip r:embed="rId7"/>
                  <a:stretch>
                    <a:fillRect l="-2414" t="-2222" r="-4138" b="-35556"/>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0FB40238-BB5B-5FB2-C480-139812B6CE32}"/>
                </a:ext>
              </a:extLst>
            </p:cNvPr>
            <p:cNvCxnSpPr>
              <a:cxnSpLocks/>
            </p:cNvCxnSpPr>
            <p:nvPr/>
          </p:nvCxnSpPr>
          <p:spPr>
            <a:xfrm flipH="1">
              <a:off x="8412844" y="4663626"/>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E9BA85C7-166A-47DE-4D93-C0B4D0CBFB9F}"/>
                </a:ext>
              </a:extLst>
            </p:cNvPr>
            <p:cNvCxnSpPr>
              <a:cxnSpLocks/>
            </p:cNvCxnSpPr>
            <p:nvPr/>
          </p:nvCxnSpPr>
          <p:spPr>
            <a:xfrm flipH="1">
              <a:off x="4703136" y="4647392"/>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B187248E-DCC8-052E-8409-5D025F27EF69}"/>
                </a:ext>
              </a:extLst>
            </p:cNvPr>
            <p:cNvPicPr>
              <a:picLocks noChangeAspect="1"/>
            </p:cNvPicPr>
            <p:nvPr/>
          </p:nvPicPr>
          <p:blipFill>
            <a:blip r:embed="rId8"/>
            <a:stretch>
              <a:fillRect/>
            </a:stretch>
          </p:blipFill>
          <p:spPr>
            <a:xfrm>
              <a:off x="3467073"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DAE8BCC8-394B-5142-EBB8-5FFC216DA133}"/>
                    </a:ext>
                  </a:extLst>
                </p:cNvPr>
                <p:cNvSpPr txBox="1"/>
                <p:nvPr/>
              </p:nvSpPr>
              <p:spPr>
                <a:xfrm>
                  <a:off x="3885120" y="5327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DAE8BCC8-394B-5142-EBB8-5FFC216DA133}"/>
                    </a:ext>
                  </a:extLst>
                </p:cNvPr>
                <p:cNvSpPr txBox="1">
                  <a:spLocks noRot="1" noChangeAspect="1" noMove="1" noResize="1" noEditPoints="1" noAdjustHandles="1" noChangeArrowheads="1" noChangeShapeType="1" noTextEdit="1"/>
                </p:cNvSpPr>
                <p:nvPr/>
              </p:nvSpPr>
              <p:spPr>
                <a:xfrm>
                  <a:off x="3885120" y="5327062"/>
                  <a:ext cx="350808" cy="276999"/>
                </a:xfrm>
                <a:prstGeom prst="rect">
                  <a:avLst/>
                </a:prstGeom>
                <a:blipFill>
                  <a:blip r:embed="rId9"/>
                  <a:stretch>
                    <a:fillRect l="-17241" r="-34483" b="-17778"/>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7C569EC6-3A3D-53A1-AF5B-0A85AE195A7C}"/>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FB86800A-3590-1958-4D56-8394ECD2FA46}"/>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90B36F16-0696-FEC2-7D35-AC4F291CA05B}"/>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A5DFA8B4-105E-A32F-56F1-AFE744EA80C5}"/>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6A858EA1-1D7E-75A2-EEC2-F57514E027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E0F79A6A-467C-8765-19C8-EEA939B93FE8}"/>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E0F79A6A-467C-8765-19C8-EEA939B93FE8}"/>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1"/>
                  <a:stretch>
                    <a:fillRect b="-15556"/>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F91240F3-DE8C-5A82-26BA-CA961D595FDE}"/>
              </a:ext>
            </a:extLst>
          </p:cNvPr>
          <p:cNvGrpSpPr/>
          <p:nvPr/>
        </p:nvGrpSpPr>
        <p:grpSpPr>
          <a:xfrm>
            <a:off x="696658" y="2000941"/>
            <a:ext cx="8290338" cy="1522093"/>
            <a:chOff x="620321" y="1838534"/>
            <a:chExt cx="8290338" cy="1522093"/>
          </a:xfrm>
        </p:grpSpPr>
        <p:grpSp>
          <p:nvGrpSpPr>
            <p:cNvPr id="52" name="组合 51">
              <a:extLst>
                <a:ext uri="{FF2B5EF4-FFF2-40B4-BE49-F238E27FC236}">
                  <a16:creationId xmlns:a16="http://schemas.microsoft.com/office/drawing/2014/main" id="{63C21572-5F20-0A56-BC0A-3F5F065C5CD8}"/>
                </a:ext>
              </a:extLst>
            </p:cNvPr>
            <p:cNvGrpSpPr/>
            <p:nvPr/>
          </p:nvGrpSpPr>
          <p:grpSpPr>
            <a:xfrm>
              <a:off x="620321" y="1838534"/>
              <a:ext cx="8290338" cy="1522093"/>
              <a:chOff x="1134934" y="1680170"/>
              <a:chExt cx="8290338" cy="1522093"/>
            </a:xfrm>
          </p:grpSpPr>
          <p:grpSp>
            <p:nvGrpSpPr>
              <p:cNvPr id="40" name="组合 39">
                <a:extLst>
                  <a:ext uri="{FF2B5EF4-FFF2-40B4-BE49-F238E27FC236}">
                    <a16:creationId xmlns:a16="http://schemas.microsoft.com/office/drawing/2014/main" id="{F0A10B28-6B8D-7715-F182-6D408B9543C4}"/>
                  </a:ext>
                </a:extLst>
              </p:cNvPr>
              <p:cNvGrpSpPr/>
              <p:nvPr/>
            </p:nvGrpSpPr>
            <p:grpSpPr>
              <a:xfrm>
                <a:off x="1134934" y="1680170"/>
                <a:ext cx="8290338" cy="1522093"/>
                <a:chOff x="674323" y="1994990"/>
                <a:chExt cx="8290338" cy="1522093"/>
              </a:xfrm>
            </p:grpSpPr>
            <p:cxnSp>
              <p:nvCxnSpPr>
                <p:cNvPr id="13" name="直接箭头连接符 12">
                  <a:extLst>
                    <a:ext uri="{FF2B5EF4-FFF2-40B4-BE49-F238E27FC236}">
                      <a16:creationId xmlns:a16="http://schemas.microsoft.com/office/drawing/2014/main" id="{53CE2781-D5D2-7557-CFEC-8178D9BE769F}"/>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7D4B820-CB56-6A28-6CE5-F19FA66B2241}"/>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A7D4B820-CB56-6A28-6CE5-F19FA66B2241}"/>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2"/>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7B88A34-E913-6447-C5DC-3C96F6DA0ADC}"/>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C7B88A34-E913-6447-C5DC-3C96F6DA0ADC}"/>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3"/>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4C60EF95-86BE-4E1F-5835-738333AD0AC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5A9A02B8-5F0F-CBE3-B564-D66570373C7C}"/>
                    </a:ext>
                  </a:extLst>
                </p:cNvPr>
                <p:cNvPicPr>
                  <a:picLocks noChangeAspect="1"/>
                </p:cNvPicPr>
                <p:nvPr/>
              </p:nvPicPr>
              <p:blipFill>
                <a:blip r:embed="rId15">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p:pic>
              <p:nvPicPr>
                <p:cNvPr id="25" name="图片 24">
                  <a:extLst>
                    <a:ext uri="{FF2B5EF4-FFF2-40B4-BE49-F238E27FC236}">
                      <a16:creationId xmlns:a16="http://schemas.microsoft.com/office/drawing/2014/main" id="{B04A876C-5673-EF62-2865-A1760665A512}"/>
                    </a:ext>
                  </a:extLst>
                </p:cNvPr>
                <p:cNvPicPr>
                  <a:picLocks noChangeAspect="1"/>
                </p:cNvPicPr>
                <p:nvPr/>
              </p:nvPicPr>
              <p:blipFill>
                <a:blip r:embed="rId3"/>
                <a:stretch>
                  <a:fillRect/>
                </a:stretch>
              </p:blipFill>
              <p:spPr>
                <a:xfrm>
                  <a:off x="7731371" y="2017772"/>
                  <a:ext cx="1233290" cy="1222312"/>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F3851361-B3A0-CAEE-0562-64EBBCC6011D}"/>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F3851361-B3A0-CAEE-0562-64EBBCC6011D}"/>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6"/>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8CC6426A-F5B6-8A32-976A-419AA8D9ABFF}"/>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332D8671-CFCE-3E95-DA90-08B4A745D2C6}"/>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072F1F80-ACA8-5C27-DD84-9A2B194BCDE7}"/>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926DFCFE-C699-D3E4-F838-49FDB6A61963}"/>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F1B1096-8B7F-A8B3-B3D8-D2B915B4F176}"/>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08635CD8-FB64-D272-2E27-9E1700AE6BE9}"/>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1C351120-563D-8E6A-6660-C4E7D96D5D92}"/>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8DBB45D5-31A5-F89B-B6E1-CE208A76A5A6}"/>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37FA7354-5628-83DB-BFB6-B3764383DEA0}"/>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37FA7354-5628-83DB-BFB6-B3764383DEA0}"/>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7"/>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8F42F62D-E5C6-A590-B358-D7EC8324BB28}"/>
                </a:ext>
              </a:extLst>
            </p:cNvPr>
            <p:cNvPicPr>
              <a:picLocks noChangeAspect="1"/>
            </p:cNvPicPr>
            <p:nvPr/>
          </p:nvPicPr>
          <p:blipFill>
            <a:blip r:embed="rId18">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7E9742F1-5856-8C27-E368-264CA60B8CE1}"/>
              </a:ext>
            </a:extLst>
          </p:cNvPr>
          <p:cNvSpPr/>
          <p:nvPr/>
        </p:nvSpPr>
        <p:spPr>
          <a:xfrm>
            <a:off x="9538799" y="2191311"/>
            <a:ext cx="2302029" cy="799514"/>
          </a:xfrm>
          <a:prstGeom prst="rect">
            <a:avLst/>
          </a:prstGeom>
          <a:solidFill>
            <a:srgbClr val="256090"/>
          </a:solidFill>
        </p:spPr>
        <p:txBody>
          <a:bodyPr wrap="square" anchor="ctr" anchorCtr="0">
            <a:spAutoFit/>
          </a:bodyPr>
          <a:lstStyle/>
          <a:p>
            <a:pPr lvl="0" algn="ctr">
              <a:lnSpc>
                <a:spcPct val="120000"/>
              </a:lnSpc>
              <a:defRPr/>
            </a:pPr>
            <a:r>
              <a:rPr lang="zh-CN" altLang="en-US"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③</a:t>
            </a:r>
            <a:r>
              <a:rPr lang="en-US" altLang="zh-CN" sz="2000" kern="0" noProof="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MAE</a:t>
            </a:r>
          </a:p>
          <a:p>
            <a:pPr lvl="0" algn="ctr">
              <a:lnSpc>
                <a:spcPct val="120000"/>
              </a:lnSpc>
              <a:defRPr/>
            </a:pPr>
            <a:r>
              <a:rPr kumimoji="0" lang="zh-CN" altLang="en-US" sz="2000" b="0" i="0" u="none" strike="noStrike" kern="0" cap="none" spc="0" normalizeH="0" dirty="0">
                <a:ln>
                  <a:noFill/>
                </a:ln>
                <a:solidFill>
                  <a:schemeClr val="accent5">
                    <a:lumMod val="20000"/>
                    <a:lumOff val="8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加强特征提取能力</a:t>
            </a:r>
            <a:endParaRPr kumimoji="0" lang="en-US" altLang="zh-CN" sz="2000" b="0" i="0" u="none" strike="noStrike" kern="0" cap="none" spc="0" normalizeH="0" noProof="0" dirty="0">
              <a:ln>
                <a:noFill/>
              </a:ln>
              <a:solidFill>
                <a:schemeClr val="accent5">
                  <a:lumMod val="20000"/>
                  <a:lumOff val="8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cxnSp>
        <p:nvCxnSpPr>
          <p:cNvPr id="97" name="连接符: 肘形 96">
            <a:extLst>
              <a:ext uri="{FF2B5EF4-FFF2-40B4-BE49-F238E27FC236}">
                <a16:creationId xmlns:a16="http://schemas.microsoft.com/office/drawing/2014/main" id="{6673016D-4A6C-FE44-DB71-A1DC86EAE46B}"/>
              </a:ext>
            </a:extLst>
          </p:cNvPr>
          <p:cNvCxnSpPr>
            <a:cxnSpLocks/>
          </p:cNvCxnSpPr>
          <p:nvPr/>
        </p:nvCxnSpPr>
        <p:spPr>
          <a:xfrm rot="16200000" flipV="1">
            <a:off x="4518198" y="4913915"/>
            <a:ext cx="358024" cy="283232"/>
          </a:xfrm>
          <a:prstGeom prst="bentConnector3">
            <a:avLst>
              <a:gd name="adj1" fmla="val 663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连接符: 肘形 4">
            <a:extLst>
              <a:ext uri="{FF2B5EF4-FFF2-40B4-BE49-F238E27FC236}">
                <a16:creationId xmlns:a16="http://schemas.microsoft.com/office/drawing/2014/main" id="{98419E47-2869-3B6E-6732-42B82177AECE}"/>
              </a:ext>
            </a:extLst>
          </p:cNvPr>
          <p:cNvCxnSpPr>
            <a:cxnSpLocks/>
          </p:cNvCxnSpPr>
          <p:nvPr/>
        </p:nvCxnSpPr>
        <p:spPr>
          <a:xfrm rot="10800000">
            <a:off x="7985657" y="5234544"/>
            <a:ext cx="2220650" cy="651091"/>
          </a:xfrm>
          <a:prstGeom prst="bentConnector3">
            <a:avLst>
              <a:gd name="adj1" fmla="val 82942"/>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B25E068-2547-BBE0-97F7-BBD6AA659DFD}"/>
                  </a:ext>
                </a:extLst>
              </p:cNvPr>
              <p:cNvSpPr txBox="1"/>
              <p:nvPr/>
            </p:nvSpPr>
            <p:spPr>
              <a:xfrm>
                <a:off x="2175445" y="4424345"/>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𝐷𝐷𝐼𝑀</m:t>
                      </m:r>
                    </m:oMath>
                  </m:oMathPara>
                </a14:m>
                <a:endParaRPr lang="en-US" altLang="zh-CN" b="0" dirty="0"/>
              </a:p>
            </p:txBody>
          </p:sp>
        </mc:Choice>
        <mc:Fallback xmlns="">
          <p:sp>
            <p:nvSpPr>
              <p:cNvPr id="3" name="文本框 2">
                <a:extLst>
                  <a:ext uri="{FF2B5EF4-FFF2-40B4-BE49-F238E27FC236}">
                    <a16:creationId xmlns:a16="http://schemas.microsoft.com/office/drawing/2014/main" id="{4B25E068-2547-BBE0-97F7-BBD6AA659DFD}"/>
                  </a:ext>
                </a:extLst>
              </p:cNvPr>
              <p:cNvSpPr txBox="1">
                <a:spLocks noRot="1" noChangeAspect="1" noMove="1" noResize="1" noEditPoints="1" noAdjustHandles="1" noChangeArrowheads="1" noChangeShapeType="1" noTextEdit="1"/>
              </p:cNvSpPr>
              <p:nvPr/>
            </p:nvSpPr>
            <p:spPr>
              <a:xfrm>
                <a:off x="2175445" y="4424345"/>
                <a:ext cx="641806" cy="276999"/>
              </a:xfrm>
              <a:prstGeom prst="rect">
                <a:avLst/>
              </a:prstGeom>
              <a:blipFill>
                <a:blip r:embed="rId11"/>
                <a:stretch>
                  <a:fillRect l="-10476" r="-8571"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470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13081-7D1A-1FFF-1B49-6ACA981D9327}"/>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BB5EA0A-014A-D5B4-929D-8A54DFA9A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270CFB26-61CB-30DC-7EE3-5781B73740C7}"/>
              </a:ext>
            </a:extLst>
          </p:cNvPr>
          <p:cNvSpPr>
            <a:spLocks noGrp="1"/>
          </p:cNvSpPr>
          <p:nvPr>
            <p:ph type="title"/>
          </p:nvPr>
        </p:nvSpPr>
        <p:spPr/>
        <p:txBody>
          <a:bodyPr/>
          <a:lstStyle/>
          <a:p>
            <a:r>
              <a:rPr lang="zh-CN" altLang="en-US" dirty="0"/>
              <a:t>研究方法 </a:t>
            </a:r>
            <a:r>
              <a:rPr lang="en-US" altLang="zh-CN" dirty="0"/>
              <a:t>-- SST-Diffusion</a:t>
            </a:r>
            <a:endParaRPr lang="zh-CN" altLang="en-US" dirty="0"/>
          </a:p>
        </p:txBody>
      </p:sp>
      <p:sp>
        <p:nvSpPr>
          <p:cNvPr id="9" name="矩形: 圆角 8">
            <a:extLst>
              <a:ext uri="{FF2B5EF4-FFF2-40B4-BE49-F238E27FC236}">
                <a16:creationId xmlns:a16="http://schemas.microsoft.com/office/drawing/2014/main" id="{AD7ACC2A-9942-9707-8B3F-543462A16E76}"/>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3B17890F-DDEB-5AA4-99DA-E60060536E5B}"/>
              </a:ext>
            </a:extLst>
          </p:cNvPr>
          <p:cNvSpPr/>
          <p:nvPr/>
        </p:nvSpPr>
        <p:spPr>
          <a:xfrm>
            <a:off x="394957" y="3852557"/>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C20490D6-4BD3-045A-B49A-AB75141FCDC3}"/>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BFAA9341-8961-C022-CD80-5602E36D2207}"/>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766804A6-F920-1215-0CCB-AAD20734F14A}"/>
              </a:ext>
            </a:extLst>
          </p:cNvPr>
          <p:cNvSpPr/>
          <p:nvPr/>
        </p:nvSpPr>
        <p:spPr>
          <a:xfrm rot="10800000">
            <a:off x="2221857" y="6287745"/>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3E197353-6EE1-22CB-C0B9-0D8D1507A732}"/>
              </a:ext>
            </a:extLst>
          </p:cNvPr>
          <p:cNvSpPr txBox="1"/>
          <p:nvPr/>
        </p:nvSpPr>
        <p:spPr>
          <a:xfrm>
            <a:off x="6003955" y="6196424"/>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2569CC52-167F-9173-07C7-5AA3FFA62C24}"/>
              </a:ext>
            </a:extLst>
          </p:cNvPr>
          <p:cNvGrpSpPr/>
          <p:nvPr/>
        </p:nvGrpSpPr>
        <p:grpSpPr>
          <a:xfrm>
            <a:off x="685319" y="4238538"/>
            <a:ext cx="11090266" cy="2448476"/>
            <a:chOff x="1112747" y="4036236"/>
            <a:chExt cx="11090266" cy="2448476"/>
          </a:xfrm>
        </p:grpSpPr>
        <p:grpSp>
          <p:nvGrpSpPr>
            <p:cNvPr id="57" name="组合 56">
              <a:extLst>
                <a:ext uri="{FF2B5EF4-FFF2-40B4-BE49-F238E27FC236}">
                  <a16:creationId xmlns:a16="http://schemas.microsoft.com/office/drawing/2014/main" id="{D7A506DF-C914-0575-5A49-4565F47A73EE}"/>
                </a:ext>
              </a:extLst>
            </p:cNvPr>
            <p:cNvGrpSpPr/>
            <p:nvPr/>
          </p:nvGrpSpPr>
          <p:grpSpPr>
            <a:xfrm>
              <a:off x="9002674" y="4036236"/>
              <a:ext cx="1233290" cy="1485298"/>
              <a:chOff x="8808628" y="3634724"/>
              <a:chExt cx="1233290" cy="1485298"/>
            </a:xfrm>
          </p:grpSpPr>
          <p:pic>
            <p:nvPicPr>
              <p:cNvPr id="43" name="图片 42">
                <a:extLst>
                  <a:ext uri="{FF2B5EF4-FFF2-40B4-BE49-F238E27FC236}">
                    <a16:creationId xmlns:a16="http://schemas.microsoft.com/office/drawing/2014/main" id="{C87C91A8-8BF3-D93A-7D88-B4B19B406F69}"/>
                  </a:ext>
                </a:extLst>
              </p:cNvPr>
              <p:cNvPicPr>
                <a:picLocks noChangeAspect="1"/>
              </p:cNvPicPr>
              <p:nvPr/>
            </p:nvPicPr>
            <p:blipFill>
              <a:blip r:embed="rId3"/>
              <a:stretch>
                <a:fillRect/>
              </a:stretch>
            </p:blipFill>
            <p:spPr>
              <a:xfrm>
                <a:off x="8808628" y="3634724"/>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7F71525-4FA1-1AEA-A146-E266AEE77447}"/>
                      </a:ext>
                    </a:extLst>
                  </p:cNvPr>
                  <p:cNvSpPr txBox="1"/>
                  <p:nvPr/>
                </p:nvSpPr>
                <p:spPr>
                  <a:xfrm>
                    <a:off x="9281629" y="484302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87F71525-4FA1-1AEA-A146-E266AEE77447}"/>
                      </a:ext>
                    </a:extLst>
                  </p:cNvPr>
                  <p:cNvSpPr txBox="1">
                    <a:spLocks noRot="1" noChangeAspect="1" noMove="1" noResize="1" noEditPoints="1" noAdjustHandles="1" noChangeArrowheads="1" noChangeShapeType="1" noTextEdit="1"/>
                  </p:cNvSpPr>
                  <p:nvPr/>
                </p:nvSpPr>
                <p:spPr>
                  <a:xfrm>
                    <a:off x="9281629" y="4843023"/>
                    <a:ext cx="350808" cy="276999"/>
                  </a:xfrm>
                  <a:prstGeom prst="rect">
                    <a:avLst/>
                  </a:prstGeom>
                  <a:blipFill>
                    <a:blip r:embed="rId4"/>
                    <a:stretch>
                      <a:fillRect b="-15556"/>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278082EC-6B8E-FE8D-60AE-33CC8EA4DA8B}"/>
                </a:ext>
              </a:extLst>
            </p:cNvPr>
            <p:cNvGrpSpPr/>
            <p:nvPr/>
          </p:nvGrpSpPr>
          <p:grpSpPr>
            <a:xfrm>
              <a:off x="10943556" y="4953087"/>
              <a:ext cx="1259457" cy="1531625"/>
              <a:chOff x="10497066" y="5253346"/>
              <a:chExt cx="1259457" cy="1531625"/>
            </a:xfrm>
          </p:grpSpPr>
          <p:pic>
            <p:nvPicPr>
              <p:cNvPr id="51" name="图片 50">
                <a:extLst>
                  <a:ext uri="{FF2B5EF4-FFF2-40B4-BE49-F238E27FC236}">
                    <a16:creationId xmlns:a16="http://schemas.microsoft.com/office/drawing/2014/main" id="{EF0FF6DF-59BB-D2E4-2EDD-FF33ECD78D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37323" y="5253346"/>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6F886AE3-F13B-6DEA-2673-60E9AD00EFAF}"/>
                      </a:ext>
                    </a:extLst>
                  </p:cNvPr>
                  <p:cNvSpPr txBox="1"/>
                  <p:nvPr/>
                </p:nvSpPr>
                <p:spPr>
                  <a:xfrm>
                    <a:off x="10497066" y="6507972"/>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𝑐𝑜𝑛𝑑𝑖𝑡𝑖𝑜𝑛</m:t>
                          </m:r>
                          <m:r>
                            <a:rPr lang="en-US" altLang="zh-CN" b="0" i="1" smtClean="0">
                              <a:latin typeface="Cambria Math" panose="02040503050406030204" pitchFamily="18" charset="0"/>
                            </a:rPr>
                            <m:t>)</m:t>
                          </m:r>
                        </m:oMath>
                      </m:oMathPara>
                    </a14:m>
                    <a:endParaRPr lang="en-US" altLang="zh-CN" b="0" dirty="0"/>
                  </a:p>
                </p:txBody>
              </p:sp>
            </mc:Choice>
            <mc:Fallback xmlns="">
              <p:sp>
                <p:nvSpPr>
                  <p:cNvPr id="53" name="文本框 52">
                    <a:extLst>
                      <a:ext uri="{FF2B5EF4-FFF2-40B4-BE49-F238E27FC236}">
                        <a16:creationId xmlns:a16="http://schemas.microsoft.com/office/drawing/2014/main" id="{6F886AE3-F13B-6DEA-2673-60E9AD00EFAF}"/>
                      </a:ext>
                    </a:extLst>
                  </p:cNvPr>
                  <p:cNvSpPr txBox="1">
                    <a:spLocks noRot="1" noChangeAspect="1" noMove="1" noResize="1" noEditPoints="1" noAdjustHandles="1" noChangeArrowheads="1" noChangeShapeType="1" noTextEdit="1"/>
                  </p:cNvSpPr>
                  <p:nvPr/>
                </p:nvSpPr>
                <p:spPr>
                  <a:xfrm>
                    <a:off x="10497066" y="6507972"/>
                    <a:ext cx="1219200" cy="276999"/>
                  </a:xfrm>
                  <a:prstGeom prst="rect">
                    <a:avLst/>
                  </a:prstGeom>
                  <a:blipFill>
                    <a:blip r:embed="rId6"/>
                    <a:stretch>
                      <a:fillRect l="-6500" t="-4444" r="-17500" b="-3555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92A2B662-1ABC-40F3-BFF7-D4264862BBC4}"/>
                    </a:ext>
                  </a:extLst>
                </p:cNvPr>
                <p:cNvSpPr txBox="1"/>
                <p:nvPr/>
              </p:nvSpPr>
              <p:spPr>
                <a:xfrm>
                  <a:off x="6025188" y="5465561"/>
                  <a:ext cx="17648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r>
                          <a:rPr lang="en-US" altLang="zh-CN" b="0" i="1" smtClean="0">
                            <a:latin typeface="Cambria Math" panose="02040503050406030204" pitchFamily="18" charset="0"/>
                          </a:rPr>
                          <m:t>(</m:t>
                        </m:r>
                        <m:r>
                          <a:rPr lang="en-US" altLang="zh-CN" b="0" i="1" smtClean="0">
                            <a:latin typeface="Cambria Math" panose="02040503050406030204" pitchFamily="18" charset="0"/>
                          </a:rPr>
                          <m:t>𝑤𝑖𝑡h</m:t>
                        </m:r>
                        <m:r>
                          <a:rPr lang="en-US" altLang="zh-CN" b="0" i="1" smtClean="0">
                            <a:latin typeface="Cambria Math" panose="02040503050406030204" pitchFamily="18" charset="0"/>
                          </a:rPr>
                          <m:t> </m:t>
                        </m:r>
                        <m:r>
                          <a:rPr lang="en-US" altLang="zh-CN" b="0" i="1" smtClean="0">
                            <a:latin typeface="Cambria Math" panose="02040503050406030204" pitchFamily="18" charset="0"/>
                          </a:rPr>
                          <m:t>𝑀𝐴𝐸</m:t>
                        </m:r>
                        <m:r>
                          <a:rPr lang="en-US" altLang="zh-CN" b="0" i="1" smtClean="0">
                            <a:latin typeface="Cambria Math" panose="02040503050406030204" pitchFamily="18" charset="0"/>
                          </a:rPr>
                          <m:t>)</m:t>
                        </m:r>
                      </m:oMath>
                    </m:oMathPara>
                  </a14:m>
                  <a:endParaRPr lang="en-US" altLang="zh-CN" b="0" dirty="0"/>
                </a:p>
              </p:txBody>
            </p:sp>
          </mc:Choice>
          <mc:Fallback xmlns="">
            <p:sp>
              <p:nvSpPr>
                <p:cNvPr id="55" name="文本框 54">
                  <a:extLst>
                    <a:ext uri="{FF2B5EF4-FFF2-40B4-BE49-F238E27FC236}">
                      <a16:creationId xmlns:a16="http://schemas.microsoft.com/office/drawing/2014/main" id="{92A2B662-1ABC-40F3-BFF7-D4264862BBC4}"/>
                    </a:ext>
                  </a:extLst>
                </p:cNvPr>
                <p:cNvSpPr txBox="1">
                  <a:spLocks noRot="1" noChangeAspect="1" noMove="1" noResize="1" noEditPoints="1" noAdjustHandles="1" noChangeArrowheads="1" noChangeShapeType="1" noTextEdit="1"/>
                </p:cNvSpPr>
                <p:nvPr/>
              </p:nvSpPr>
              <p:spPr>
                <a:xfrm>
                  <a:off x="6025188" y="5465561"/>
                  <a:ext cx="1764813" cy="276999"/>
                </a:xfrm>
                <a:prstGeom prst="rect">
                  <a:avLst/>
                </a:prstGeom>
                <a:blipFill>
                  <a:blip r:embed="rId7"/>
                  <a:stretch>
                    <a:fillRect l="-2414" t="-2222" r="-4138" b="-35556"/>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C450BD63-E43B-1F45-1414-06EA0E257AF1}"/>
                </a:ext>
              </a:extLst>
            </p:cNvPr>
            <p:cNvCxnSpPr>
              <a:cxnSpLocks/>
            </p:cNvCxnSpPr>
            <p:nvPr/>
          </p:nvCxnSpPr>
          <p:spPr>
            <a:xfrm flipH="1">
              <a:off x="8412844" y="4663626"/>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2F9CED09-410E-1510-9760-E6D0459C94A4}"/>
                </a:ext>
              </a:extLst>
            </p:cNvPr>
            <p:cNvCxnSpPr>
              <a:cxnSpLocks/>
            </p:cNvCxnSpPr>
            <p:nvPr/>
          </p:nvCxnSpPr>
          <p:spPr>
            <a:xfrm flipH="1">
              <a:off x="4703136" y="4647392"/>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2FE2ACE7-400B-CD3F-CCB3-9A72BEA77F8A}"/>
                </a:ext>
              </a:extLst>
            </p:cNvPr>
            <p:cNvPicPr>
              <a:picLocks noChangeAspect="1"/>
            </p:cNvPicPr>
            <p:nvPr/>
          </p:nvPicPr>
          <p:blipFill>
            <a:blip r:embed="rId8"/>
            <a:stretch>
              <a:fillRect/>
            </a:stretch>
          </p:blipFill>
          <p:spPr>
            <a:xfrm>
              <a:off x="3467073"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ECDB04D9-4C64-222E-9B71-0315F7EA089A}"/>
                    </a:ext>
                  </a:extLst>
                </p:cNvPr>
                <p:cNvSpPr txBox="1"/>
                <p:nvPr/>
              </p:nvSpPr>
              <p:spPr>
                <a:xfrm>
                  <a:off x="3885120" y="5327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ECDB04D9-4C64-222E-9B71-0315F7EA089A}"/>
                    </a:ext>
                  </a:extLst>
                </p:cNvPr>
                <p:cNvSpPr txBox="1">
                  <a:spLocks noRot="1" noChangeAspect="1" noMove="1" noResize="1" noEditPoints="1" noAdjustHandles="1" noChangeArrowheads="1" noChangeShapeType="1" noTextEdit="1"/>
                </p:cNvSpPr>
                <p:nvPr/>
              </p:nvSpPr>
              <p:spPr>
                <a:xfrm>
                  <a:off x="3885120" y="5327062"/>
                  <a:ext cx="350808" cy="276999"/>
                </a:xfrm>
                <a:prstGeom prst="rect">
                  <a:avLst/>
                </a:prstGeom>
                <a:blipFill>
                  <a:blip r:embed="rId9"/>
                  <a:stretch>
                    <a:fillRect l="-17241" r="-34483" b="-17778"/>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46248EF8-6276-EEDE-E9B3-36EE89452D36}"/>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288FC693-505E-72D3-6E8A-B1ADD6A940E2}"/>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ADF24460-F660-B2BA-08D0-E179335EEE18}"/>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B9816E0D-867B-995C-A899-50366E4432EE}"/>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AF81D968-651E-6C0E-97D0-105ECF94A02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DCDEF283-3A00-E9BD-1DF5-0B0FDED58A20}"/>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DCDEF283-3A00-E9BD-1DF5-0B0FDED58A20}"/>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1"/>
                  <a:stretch>
                    <a:fillRect b="-15556"/>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9546E0F1-DA79-6990-4EA4-AFEBE43D5F12}"/>
              </a:ext>
            </a:extLst>
          </p:cNvPr>
          <p:cNvGrpSpPr/>
          <p:nvPr/>
        </p:nvGrpSpPr>
        <p:grpSpPr>
          <a:xfrm>
            <a:off x="696658" y="2000941"/>
            <a:ext cx="8290338" cy="1522093"/>
            <a:chOff x="620321" y="1838534"/>
            <a:chExt cx="8290338" cy="1522093"/>
          </a:xfrm>
        </p:grpSpPr>
        <p:grpSp>
          <p:nvGrpSpPr>
            <p:cNvPr id="52" name="组合 51">
              <a:extLst>
                <a:ext uri="{FF2B5EF4-FFF2-40B4-BE49-F238E27FC236}">
                  <a16:creationId xmlns:a16="http://schemas.microsoft.com/office/drawing/2014/main" id="{BB7E01DF-4928-975D-DCD6-4E27826349ED}"/>
                </a:ext>
              </a:extLst>
            </p:cNvPr>
            <p:cNvGrpSpPr/>
            <p:nvPr/>
          </p:nvGrpSpPr>
          <p:grpSpPr>
            <a:xfrm>
              <a:off x="620321" y="1838534"/>
              <a:ext cx="8290338" cy="1522093"/>
              <a:chOff x="1134934" y="1680170"/>
              <a:chExt cx="8290338" cy="1522093"/>
            </a:xfrm>
          </p:grpSpPr>
          <p:grpSp>
            <p:nvGrpSpPr>
              <p:cNvPr id="40" name="组合 39">
                <a:extLst>
                  <a:ext uri="{FF2B5EF4-FFF2-40B4-BE49-F238E27FC236}">
                    <a16:creationId xmlns:a16="http://schemas.microsoft.com/office/drawing/2014/main" id="{0D1269F0-436E-CFAF-6968-98D1D98B3B6B}"/>
                  </a:ext>
                </a:extLst>
              </p:cNvPr>
              <p:cNvGrpSpPr/>
              <p:nvPr/>
            </p:nvGrpSpPr>
            <p:grpSpPr>
              <a:xfrm>
                <a:off x="1134934" y="1680170"/>
                <a:ext cx="8290338" cy="1522093"/>
                <a:chOff x="674323" y="1994990"/>
                <a:chExt cx="8290338" cy="1522093"/>
              </a:xfrm>
            </p:grpSpPr>
            <p:cxnSp>
              <p:nvCxnSpPr>
                <p:cNvPr id="13" name="直接箭头连接符 12">
                  <a:extLst>
                    <a:ext uri="{FF2B5EF4-FFF2-40B4-BE49-F238E27FC236}">
                      <a16:creationId xmlns:a16="http://schemas.microsoft.com/office/drawing/2014/main" id="{43D58B65-E9F8-63B7-3C35-E10AC9184F58}"/>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C65FCCF-5724-FC9A-BBBC-F3AB10288262}"/>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8C65FCCF-5724-FC9A-BBBC-F3AB10288262}"/>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2"/>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FD70A18-E154-962F-6F41-DC4A4BE9ACEB}"/>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AFD70A18-E154-962F-6F41-DC4A4BE9ACEB}"/>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3"/>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7BBD910A-9273-A3E5-C69D-BA361137DF2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E6AEC181-D306-990B-D9EC-331D3B49F6DC}"/>
                    </a:ext>
                  </a:extLst>
                </p:cNvPr>
                <p:cNvPicPr>
                  <a:picLocks noChangeAspect="1"/>
                </p:cNvPicPr>
                <p:nvPr/>
              </p:nvPicPr>
              <p:blipFill>
                <a:blip r:embed="rId15">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p:pic>
              <p:nvPicPr>
                <p:cNvPr id="25" name="图片 24">
                  <a:extLst>
                    <a:ext uri="{FF2B5EF4-FFF2-40B4-BE49-F238E27FC236}">
                      <a16:creationId xmlns:a16="http://schemas.microsoft.com/office/drawing/2014/main" id="{37F18746-410B-8310-3E47-0443255BF5FF}"/>
                    </a:ext>
                  </a:extLst>
                </p:cNvPr>
                <p:cNvPicPr>
                  <a:picLocks noChangeAspect="1"/>
                </p:cNvPicPr>
                <p:nvPr/>
              </p:nvPicPr>
              <p:blipFill>
                <a:blip r:embed="rId3"/>
                <a:stretch>
                  <a:fillRect/>
                </a:stretch>
              </p:blipFill>
              <p:spPr>
                <a:xfrm>
                  <a:off x="7731371" y="2017772"/>
                  <a:ext cx="1233290" cy="1222312"/>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C459D14-E176-A9DF-9FC8-2CFBC9890B1C}"/>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EC459D14-E176-A9DF-9FC8-2CFBC9890B1C}"/>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6"/>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0A461537-F178-14C1-E101-5DB8493E4F86}"/>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4223E085-F64C-ABD5-D6BD-BAACD67E5361}"/>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6A5C9738-EA90-9BB8-0CE2-77E37F4A0D29}"/>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3C542C27-3B16-F687-6D11-D2DE2B91166F}"/>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CD9251B5-02C8-140E-A7F1-98D3FF3E3AA6}"/>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BD49015B-C7AC-52E2-F2B6-ABFE3193C099}"/>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C9B6616C-7709-3A2B-E65A-C3F254EEFD98}"/>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1A7EE3FE-3A0B-559D-8985-3EFB6F608330}"/>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F4334E4-9655-2E04-3B40-1C029B34E97D}"/>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EF4334E4-9655-2E04-3B40-1C029B34E97D}"/>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7"/>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F83B22FC-2688-CD12-A64B-ED5A6EB282D3}"/>
                </a:ext>
              </a:extLst>
            </p:cNvPr>
            <p:cNvPicPr>
              <a:picLocks noChangeAspect="1"/>
            </p:cNvPicPr>
            <p:nvPr/>
          </p:nvPicPr>
          <p:blipFill>
            <a:blip r:embed="rId18">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7AC04FFD-0370-A3ED-630A-8C60215D63DB}"/>
              </a:ext>
            </a:extLst>
          </p:cNvPr>
          <p:cNvSpPr/>
          <p:nvPr/>
        </p:nvSpPr>
        <p:spPr>
          <a:xfrm>
            <a:off x="9623164" y="1970617"/>
            <a:ext cx="2096432" cy="1168846"/>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④条件反加噪和集成均值</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a:p>
            <a:pPr lvl="0" algn="ctr">
              <a:lnSpc>
                <a:spcPct val="120000"/>
              </a:lnSpc>
              <a:defRPr/>
            </a:pPr>
            <a:r>
              <a:rPr lang="zh-CN" altLang="en-US" sz="2000" kern="0" dirty="0">
                <a:solidFill>
                  <a:schemeClr val="accent5">
                    <a:lumMod val="20000"/>
                    <a:lumOff val="80000"/>
                  </a:schemeClr>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解决不稳定性</a:t>
            </a:r>
            <a:endParaRPr lang="en-US" altLang="zh-CN" sz="2000" kern="0" dirty="0">
              <a:solidFill>
                <a:schemeClr val="accent5">
                  <a:lumMod val="20000"/>
                  <a:lumOff val="80000"/>
                </a:schemeClr>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cxnSp>
        <p:nvCxnSpPr>
          <p:cNvPr id="97" name="连接符: 肘形 96">
            <a:extLst>
              <a:ext uri="{FF2B5EF4-FFF2-40B4-BE49-F238E27FC236}">
                <a16:creationId xmlns:a16="http://schemas.microsoft.com/office/drawing/2014/main" id="{19564C31-71A0-678C-65DC-89710C3C8363}"/>
              </a:ext>
            </a:extLst>
          </p:cNvPr>
          <p:cNvCxnSpPr>
            <a:cxnSpLocks/>
          </p:cNvCxnSpPr>
          <p:nvPr/>
        </p:nvCxnSpPr>
        <p:spPr>
          <a:xfrm rot="16200000" flipV="1">
            <a:off x="4518198" y="4913915"/>
            <a:ext cx="358024" cy="283232"/>
          </a:xfrm>
          <a:prstGeom prst="bentConnector3">
            <a:avLst>
              <a:gd name="adj1" fmla="val 663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连接符: 肘形 4">
            <a:extLst>
              <a:ext uri="{FF2B5EF4-FFF2-40B4-BE49-F238E27FC236}">
                <a16:creationId xmlns:a16="http://schemas.microsoft.com/office/drawing/2014/main" id="{68A85AD1-474F-D765-D164-963DE651A0AD}"/>
              </a:ext>
            </a:extLst>
          </p:cNvPr>
          <p:cNvCxnSpPr>
            <a:cxnSpLocks/>
          </p:cNvCxnSpPr>
          <p:nvPr/>
        </p:nvCxnSpPr>
        <p:spPr>
          <a:xfrm rot="10800000">
            <a:off x="7985657" y="5234544"/>
            <a:ext cx="2220650" cy="651091"/>
          </a:xfrm>
          <a:prstGeom prst="bentConnector3">
            <a:avLst>
              <a:gd name="adj1" fmla="val 82942"/>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4C6468E-B0BD-527C-9D6D-DE69B33874AF}"/>
                  </a:ext>
                </a:extLst>
              </p:cNvPr>
              <p:cNvSpPr txBox="1"/>
              <p:nvPr/>
            </p:nvSpPr>
            <p:spPr>
              <a:xfrm>
                <a:off x="2175445" y="4424345"/>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𝐷𝐷𝐼𝑀</m:t>
                      </m:r>
                    </m:oMath>
                  </m:oMathPara>
                </a14:m>
                <a:endParaRPr lang="en-US" altLang="zh-CN" b="0" dirty="0"/>
              </a:p>
            </p:txBody>
          </p:sp>
        </mc:Choice>
        <mc:Fallback xmlns="">
          <p:sp>
            <p:nvSpPr>
              <p:cNvPr id="6" name="文本框 5">
                <a:extLst>
                  <a:ext uri="{FF2B5EF4-FFF2-40B4-BE49-F238E27FC236}">
                    <a16:creationId xmlns:a16="http://schemas.microsoft.com/office/drawing/2014/main" id="{B4C6468E-B0BD-527C-9D6D-DE69B33874AF}"/>
                  </a:ext>
                </a:extLst>
              </p:cNvPr>
              <p:cNvSpPr txBox="1">
                <a:spLocks noRot="1" noChangeAspect="1" noMove="1" noResize="1" noEditPoints="1" noAdjustHandles="1" noChangeArrowheads="1" noChangeShapeType="1" noTextEdit="1"/>
              </p:cNvSpPr>
              <p:nvPr/>
            </p:nvSpPr>
            <p:spPr>
              <a:xfrm>
                <a:off x="2175445" y="4424345"/>
                <a:ext cx="641806" cy="276999"/>
              </a:xfrm>
              <a:prstGeom prst="rect">
                <a:avLst/>
              </a:prstGeom>
              <a:blipFill>
                <a:blip r:embed="rId19"/>
                <a:stretch>
                  <a:fillRect l="-10476" r="-8571" b="-6667"/>
                </a:stretch>
              </a:blipFill>
            </p:spPr>
            <p:txBody>
              <a:bodyPr/>
              <a:lstStyle/>
              <a:p>
                <a:r>
                  <a:rPr lang="zh-CN" altLang="en-US">
                    <a:noFill/>
                  </a:rPr>
                  <a:t> </a:t>
                </a:r>
              </a:p>
            </p:txBody>
          </p:sp>
        </mc:Fallback>
      </mc:AlternateContent>
      <p:cxnSp>
        <p:nvCxnSpPr>
          <p:cNvPr id="7" name="连接符: 肘形 6">
            <a:extLst>
              <a:ext uri="{FF2B5EF4-FFF2-40B4-BE49-F238E27FC236}">
                <a16:creationId xmlns:a16="http://schemas.microsoft.com/office/drawing/2014/main" id="{70C281C7-80E5-C4F2-2358-5AA8A5511F17}"/>
              </a:ext>
            </a:extLst>
          </p:cNvPr>
          <p:cNvCxnSpPr>
            <a:cxnSpLocks/>
          </p:cNvCxnSpPr>
          <p:nvPr/>
        </p:nvCxnSpPr>
        <p:spPr>
          <a:xfrm rot="10800000">
            <a:off x="9871804" y="4659961"/>
            <a:ext cx="1288648" cy="433113"/>
          </a:xfrm>
          <a:prstGeom prst="bentConnector3">
            <a:avLst>
              <a:gd name="adj1" fmla="val -22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73B77E1-C656-0694-A0D7-B1B6E9EE11CF}"/>
                  </a:ext>
                </a:extLst>
              </p:cNvPr>
              <p:cNvSpPr txBox="1"/>
              <p:nvPr/>
            </p:nvSpPr>
            <p:spPr>
              <a:xfrm>
                <a:off x="1970333" y="4954850"/>
                <a:ext cx="641806" cy="55399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𝐸𝑛𝑠𝑒𝑚𝑏𝑙𝑒</m:t>
                      </m:r>
                    </m:oMath>
                  </m:oMathPara>
                </a14:m>
                <a:endParaRPr lang="en-US" altLang="zh-CN" b="0" dirty="0">
                  <a:solidFill>
                    <a:srgbClr val="FF0000"/>
                  </a:solidFill>
                </a:endParaRPr>
              </a:p>
              <a:p>
                <a:pPr algn="ctr"/>
                <a14:m>
                  <m:oMathPara xmlns:m="http://schemas.openxmlformats.org/officeDocument/2006/math">
                    <m:oMathParaPr>
                      <m:jc m:val="center"/>
                    </m:oMathParaPr>
                    <m:oMath xmlns:m="http://schemas.openxmlformats.org/officeDocument/2006/math">
                      <m:r>
                        <a:rPr lang="en-US" altLang="zh-CN" b="0" i="1" dirty="0" smtClean="0">
                          <a:solidFill>
                            <a:srgbClr val="FF0000"/>
                          </a:solidFill>
                          <a:latin typeface="Cambria Math" panose="02040503050406030204" pitchFamily="18" charset="0"/>
                        </a:rPr>
                        <m:t>    </m:t>
                      </m:r>
                      <m:r>
                        <a:rPr lang="en-US" altLang="zh-CN" i="1" dirty="0" smtClean="0">
                          <a:solidFill>
                            <a:srgbClr val="FF0000"/>
                          </a:solidFill>
                          <a:latin typeface="Cambria Math" panose="02040503050406030204" pitchFamily="18" charset="0"/>
                        </a:rPr>
                        <m:t>𝑀𝑒𝑎</m:t>
                      </m:r>
                      <m:r>
                        <a:rPr lang="en-US" altLang="zh-CN" i="1" dirty="0">
                          <a:solidFill>
                            <a:srgbClr val="FF0000"/>
                          </a:solidFill>
                          <a:latin typeface="Cambria Math" panose="02040503050406030204" pitchFamily="18" charset="0"/>
                        </a:rPr>
                        <m:t>𝑛</m:t>
                      </m:r>
                    </m:oMath>
                  </m:oMathPara>
                </a14:m>
                <a:endParaRPr lang="en-US" altLang="zh-CN" b="0" dirty="0">
                  <a:solidFill>
                    <a:srgbClr val="FF0000"/>
                  </a:solidFill>
                </a:endParaRPr>
              </a:p>
            </p:txBody>
          </p:sp>
        </mc:Choice>
        <mc:Fallback xmlns="">
          <p:sp>
            <p:nvSpPr>
              <p:cNvPr id="3" name="文本框 2">
                <a:extLst>
                  <a:ext uri="{FF2B5EF4-FFF2-40B4-BE49-F238E27FC236}">
                    <a16:creationId xmlns:a16="http://schemas.microsoft.com/office/drawing/2014/main" id="{073B77E1-C656-0694-A0D7-B1B6E9EE11CF}"/>
                  </a:ext>
                </a:extLst>
              </p:cNvPr>
              <p:cNvSpPr txBox="1">
                <a:spLocks noRot="1" noChangeAspect="1" noMove="1" noResize="1" noEditPoints="1" noAdjustHandles="1" noChangeArrowheads="1" noChangeShapeType="1" noTextEdit="1"/>
              </p:cNvSpPr>
              <p:nvPr/>
            </p:nvSpPr>
            <p:spPr>
              <a:xfrm>
                <a:off x="1970333" y="4954850"/>
                <a:ext cx="641806" cy="553998"/>
              </a:xfrm>
              <a:prstGeom prst="rect">
                <a:avLst/>
              </a:prstGeom>
              <a:blipFill>
                <a:blip r:embed="rId20"/>
                <a:stretch>
                  <a:fillRect l="-13208" r="-67925" b="-21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207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5D17D-14C0-2E44-F357-2260CE593B6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B569FB55-39EE-55BD-305B-66DDDCCF2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sp>
        <p:nvSpPr>
          <p:cNvPr id="2" name="标题 1">
            <a:extLst>
              <a:ext uri="{FF2B5EF4-FFF2-40B4-BE49-F238E27FC236}">
                <a16:creationId xmlns:a16="http://schemas.microsoft.com/office/drawing/2014/main" id="{5F7BC81C-02BB-E7CB-6819-E5AFDC7281C1}"/>
              </a:ext>
            </a:extLst>
          </p:cNvPr>
          <p:cNvSpPr>
            <a:spLocks noGrp="1"/>
          </p:cNvSpPr>
          <p:nvPr>
            <p:ph type="title"/>
          </p:nvPr>
        </p:nvSpPr>
        <p:spPr/>
        <p:txBody>
          <a:bodyPr/>
          <a:lstStyle/>
          <a:p>
            <a:r>
              <a:rPr lang="zh-CN" altLang="en-US" dirty="0"/>
              <a:t>研究方法 </a:t>
            </a:r>
            <a:r>
              <a:rPr lang="en-US" altLang="zh-CN" dirty="0"/>
              <a:t>-- SST-Diffusion</a:t>
            </a:r>
            <a:endParaRPr lang="zh-CN" altLang="en-US" dirty="0"/>
          </a:p>
        </p:txBody>
      </p:sp>
      <p:sp>
        <p:nvSpPr>
          <p:cNvPr id="9" name="矩形: 圆角 8">
            <a:extLst>
              <a:ext uri="{FF2B5EF4-FFF2-40B4-BE49-F238E27FC236}">
                <a16:creationId xmlns:a16="http://schemas.microsoft.com/office/drawing/2014/main" id="{CB2D34E5-5801-3D27-0D7B-841FBDCD2A21}"/>
              </a:ext>
            </a:extLst>
          </p:cNvPr>
          <p:cNvSpPr/>
          <p:nvPr/>
        </p:nvSpPr>
        <p:spPr>
          <a:xfrm>
            <a:off x="395198" y="1699924"/>
            <a:ext cx="8893258"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E457A718-9844-76C4-E427-2ED112247922}"/>
              </a:ext>
            </a:extLst>
          </p:cNvPr>
          <p:cNvSpPr/>
          <p:nvPr/>
        </p:nvSpPr>
        <p:spPr>
          <a:xfrm>
            <a:off x="394957" y="3852557"/>
            <a:ext cx="9678838"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D150E760-F04C-0501-CF4B-3222E9CA2036}"/>
              </a:ext>
            </a:extLst>
          </p:cNvPr>
          <p:cNvSpPr/>
          <p:nvPr/>
        </p:nvSpPr>
        <p:spPr>
          <a:xfrm>
            <a:off x="5344704" y="1262659"/>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C6797E6A-3B21-CA8A-4F39-8B1A242C0139}"/>
              </a:ext>
            </a:extLst>
          </p:cNvPr>
          <p:cNvSpPr txBox="1"/>
          <p:nvPr/>
        </p:nvSpPr>
        <p:spPr>
          <a:xfrm>
            <a:off x="1541244" y="1192093"/>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4" name="箭头: 右 73">
            <a:extLst>
              <a:ext uri="{FF2B5EF4-FFF2-40B4-BE49-F238E27FC236}">
                <a16:creationId xmlns:a16="http://schemas.microsoft.com/office/drawing/2014/main" id="{735D920C-0751-44BC-79BC-4BA0E5D425BF}"/>
              </a:ext>
            </a:extLst>
          </p:cNvPr>
          <p:cNvSpPr/>
          <p:nvPr/>
        </p:nvSpPr>
        <p:spPr>
          <a:xfrm rot="10800000">
            <a:off x="2221857" y="6287745"/>
            <a:ext cx="3749615" cy="333208"/>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C45FD45E-B8C1-5FFA-C0AB-05C991EFF764}"/>
              </a:ext>
            </a:extLst>
          </p:cNvPr>
          <p:cNvSpPr txBox="1"/>
          <p:nvPr/>
        </p:nvSpPr>
        <p:spPr>
          <a:xfrm>
            <a:off x="6003955" y="6196424"/>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91" name="组合 90">
            <a:extLst>
              <a:ext uri="{FF2B5EF4-FFF2-40B4-BE49-F238E27FC236}">
                <a16:creationId xmlns:a16="http://schemas.microsoft.com/office/drawing/2014/main" id="{4B5A344A-6CC3-1945-C560-DB9E759240FD}"/>
              </a:ext>
            </a:extLst>
          </p:cNvPr>
          <p:cNvGrpSpPr/>
          <p:nvPr/>
        </p:nvGrpSpPr>
        <p:grpSpPr>
          <a:xfrm>
            <a:off x="685319" y="4238538"/>
            <a:ext cx="11090266" cy="2448476"/>
            <a:chOff x="1112747" y="4036236"/>
            <a:chExt cx="11090266" cy="2448476"/>
          </a:xfrm>
        </p:grpSpPr>
        <p:grpSp>
          <p:nvGrpSpPr>
            <p:cNvPr id="57" name="组合 56">
              <a:extLst>
                <a:ext uri="{FF2B5EF4-FFF2-40B4-BE49-F238E27FC236}">
                  <a16:creationId xmlns:a16="http://schemas.microsoft.com/office/drawing/2014/main" id="{04479356-4967-41BD-B7B7-29FE00697E4E}"/>
                </a:ext>
              </a:extLst>
            </p:cNvPr>
            <p:cNvGrpSpPr/>
            <p:nvPr/>
          </p:nvGrpSpPr>
          <p:grpSpPr>
            <a:xfrm>
              <a:off x="9002674" y="4036236"/>
              <a:ext cx="1233290" cy="1485298"/>
              <a:chOff x="8808628" y="3634724"/>
              <a:chExt cx="1233290" cy="1485298"/>
            </a:xfrm>
          </p:grpSpPr>
          <p:pic>
            <p:nvPicPr>
              <p:cNvPr id="43" name="图片 42">
                <a:extLst>
                  <a:ext uri="{FF2B5EF4-FFF2-40B4-BE49-F238E27FC236}">
                    <a16:creationId xmlns:a16="http://schemas.microsoft.com/office/drawing/2014/main" id="{DC19DA6F-4005-2056-FA9F-6CBF12BDEE84}"/>
                  </a:ext>
                </a:extLst>
              </p:cNvPr>
              <p:cNvPicPr>
                <a:picLocks noChangeAspect="1"/>
              </p:cNvPicPr>
              <p:nvPr/>
            </p:nvPicPr>
            <p:blipFill>
              <a:blip r:embed="rId3"/>
              <a:stretch>
                <a:fillRect/>
              </a:stretch>
            </p:blipFill>
            <p:spPr>
              <a:xfrm>
                <a:off x="8808628" y="3634724"/>
                <a:ext cx="1233290" cy="1222312"/>
              </a:xfrm>
              <a:prstGeom prst="rect">
                <a:avLst/>
              </a:prstGeom>
            </p:spPr>
          </p:pic>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955BC0DF-167C-3702-6943-8FDA2111DAE7}"/>
                      </a:ext>
                    </a:extLst>
                  </p:cNvPr>
                  <p:cNvSpPr txBox="1"/>
                  <p:nvPr/>
                </p:nvSpPr>
                <p:spPr>
                  <a:xfrm>
                    <a:off x="9281629" y="4843023"/>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45" name="文本框 44">
                    <a:extLst>
                      <a:ext uri="{FF2B5EF4-FFF2-40B4-BE49-F238E27FC236}">
                        <a16:creationId xmlns:a16="http://schemas.microsoft.com/office/drawing/2014/main" id="{955BC0DF-167C-3702-6943-8FDA2111DAE7}"/>
                      </a:ext>
                    </a:extLst>
                  </p:cNvPr>
                  <p:cNvSpPr txBox="1">
                    <a:spLocks noRot="1" noChangeAspect="1" noMove="1" noResize="1" noEditPoints="1" noAdjustHandles="1" noChangeArrowheads="1" noChangeShapeType="1" noTextEdit="1"/>
                  </p:cNvSpPr>
                  <p:nvPr/>
                </p:nvSpPr>
                <p:spPr>
                  <a:xfrm>
                    <a:off x="9281629" y="4843023"/>
                    <a:ext cx="350808" cy="276999"/>
                  </a:xfrm>
                  <a:prstGeom prst="rect">
                    <a:avLst/>
                  </a:prstGeom>
                  <a:blipFill>
                    <a:blip r:embed="rId4"/>
                    <a:stretch>
                      <a:fillRect b="-15556"/>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2D3365D4-A3BF-09BD-0EE7-837FDAFE7C48}"/>
                </a:ext>
              </a:extLst>
            </p:cNvPr>
            <p:cNvGrpSpPr/>
            <p:nvPr/>
          </p:nvGrpSpPr>
          <p:grpSpPr>
            <a:xfrm>
              <a:off x="10943556" y="4953087"/>
              <a:ext cx="1259457" cy="1531625"/>
              <a:chOff x="10497066" y="5253346"/>
              <a:chExt cx="1259457" cy="1531625"/>
            </a:xfrm>
          </p:grpSpPr>
          <p:pic>
            <p:nvPicPr>
              <p:cNvPr id="51" name="图片 50">
                <a:extLst>
                  <a:ext uri="{FF2B5EF4-FFF2-40B4-BE49-F238E27FC236}">
                    <a16:creationId xmlns:a16="http://schemas.microsoft.com/office/drawing/2014/main" id="{B946D98B-258A-46B1-2271-CDA5F1735E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37323" y="5253346"/>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F861BD3F-A023-B3CB-E68A-FECE81DB1E83}"/>
                      </a:ext>
                    </a:extLst>
                  </p:cNvPr>
                  <p:cNvSpPr txBox="1"/>
                  <p:nvPr/>
                </p:nvSpPr>
                <p:spPr>
                  <a:xfrm>
                    <a:off x="10497066" y="6507972"/>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𝑐𝑜𝑛𝑑𝑖𝑡𝑖𝑜𝑛</m:t>
                          </m:r>
                          <m:r>
                            <a:rPr lang="en-US" altLang="zh-CN" b="0" i="1" smtClean="0">
                              <a:latin typeface="Cambria Math" panose="02040503050406030204" pitchFamily="18" charset="0"/>
                            </a:rPr>
                            <m:t>)</m:t>
                          </m:r>
                        </m:oMath>
                      </m:oMathPara>
                    </a14:m>
                    <a:endParaRPr lang="en-US" altLang="zh-CN" b="0" dirty="0"/>
                  </a:p>
                </p:txBody>
              </p:sp>
            </mc:Choice>
            <mc:Fallback xmlns="">
              <p:sp>
                <p:nvSpPr>
                  <p:cNvPr id="53" name="文本框 52">
                    <a:extLst>
                      <a:ext uri="{FF2B5EF4-FFF2-40B4-BE49-F238E27FC236}">
                        <a16:creationId xmlns:a16="http://schemas.microsoft.com/office/drawing/2014/main" id="{F861BD3F-A023-B3CB-E68A-FECE81DB1E83}"/>
                      </a:ext>
                    </a:extLst>
                  </p:cNvPr>
                  <p:cNvSpPr txBox="1">
                    <a:spLocks noRot="1" noChangeAspect="1" noMove="1" noResize="1" noEditPoints="1" noAdjustHandles="1" noChangeArrowheads="1" noChangeShapeType="1" noTextEdit="1"/>
                  </p:cNvSpPr>
                  <p:nvPr/>
                </p:nvSpPr>
                <p:spPr>
                  <a:xfrm>
                    <a:off x="10497066" y="6507972"/>
                    <a:ext cx="1219200" cy="276999"/>
                  </a:xfrm>
                  <a:prstGeom prst="rect">
                    <a:avLst/>
                  </a:prstGeom>
                  <a:blipFill>
                    <a:blip r:embed="rId6"/>
                    <a:stretch>
                      <a:fillRect l="-6500" t="-4444" r="-17500" b="-3555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AA989451-9E9A-7E03-8921-019BE0D2DF7C}"/>
                    </a:ext>
                  </a:extLst>
                </p:cNvPr>
                <p:cNvSpPr txBox="1"/>
                <p:nvPr/>
              </p:nvSpPr>
              <p:spPr>
                <a:xfrm>
                  <a:off x="6025188" y="5465561"/>
                  <a:ext cx="17648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r>
                          <a:rPr lang="en-US" altLang="zh-CN" b="0" i="1" smtClean="0">
                            <a:latin typeface="Cambria Math" panose="02040503050406030204" pitchFamily="18" charset="0"/>
                          </a:rPr>
                          <m:t>(</m:t>
                        </m:r>
                        <m:r>
                          <a:rPr lang="en-US" altLang="zh-CN" b="0" i="1" smtClean="0">
                            <a:latin typeface="Cambria Math" panose="02040503050406030204" pitchFamily="18" charset="0"/>
                          </a:rPr>
                          <m:t>𝑤𝑖𝑡h</m:t>
                        </m:r>
                        <m:r>
                          <a:rPr lang="en-US" altLang="zh-CN" b="0" i="1" smtClean="0">
                            <a:latin typeface="Cambria Math" panose="02040503050406030204" pitchFamily="18" charset="0"/>
                          </a:rPr>
                          <m:t> </m:t>
                        </m:r>
                        <m:r>
                          <a:rPr lang="en-US" altLang="zh-CN" b="0" i="1" smtClean="0">
                            <a:latin typeface="Cambria Math" panose="02040503050406030204" pitchFamily="18" charset="0"/>
                          </a:rPr>
                          <m:t>𝑀𝐴𝐸</m:t>
                        </m:r>
                        <m:r>
                          <a:rPr lang="en-US" altLang="zh-CN" b="0" i="1" smtClean="0">
                            <a:latin typeface="Cambria Math" panose="02040503050406030204" pitchFamily="18" charset="0"/>
                          </a:rPr>
                          <m:t>)</m:t>
                        </m:r>
                      </m:oMath>
                    </m:oMathPara>
                  </a14:m>
                  <a:endParaRPr lang="en-US" altLang="zh-CN" b="0" dirty="0"/>
                </a:p>
              </p:txBody>
            </p:sp>
          </mc:Choice>
          <mc:Fallback xmlns="">
            <p:sp>
              <p:nvSpPr>
                <p:cNvPr id="55" name="文本框 54">
                  <a:extLst>
                    <a:ext uri="{FF2B5EF4-FFF2-40B4-BE49-F238E27FC236}">
                      <a16:creationId xmlns:a16="http://schemas.microsoft.com/office/drawing/2014/main" id="{AA989451-9E9A-7E03-8921-019BE0D2DF7C}"/>
                    </a:ext>
                  </a:extLst>
                </p:cNvPr>
                <p:cNvSpPr txBox="1">
                  <a:spLocks noRot="1" noChangeAspect="1" noMove="1" noResize="1" noEditPoints="1" noAdjustHandles="1" noChangeArrowheads="1" noChangeShapeType="1" noTextEdit="1"/>
                </p:cNvSpPr>
                <p:nvPr/>
              </p:nvSpPr>
              <p:spPr>
                <a:xfrm>
                  <a:off x="6025188" y="5465561"/>
                  <a:ext cx="1764813" cy="276999"/>
                </a:xfrm>
                <a:prstGeom prst="rect">
                  <a:avLst/>
                </a:prstGeom>
                <a:blipFill>
                  <a:blip r:embed="rId7"/>
                  <a:stretch>
                    <a:fillRect l="-2414" t="-2222" r="-4138" b="-35556"/>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ECCE0BC5-9929-E6C9-68B2-35325648FE4B}"/>
                </a:ext>
              </a:extLst>
            </p:cNvPr>
            <p:cNvCxnSpPr>
              <a:cxnSpLocks/>
            </p:cNvCxnSpPr>
            <p:nvPr/>
          </p:nvCxnSpPr>
          <p:spPr>
            <a:xfrm flipH="1">
              <a:off x="8412844" y="4663626"/>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B4B5B5A1-4432-9845-E837-6C5D0B35CC96}"/>
                </a:ext>
              </a:extLst>
            </p:cNvPr>
            <p:cNvCxnSpPr>
              <a:cxnSpLocks/>
            </p:cNvCxnSpPr>
            <p:nvPr/>
          </p:nvCxnSpPr>
          <p:spPr>
            <a:xfrm flipH="1">
              <a:off x="4703136" y="4647392"/>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DE920FE1-3735-6F5A-B9AF-B56170E1500E}"/>
                </a:ext>
              </a:extLst>
            </p:cNvPr>
            <p:cNvPicPr>
              <a:picLocks noChangeAspect="1"/>
            </p:cNvPicPr>
            <p:nvPr/>
          </p:nvPicPr>
          <p:blipFill>
            <a:blip r:embed="rId8"/>
            <a:stretch>
              <a:fillRect/>
            </a:stretch>
          </p:blipFill>
          <p:spPr>
            <a:xfrm>
              <a:off x="3467073" y="4071678"/>
              <a:ext cx="1212210" cy="1234868"/>
            </a:xfrm>
            <a:prstGeom prst="rect">
              <a:avLst/>
            </a:prstGeom>
          </p:spPr>
        </p:pic>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92C8132A-4932-363E-0DD9-B826E5365012}"/>
                    </a:ext>
                  </a:extLst>
                </p:cNvPr>
                <p:cNvSpPr txBox="1"/>
                <p:nvPr/>
              </p:nvSpPr>
              <p:spPr>
                <a:xfrm>
                  <a:off x="3885120" y="5327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m:oMathPara>
                  </a14:m>
                  <a:endParaRPr lang="en-US" altLang="zh-CN" b="0" dirty="0"/>
                </a:p>
              </p:txBody>
            </p:sp>
          </mc:Choice>
          <mc:Fallback xmlns="">
            <p:sp>
              <p:nvSpPr>
                <p:cNvPr id="78" name="文本框 77">
                  <a:extLst>
                    <a:ext uri="{FF2B5EF4-FFF2-40B4-BE49-F238E27FC236}">
                      <a16:creationId xmlns:a16="http://schemas.microsoft.com/office/drawing/2014/main" id="{92C8132A-4932-363E-0DD9-B826E5365012}"/>
                    </a:ext>
                  </a:extLst>
                </p:cNvPr>
                <p:cNvSpPr txBox="1">
                  <a:spLocks noRot="1" noChangeAspect="1" noMove="1" noResize="1" noEditPoints="1" noAdjustHandles="1" noChangeArrowheads="1" noChangeShapeType="1" noTextEdit="1"/>
                </p:cNvSpPr>
                <p:nvPr/>
              </p:nvSpPr>
              <p:spPr>
                <a:xfrm>
                  <a:off x="3885120" y="5327062"/>
                  <a:ext cx="350808" cy="276999"/>
                </a:xfrm>
                <a:prstGeom prst="rect">
                  <a:avLst/>
                </a:prstGeom>
                <a:blipFill>
                  <a:blip r:embed="rId9"/>
                  <a:stretch>
                    <a:fillRect l="-17241" r="-34483" b="-17778"/>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24E43EB5-D4CE-E059-6C42-B61E7E045AAF}"/>
                </a:ext>
              </a:extLst>
            </p:cNvPr>
            <p:cNvGrpSpPr/>
            <p:nvPr/>
          </p:nvGrpSpPr>
          <p:grpSpPr>
            <a:xfrm rot="10800000">
              <a:off x="2391067" y="4508663"/>
              <a:ext cx="997299" cy="461665"/>
              <a:chOff x="2160295" y="4453955"/>
              <a:chExt cx="997299" cy="461665"/>
            </a:xfrm>
          </p:grpSpPr>
          <p:cxnSp>
            <p:nvCxnSpPr>
              <p:cNvPr id="80" name="直接箭头连接符 79">
                <a:extLst>
                  <a:ext uri="{FF2B5EF4-FFF2-40B4-BE49-F238E27FC236}">
                    <a16:creationId xmlns:a16="http://schemas.microsoft.com/office/drawing/2014/main" id="{6B7D844F-86C5-1325-F205-7C5F22FF9866}"/>
                  </a:ext>
                </a:extLst>
              </p:cNvPr>
              <p:cNvCxnSpPr>
                <a:cxnSpLocks/>
              </p:cNvCxnSpPr>
              <p:nvPr/>
            </p:nvCxnSpPr>
            <p:spPr>
              <a:xfrm rot="10800000" flipH="1">
                <a:off x="2866377" y="4764566"/>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2E69D15B-B74C-EDA3-0555-C9EB901DF098}"/>
                  </a:ext>
                </a:extLst>
              </p:cNvPr>
              <p:cNvSpPr txBox="1"/>
              <p:nvPr/>
            </p:nvSpPr>
            <p:spPr>
              <a:xfrm>
                <a:off x="2410638" y="4453955"/>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E03135E8-F996-48DB-845C-22E4CC73874C}"/>
                  </a:ext>
                </a:extLst>
              </p:cNvPr>
              <p:cNvCxnSpPr>
                <a:cxnSpLocks/>
              </p:cNvCxnSpPr>
              <p:nvPr/>
            </p:nvCxnSpPr>
            <p:spPr>
              <a:xfrm>
                <a:off x="2160295" y="4764566"/>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23182C04-E67A-194B-5EA1-D67C734EA3B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2747" y="4076117"/>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DD81FAD6-F22B-F0E2-72A8-5388C6DC5003}"/>
                    </a:ext>
                  </a:extLst>
                </p:cNvPr>
                <p:cNvSpPr txBox="1"/>
                <p:nvPr/>
              </p:nvSpPr>
              <p:spPr>
                <a:xfrm>
                  <a:off x="1596949" y="5306546"/>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DD81FAD6-F22B-F0E2-72A8-5388C6DC5003}"/>
                    </a:ext>
                  </a:extLst>
                </p:cNvPr>
                <p:cNvSpPr txBox="1">
                  <a:spLocks noRot="1" noChangeAspect="1" noMove="1" noResize="1" noEditPoints="1" noAdjustHandles="1" noChangeArrowheads="1" noChangeShapeType="1" noTextEdit="1"/>
                </p:cNvSpPr>
                <p:nvPr/>
              </p:nvSpPr>
              <p:spPr>
                <a:xfrm>
                  <a:off x="1596949" y="5306546"/>
                  <a:ext cx="350808" cy="276999"/>
                </a:xfrm>
                <a:prstGeom prst="rect">
                  <a:avLst/>
                </a:prstGeom>
                <a:blipFill>
                  <a:blip r:embed="rId11"/>
                  <a:stretch>
                    <a:fillRect b="-15556"/>
                  </a:stretch>
                </a:blipFill>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43322254-172D-BCD0-CB51-6366EBA0ABC5}"/>
              </a:ext>
            </a:extLst>
          </p:cNvPr>
          <p:cNvGrpSpPr/>
          <p:nvPr/>
        </p:nvGrpSpPr>
        <p:grpSpPr>
          <a:xfrm>
            <a:off x="696658" y="2000941"/>
            <a:ext cx="8290338" cy="1522093"/>
            <a:chOff x="620321" y="1838534"/>
            <a:chExt cx="8290338" cy="1522093"/>
          </a:xfrm>
        </p:grpSpPr>
        <p:grpSp>
          <p:nvGrpSpPr>
            <p:cNvPr id="52" name="组合 51">
              <a:extLst>
                <a:ext uri="{FF2B5EF4-FFF2-40B4-BE49-F238E27FC236}">
                  <a16:creationId xmlns:a16="http://schemas.microsoft.com/office/drawing/2014/main" id="{52C894BA-907C-7775-0BA0-CACE02A28E87}"/>
                </a:ext>
              </a:extLst>
            </p:cNvPr>
            <p:cNvGrpSpPr/>
            <p:nvPr/>
          </p:nvGrpSpPr>
          <p:grpSpPr>
            <a:xfrm>
              <a:off x="620321" y="1838534"/>
              <a:ext cx="8290338" cy="1522093"/>
              <a:chOff x="1134934" y="1680170"/>
              <a:chExt cx="8290338" cy="1522093"/>
            </a:xfrm>
          </p:grpSpPr>
          <p:grpSp>
            <p:nvGrpSpPr>
              <p:cNvPr id="40" name="组合 39">
                <a:extLst>
                  <a:ext uri="{FF2B5EF4-FFF2-40B4-BE49-F238E27FC236}">
                    <a16:creationId xmlns:a16="http://schemas.microsoft.com/office/drawing/2014/main" id="{1CD3BE6E-B4E4-8449-FA4E-9EDBD4EC8B08}"/>
                  </a:ext>
                </a:extLst>
              </p:cNvPr>
              <p:cNvGrpSpPr/>
              <p:nvPr/>
            </p:nvGrpSpPr>
            <p:grpSpPr>
              <a:xfrm>
                <a:off x="1134934" y="1680170"/>
                <a:ext cx="8290338" cy="1522093"/>
                <a:chOff x="674323" y="1994990"/>
                <a:chExt cx="8290338" cy="1522093"/>
              </a:xfrm>
            </p:grpSpPr>
            <p:cxnSp>
              <p:nvCxnSpPr>
                <p:cNvPr id="13" name="直接箭头连接符 12">
                  <a:extLst>
                    <a:ext uri="{FF2B5EF4-FFF2-40B4-BE49-F238E27FC236}">
                      <a16:creationId xmlns:a16="http://schemas.microsoft.com/office/drawing/2014/main" id="{E23DA88C-1194-B11D-9D85-A7265F44E564}"/>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4E3FA21-8FAA-9164-5CFC-0334298EEAFE}"/>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C4E3FA21-8FAA-9164-5CFC-0334298EEAFE}"/>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2"/>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467868A-564E-D0DB-0495-006984F4151F}"/>
                        </a:ext>
                      </a:extLst>
                    </p:cNvPr>
                    <p:cNvSpPr txBox="1"/>
                    <p:nvPr/>
                  </p:nvSpPr>
                  <p:spPr>
                    <a:xfrm>
                      <a:off x="3168062"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en-US" altLang="zh-CN" b="0" dirty="0"/>
                    </a:p>
                  </p:txBody>
                </p:sp>
              </mc:Choice>
              <mc:Fallback xmlns="">
                <p:sp>
                  <p:nvSpPr>
                    <p:cNvPr id="15" name="文本框 14">
                      <a:extLst>
                        <a:ext uri="{FF2B5EF4-FFF2-40B4-BE49-F238E27FC236}">
                          <a16:creationId xmlns:a16="http://schemas.microsoft.com/office/drawing/2014/main" id="{7467868A-564E-D0DB-0495-006984F4151F}"/>
                        </a:ext>
                      </a:extLst>
                    </p:cNvPr>
                    <p:cNvSpPr txBox="1">
                      <a:spLocks noRot="1" noChangeAspect="1" noMove="1" noResize="1" noEditPoints="1" noAdjustHandles="1" noChangeArrowheads="1" noChangeShapeType="1" noTextEdit="1"/>
                    </p:cNvSpPr>
                    <p:nvPr/>
                  </p:nvSpPr>
                  <p:spPr>
                    <a:xfrm>
                      <a:off x="3168062" y="3212752"/>
                      <a:ext cx="350808" cy="276999"/>
                    </a:xfrm>
                    <a:prstGeom prst="rect">
                      <a:avLst/>
                    </a:prstGeom>
                    <a:blipFill>
                      <a:blip r:embed="rId13"/>
                      <a:stretch>
                        <a:fillRect b="-177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F8FFEFB4-7F36-EDF1-2868-42A6B11D92A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pic>
              <p:nvPicPr>
                <p:cNvPr id="24" name="图片 23">
                  <a:extLst>
                    <a:ext uri="{FF2B5EF4-FFF2-40B4-BE49-F238E27FC236}">
                      <a16:creationId xmlns:a16="http://schemas.microsoft.com/office/drawing/2014/main" id="{82C07CA8-7334-ABB9-E173-B78E5FEFCF85}"/>
                    </a:ext>
                  </a:extLst>
                </p:cNvPr>
                <p:cNvPicPr>
                  <a:picLocks noChangeAspect="1"/>
                </p:cNvPicPr>
                <p:nvPr/>
              </p:nvPicPr>
              <p:blipFill>
                <a:blip r:embed="rId15">
                  <a:extLst>
                    <a:ext uri="{28A0092B-C50C-407E-A947-70E740481C1C}">
                      <a14:useLocalDpi xmlns:a14="http://schemas.microsoft.com/office/drawing/2010/main" val="0"/>
                    </a:ext>
                  </a:extLst>
                </a:blip>
                <a:srcRect l="22360" t="12862" r="20188" b="11540"/>
                <a:stretch/>
              </p:blipFill>
              <p:spPr>
                <a:xfrm>
                  <a:off x="5148558" y="1994991"/>
                  <a:ext cx="1244812" cy="1228460"/>
                </a:xfrm>
                <a:prstGeom prst="rect">
                  <a:avLst/>
                </a:prstGeom>
              </p:spPr>
            </p:pic>
            <p:pic>
              <p:nvPicPr>
                <p:cNvPr id="25" name="图片 24">
                  <a:extLst>
                    <a:ext uri="{FF2B5EF4-FFF2-40B4-BE49-F238E27FC236}">
                      <a16:creationId xmlns:a16="http://schemas.microsoft.com/office/drawing/2014/main" id="{DE929439-772E-CAAB-48F3-BFA32C789C80}"/>
                    </a:ext>
                  </a:extLst>
                </p:cNvPr>
                <p:cNvPicPr>
                  <a:picLocks noChangeAspect="1"/>
                </p:cNvPicPr>
                <p:nvPr/>
              </p:nvPicPr>
              <p:blipFill>
                <a:blip r:embed="rId3"/>
                <a:stretch>
                  <a:fillRect/>
                </a:stretch>
              </p:blipFill>
              <p:spPr>
                <a:xfrm>
                  <a:off x="7731371" y="2017772"/>
                  <a:ext cx="1233290" cy="1222312"/>
                </a:xfrm>
                <a:prstGeom prst="rect">
                  <a:avLst/>
                </a:prstGeom>
              </p:spPr>
            </p:pic>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8F13FBC3-B177-C56C-6C21-6A6D5488B95F}"/>
                        </a:ext>
                      </a:extLst>
                    </p:cNvPr>
                    <p:cNvSpPr txBox="1"/>
                    <p:nvPr/>
                  </p:nvSpPr>
                  <p:spPr>
                    <a:xfrm>
                      <a:off x="8231717" y="3240084"/>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27" name="文本框 26">
                      <a:extLst>
                        <a:ext uri="{FF2B5EF4-FFF2-40B4-BE49-F238E27FC236}">
                          <a16:creationId xmlns:a16="http://schemas.microsoft.com/office/drawing/2014/main" id="{8F13FBC3-B177-C56C-6C21-6A6D5488B95F}"/>
                        </a:ext>
                      </a:extLst>
                    </p:cNvPr>
                    <p:cNvSpPr txBox="1">
                      <a:spLocks noRot="1" noChangeAspect="1" noMove="1" noResize="1" noEditPoints="1" noAdjustHandles="1" noChangeArrowheads="1" noChangeShapeType="1" noTextEdit="1"/>
                    </p:cNvSpPr>
                    <p:nvPr/>
                  </p:nvSpPr>
                  <p:spPr>
                    <a:xfrm>
                      <a:off x="8231717" y="3240084"/>
                      <a:ext cx="350808" cy="276999"/>
                    </a:xfrm>
                    <a:prstGeom prst="rect">
                      <a:avLst/>
                    </a:prstGeom>
                    <a:blipFill>
                      <a:blip r:embed="rId16"/>
                      <a:stretch>
                        <a:fillRect b="-13043"/>
                      </a:stretch>
                    </a:blipFill>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D723E69A-A8FD-C16F-CE73-D61497ECFD9F}"/>
                    </a:ext>
                  </a:extLst>
                </p:cNvPr>
                <p:cNvGrpSpPr/>
                <p:nvPr/>
              </p:nvGrpSpPr>
              <p:grpSpPr>
                <a:xfrm>
                  <a:off x="3995126" y="2293979"/>
                  <a:ext cx="1059640" cy="461665"/>
                  <a:chOff x="3995126" y="2293979"/>
                  <a:chExt cx="1059640" cy="461665"/>
                </a:xfrm>
              </p:grpSpPr>
              <p:cxnSp>
                <p:nvCxnSpPr>
                  <p:cNvPr id="28" name="直接箭头连接符 27">
                    <a:extLst>
                      <a:ext uri="{FF2B5EF4-FFF2-40B4-BE49-F238E27FC236}">
                        <a16:creationId xmlns:a16="http://schemas.microsoft.com/office/drawing/2014/main" id="{CF8F0B77-0415-4F2E-9E57-47732D4BFD53}"/>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6804CCEA-F027-E306-8902-689C7C52EE3E}"/>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8DADF145-6708-F081-0953-DC875DFB0BA6}"/>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9ED9A862-FFBB-AB50-0B28-0BE1EBEFA963}"/>
                    </a:ext>
                  </a:extLst>
                </p:cNvPr>
                <p:cNvGrpSpPr/>
                <p:nvPr/>
              </p:nvGrpSpPr>
              <p:grpSpPr>
                <a:xfrm>
                  <a:off x="6541949" y="2291787"/>
                  <a:ext cx="1059640" cy="461665"/>
                  <a:chOff x="3995126" y="2293979"/>
                  <a:chExt cx="1059640" cy="461665"/>
                </a:xfrm>
              </p:grpSpPr>
              <p:cxnSp>
                <p:nvCxnSpPr>
                  <p:cNvPr id="37" name="直接箭头连接符 36">
                    <a:extLst>
                      <a:ext uri="{FF2B5EF4-FFF2-40B4-BE49-F238E27FC236}">
                        <a16:creationId xmlns:a16="http://schemas.microsoft.com/office/drawing/2014/main" id="{FDD5EBBA-F807-66A1-5E51-3F4A072EE7A5}"/>
                      </a:ext>
                    </a:extLst>
                  </p:cNvPr>
                  <p:cNvCxnSpPr>
                    <a:cxnSpLocks/>
                  </p:cNvCxnSpPr>
                  <p:nvPr/>
                </p:nvCxnSpPr>
                <p:spPr>
                  <a:xfrm>
                    <a:off x="4701209" y="2611603"/>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025FA949-9C16-1D1E-C59E-70113D60C589}"/>
                      </a:ext>
                    </a:extLst>
                  </p:cNvPr>
                  <p:cNvSpPr txBox="1"/>
                  <p:nvPr/>
                </p:nvSpPr>
                <p:spPr>
                  <a:xfrm>
                    <a:off x="4245469" y="2293979"/>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E66AA838-E837-7A88-A249-E78210BDD03C}"/>
                      </a:ext>
                    </a:extLst>
                  </p:cNvPr>
                  <p:cNvCxnSpPr/>
                  <p:nvPr/>
                </p:nvCxnSpPr>
                <p:spPr>
                  <a:xfrm>
                    <a:off x="3995126" y="2604590"/>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838687FC-9B81-FCDE-DD7D-8B88224BB085}"/>
                      </a:ext>
                    </a:extLst>
                  </p:cNvPr>
                  <p:cNvSpPr txBox="1"/>
                  <p:nvPr/>
                </p:nvSpPr>
                <p:spPr>
                  <a:xfrm>
                    <a:off x="6056171" y="288906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oMath>
                      </m:oMathPara>
                    </a14:m>
                    <a:endParaRPr lang="en-US" altLang="zh-CN" b="0" dirty="0"/>
                  </a:p>
                </p:txBody>
              </p:sp>
            </mc:Choice>
            <mc:Fallback xmlns="">
              <p:sp>
                <p:nvSpPr>
                  <p:cNvPr id="46" name="文本框 45">
                    <a:extLst>
                      <a:ext uri="{FF2B5EF4-FFF2-40B4-BE49-F238E27FC236}">
                        <a16:creationId xmlns:a16="http://schemas.microsoft.com/office/drawing/2014/main" id="{838687FC-9B81-FCDE-DD7D-8B88224BB085}"/>
                      </a:ext>
                    </a:extLst>
                  </p:cNvPr>
                  <p:cNvSpPr txBox="1">
                    <a:spLocks noRot="1" noChangeAspect="1" noMove="1" noResize="1" noEditPoints="1" noAdjustHandles="1" noChangeArrowheads="1" noChangeShapeType="1" noTextEdit="1"/>
                  </p:cNvSpPr>
                  <p:nvPr/>
                </p:nvSpPr>
                <p:spPr>
                  <a:xfrm>
                    <a:off x="6056171" y="2889062"/>
                    <a:ext cx="350808" cy="276999"/>
                  </a:xfrm>
                  <a:prstGeom prst="rect">
                    <a:avLst/>
                  </a:prstGeom>
                  <a:blipFill>
                    <a:blip r:embed="rId17"/>
                    <a:stretch>
                      <a:fillRect l="-1754" b="-17778"/>
                    </a:stretch>
                  </a:blipFill>
                </p:spPr>
                <p:txBody>
                  <a:bodyPr/>
                  <a:lstStyle/>
                  <a:p>
                    <a:r>
                      <a:rPr lang="zh-CN" altLang="en-US">
                        <a:noFill/>
                      </a:rPr>
                      <a:t> </a:t>
                    </a:r>
                  </a:p>
                </p:txBody>
              </p:sp>
            </mc:Fallback>
          </mc:AlternateContent>
        </p:grpSp>
        <p:pic>
          <p:nvPicPr>
            <p:cNvPr id="94" name="图片 93">
              <a:extLst>
                <a:ext uri="{FF2B5EF4-FFF2-40B4-BE49-F238E27FC236}">
                  <a16:creationId xmlns:a16="http://schemas.microsoft.com/office/drawing/2014/main" id="{3BBBB745-509F-D6A8-B74F-0E40FBC56B97}"/>
                </a:ext>
              </a:extLst>
            </p:cNvPr>
            <p:cNvPicPr>
              <a:picLocks noChangeAspect="1"/>
            </p:cNvPicPr>
            <p:nvPr/>
          </p:nvPicPr>
          <p:blipFill>
            <a:blip r:embed="rId18">
              <a:extLst>
                <a:ext uri="{28A0092B-C50C-407E-A947-70E740481C1C}">
                  <a14:useLocalDpi xmlns:a14="http://schemas.microsoft.com/office/drawing/2010/main" val="0"/>
                </a:ext>
              </a:extLst>
            </a:blip>
            <a:srcRect l="22409" t="12749" r="20212" b="11777"/>
            <a:stretch/>
          </p:blipFill>
          <p:spPr>
            <a:xfrm>
              <a:off x="2620890" y="1842847"/>
              <a:ext cx="1235870" cy="1219199"/>
            </a:xfrm>
            <a:prstGeom prst="rect">
              <a:avLst/>
            </a:prstGeom>
          </p:spPr>
        </p:pic>
      </p:grpSp>
      <p:sp>
        <p:nvSpPr>
          <p:cNvPr id="96" name="矩形 95">
            <a:extLst>
              <a:ext uri="{FF2B5EF4-FFF2-40B4-BE49-F238E27FC236}">
                <a16:creationId xmlns:a16="http://schemas.microsoft.com/office/drawing/2014/main" id="{3D6E9ABB-8141-DD75-619D-EBC11B36F874}"/>
              </a:ext>
            </a:extLst>
          </p:cNvPr>
          <p:cNvSpPr/>
          <p:nvPr/>
        </p:nvSpPr>
        <p:spPr>
          <a:xfrm>
            <a:off x="9719026" y="2340333"/>
            <a:ext cx="2000569"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SST-Diffusion</a:t>
            </a:r>
            <a:endParaRPr kumimoji="0" lang="en-US" altLang="zh-CN"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cxnSp>
        <p:nvCxnSpPr>
          <p:cNvPr id="97" name="连接符: 肘形 96">
            <a:extLst>
              <a:ext uri="{FF2B5EF4-FFF2-40B4-BE49-F238E27FC236}">
                <a16:creationId xmlns:a16="http://schemas.microsoft.com/office/drawing/2014/main" id="{617ACF44-B37E-D996-19C5-211EB62F6C36}"/>
              </a:ext>
            </a:extLst>
          </p:cNvPr>
          <p:cNvCxnSpPr>
            <a:cxnSpLocks/>
          </p:cNvCxnSpPr>
          <p:nvPr/>
        </p:nvCxnSpPr>
        <p:spPr>
          <a:xfrm rot="16200000" flipV="1">
            <a:off x="4518198" y="4913915"/>
            <a:ext cx="358024" cy="283232"/>
          </a:xfrm>
          <a:prstGeom prst="bentConnector3">
            <a:avLst>
              <a:gd name="adj1" fmla="val 663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连接符: 肘形 4">
            <a:extLst>
              <a:ext uri="{FF2B5EF4-FFF2-40B4-BE49-F238E27FC236}">
                <a16:creationId xmlns:a16="http://schemas.microsoft.com/office/drawing/2014/main" id="{4F955CAD-1E97-161B-A8CB-6CADEA7FD911}"/>
              </a:ext>
            </a:extLst>
          </p:cNvPr>
          <p:cNvCxnSpPr>
            <a:cxnSpLocks/>
          </p:cNvCxnSpPr>
          <p:nvPr/>
        </p:nvCxnSpPr>
        <p:spPr>
          <a:xfrm rot="10800000">
            <a:off x="7985657" y="5234544"/>
            <a:ext cx="2220650" cy="651091"/>
          </a:xfrm>
          <a:prstGeom prst="bentConnector3">
            <a:avLst>
              <a:gd name="adj1" fmla="val 82942"/>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588C149-2EB9-F5F2-C5E4-95FACF332EC2}"/>
                  </a:ext>
                </a:extLst>
              </p:cNvPr>
              <p:cNvSpPr txBox="1"/>
              <p:nvPr/>
            </p:nvSpPr>
            <p:spPr>
              <a:xfrm>
                <a:off x="2175445" y="4424345"/>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𝐷𝐷𝐼𝑀</m:t>
                      </m:r>
                    </m:oMath>
                  </m:oMathPara>
                </a14:m>
                <a:endParaRPr lang="en-US" altLang="zh-CN" b="0" dirty="0"/>
              </a:p>
            </p:txBody>
          </p:sp>
        </mc:Choice>
        <mc:Fallback xmlns="">
          <p:sp>
            <p:nvSpPr>
              <p:cNvPr id="6" name="文本框 5">
                <a:extLst>
                  <a:ext uri="{FF2B5EF4-FFF2-40B4-BE49-F238E27FC236}">
                    <a16:creationId xmlns:a16="http://schemas.microsoft.com/office/drawing/2014/main" id="{4588C149-2EB9-F5F2-C5E4-95FACF332EC2}"/>
                  </a:ext>
                </a:extLst>
              </p:cNvPr>
              <p:cNvSpPr txBox="1">
                <a:spLocks noRot="1" noChangeAspect="1" noMove="1" noResize="1" noEditPoints="1" noAdjustHandles="1" noChangeArrowheads="1" noChangeShapeType="1" noTextEdit="1"/>
              </p:cNvSpPr>
              <p:nvPr/>
            </p:nvSpPr>
            <p:spPr>
              <a:xfrm>
                <a:off x="2175445" y="4424345"/>
                <a:ext cx="641806" cy="276999"/>
              </a:xfrm>
              <a:prstGeom prst="rect">
                <a:avLst/>
              </a:prstGeom>
              <a:blipFill>
                <a:blip r:embed="rId11"/>
                <a:stretch>
                  <a:fillRect l="-10476" r="-8571" b="-6667"/>
                </a:stretch>
              </a:blipFill>
            </p:spPr>
            <p:txBody>
              <a:bodyPr/>
              <a:lstStyle/>
              <a:p>
                <a:r>
                  <a:rPr lang="zh-CN" altLang="en-US">
                    <a:noFill/>
                  </a:rPr>
                  <a:t> </a:t>
                </a:r>
              </a:p>
            </p:txBody>
          </p:sp>
        </mc:Fallback>
      </mc:AlternateContent>
      <p:cxnSp>
        <p:nvCxnSpPr>
          <p:cNvPr id="7" name="连接符: 肘形 6">
            <a:extLst>
              <a:ext uri="{FF2B5EF4-FFF2-40B4-BE49-F238E27FC236}">
                <a16:creationId xmlns:a16="http://schemas.microsoft.com/office/drawing/2014/main" id="{B83B1AE1-8BB6-4AC6-4CF4-337D41568A86}"/>
              </a:ext>
            </a:extLst>
          </p:cNvPr>
          <p:cNvCxnSpPr>
            <a:cxnSpLocks/>
          </p:cNvCxnSpPr>
          <p:nvPr/>
        </p:nvCxnSpPr>
        <p:spPr>
          <a:xfrm rot="10800000">
            <a:off x="9871804" y="4659961"/>
            <a:ext cx="1288648" cy="433113"/>
          </a:xfrm>
          <a:prstGeom prst="bentConnector3">
            <a:avLst>
              <a:gd name="adj1" fmla="val -220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9868254-DEC8-26B2-145D-877777A44475}"/>
                  </a:ext>
                </a:extLst>
              </p:cNvPr>
              <p:cNvSpPr txBox="1"/>
              <p:nvPr/>
            </p:nvSpPr>
            <p:spPr>
              <a:xfrm>
                <a:off x="1970333" y="4954850"/>
                <a:ext cx="641806" cy="55399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𝐸𝑛𝑠𝑒𝑚𝑏𝑙𝑒</m:t>
                      </m:r>
                    </m:oMath>
                  </m:oMathPara>
                </a14:m>
                <a:endParaRPr lang="en-US" altLang="zh-CN" b="0" dirty="0">
                  <a:solidFill>
                    <a:schemeClr val="tx1"/>
                  </a:solidFill>
                </a:endParaRPr>
              </a:p>
              <a:p>
                <a:pPr algn="ctr"/>
                <a14:m>
                  <m:oMathPara xmlns:m="http://schemas.openxmlformats.org/officeDocument/2006/math">
                    <m:oMathParaPr>
                      <m:jc m:val="center"/>
                    </m:oMathParaPr>
                    <m:oMath xmlns:m="http://schemas.openxmlformats.org/officeDocument/2006/math">
                      <m:r>
                        <a:rPr lang="en-US" altLang="zh-CN" b="0" i="1" dirty="0" smtClean="0">
                          <a:solidFill>
                            <a:schemeClr val="tx1"/>
                          </a:solidFill>
                          <a:latin typeface="Cambria Math" panose="02040503050406030204" pitchFamily="18" charset="0"/>
                        </a:rPr>
                        <m:t>    </m:t>
                      </m:r>
                      <m:r>
                        <a:rPr lang="en-US" altLang="zh-CN" i="1" dirty="0" smtClean="0">
                          <a:solidFill>
                            <a:schemeClr val="tx1"/>
                          </a:solidFill>
                          <a:latin typeface="Cambria Math" panose="02040503050406030204" pitchFamily="18" charset="0"/>
                        </a:rPr>
                        <m:t>𝑀𝑒𝑎</m:t>
                      </m:r>
                      <m:r>
                        <a:rPr lang="en-US" altLang="zh-CN" i="1" dirty="0">
                          <a:solidFill>
                            <a:schemeClr val="tx1"/>
                          </a:solidFill>
                          <a:latin typeface="Cambria Math" panose="02040503050406030204" pitchFamily="18" charset="0"/>
                        </a:rPr>
                        <m:t>𝑛</m:t>
                      </m:r>
                    </m:oMath>
                  </m:oMathPara>
                </a14:m>
                <a:endParaRPr lang="en-US" altLang="zh-CN" b="0" dirty="0">
                  <a:solidFill>
                    <a:schemeClr val="tx1"/>
                  </a:solidFill>
                </a:endParaRPr>
              </a:p>
            </p:txBody>
          </p:sp>
        </mc:Choice>
        <mc:Fallback xmlns="">
          <p:sp>
            <p:nvSpPr>
              <p:cNvPr id="3" name="文本框 2">
                <a:extLst>
                  <a:ext uri="{FF2B5EF4-FFF2-40B4-BE49-F238E27FC236}">
                    <a16:creationId xmlns:a16="http://schemas.microsoft.com/office/drawing/2014/main" id="{39868254-DEC8-26B2-145D-877777A44475}"/>
                  </a:ext>
                </a:extLst>
              </p:cNvPr>
              <p:cNvSpPr txBox="1">
                <a:spLocks noRot="1" noChangeAspect="1" noMove="1" noResize="1" noEditPoints="1" noAdjustHandles="1" noChangeArrowheads="1" noChangeShapeType="1" noTextEdit="1"/>
              </p:cNvSpPr>
              <p:nvPr/>
            </p:nvSpPr>
            <p:spPr>
              <a:xfrm>
                <a:off x="1970333" y="4954850"/>
                <a:ext cx="641806" cy="553998"/>
              </a:xfrm>
              <a:prstGeom prst="rect">
                <a:avLst/>
              </a:prstGeom>
              <a:blipFill>
                <a:blip r:embed="rId19"/>
                <a:stretch>
                  <a:fillRect l="-13208" r="-67925" b="-21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119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84E8-1A63-BC88-BF12-A487DB587AC1}"/>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C44970AF-FD95-3052-2402-58ED579FDD4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t="-95" b="8779"/>
          <a:stretch/>
        </p:blipFill>
        <p:spPr>
          <a:xfrm>
            <a:off x="0" y="-57150"/>
            <a:ext cx="12192000" cy="7080250"/>
          </a:xfrm>
          <a:prstGeom prst="rect">
            <a:avLst/>
          </a:prstGeom>
        </p:spPr>
      </p:pic>
      <p:grpSp>
        <p:nvGrpSpPr>
          <p:cNvPr id="8" name="组合 7">
            <a:extLst>
              <a:ext uri="{FF2B5EF4-FFF2-40B4-BE49-F238E27FC236}">
                <a16:creationId xmlns:a16="http://schemas.microsoft.com/office/drawing/2014/main" id="{34EA5A93-CF59-A85E-CAAB-A1872720E251}"/>
              </a:ext>
            </a:extLst>
          </p:cNvPr>
          <p:cNvGrpSpPr/>
          <p:nvPr/>
        </p:nvGrpSpPr>
        <p:grpSpPr>
          <a:xfrm>
            <a:off x="1080500" y="2444929"/>
            <a:ext cx="8926141" cy="2076091"/>
            <a:chOff x="1276032" y="2737579"/>
            <a:chExt cx="8926141" cy="2076091"/>
          </a:xfrm>
        </p:grpSpPr>
        <p:sp>
          <p:nvSpPr>
            <p:cNvPr id="6" name="矩形 5">
              <a:extLst>
                <a:ext uri="{FF2B5EF4-FFF2-40B4-BE49-F238E27FC236}">
                  <a16:creationId xmlns:a16="http://schemas.microsoft.com/office/drawing/2014/main" id="{8F81D791-1C05-2632-350C-3AC4C94017DE}"/>
                </a:ext>
              </a:extLst>
            </p:cNvPr>
            <p:cNvSpPr/>
            <p:nvPr/>
          </p:nvSpPr>
          <p:spPr>
            <a:xfrm>
              <a:off x="2185358" y="2737579"/>
              <a:ext cx="8016815" cy="2076091"/>
            </a:xfrm>
            <a:prstGeom prst="rect">
              <a:avLst/>
            </a:prstGeom>
            <a:solidFill>
              <a:schemeClr val="bg1">
                <a:lumMod val="9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68839316-D9E0-6A89-38E0-C6599E332BC7}"/>
                </a:ext>
              </a:extLst>
            </p:cNvPr>
            <p:cNvSpPr txBox="1"/>
            <p:nvPr/>
          </p:nvSpPr>
          <p:spPr>
            <a:xfrm>
              <a:off x="2506033" y="3011540"/>
              <a:ext cx="2133600" cy="1323439"/>
            </a:xfrm>
            <a:prstGeom prst="rect">
              <a:avLst/>
            </a:prstGeom>
            <a:noFill/>
          </p:spPr>
          <p:txBody>
            <a:bodyPr wrap="square" rtlCol="0">
              <a:spAutoFit/>
            </a:bodyPr>
            <a:lstStyle>
              <a:defPPr>
                <a:defRPr lang="zh-CN"/>
              </a:defPPr>
              <a:lvl1pPr algn="ctr">
                <a:defRPr sz="8000">
                  <a:solidFill>
                    <a:schemeClr val="bg1"/>
                  </a:solidFill>
                  <a:latin typeface="造字工房尚黑 G0v1 常规体" pitchFamily="50" charset="-122"/>
                  <a:ea typeface="造字工房尚黑 G0v1 常规体" pitchFamily="50" charset="-122"/>
                </a:defRPr>
              </a:lvl1pPr>
            </a:lstStyle>
            <a:p>
              <a:r>
                <a:rPr lang="en-US" altLang="zh-CN"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03</a:t>
              </a:r>
              <a:endParaRPr lang="zh-CN" altLang="en-US"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1" name="文本框 20">
              <a:extLst>
                <a:ext uri="{FF2B5EF4-FFF2-40B4-BE49-F238E27FC236}">
                  <a16:creationId xmlns:a16="http://schemas.microsoft.com/office/drawing/2014/main" id="{C967BF26-75B5-EF0C-2938-586BA3FEA66B}"/>
                </a:ext>
              </a:extLst>
            </p:cNvPr>
            <p:cNvSpPr txBox="1"/>
            <p:nvPr/>
          </p:nvSpPr>
          <p:spPr>
            <a:xfrm>
              <a:off x="2883194" y="4109784"/>
              <a:ext cx="1287264" cy="307777"/>
            </a:xfrm>
            <a:prstGeom prst="rect">
              <a:avLst/>
            </a:prstGeom>
            <a:noFill/>
          </p:spPr>
          <p:txBody>
            <a:bodyPr wrap="square" rtlCol="0">
              <a:spAutoFit/>
            </a:bodyPr>
            <a:lstStyle/>
            <a:p>
              <a:pPr algn="ctr"/>
              <a:r>
                <a:rPr lang="en-US" altLang="zh-CN"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rPr>
                <a:t>PART THREE</a:t>
              </a:r>
              <a:endParaRPr lang="zh-CN" altLang="en-US"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2" name="文本框 41">
              <a:extLst>
                <a:ext uri="{FF2B5EF4-FFF2-40B4-BE49-F238E27FC236}">
                  <a16:creationId xmlns:a16="http://schemas.microsoft.com/office/drawing/2014/main" id="{04B4F413-72D1-68E6-8206-39ABCAF82C60}"/>
                </a:ext>
              </a:extLst>
            </p:cNvPr>
            <p:cNvSpPr txBox="1"/>
            <p:nvPr/>
          </p:nvSpPr>
          <p:spPr>
            <a:xfrm>
              <a:off x="5579408" y="3224970"/>
              <a:ext cx="3218519"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结果分析</a:t>
              </a:r>
              <a:endParaRPr lang="en-US" altLang="zh-CN"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3" name="矩形 22">
              <a:extLst>
                <a:ext uri="{FF2B5EF4-FFF2-40B4-BE49-F238E27FC236}">
                  <a16:creationId xmlns:a16="http://schemas.microsoft.com/office/drawing/2014/main" id="{FCBA55DE-A28D-B92C-A8B7-A3E9C833341D}"/>
                </a:ext>
              </a:extLst>
            </p:cNvPr>
            <p:cNvSpPr/>
            <p:nvPr/>
          </p:nvSpPr>
          <p:spPr>
            <a:xfrm>
              <a:off x="1276032" y="3906336"/>
              <a:ext cx="7521895" cy="42864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rPr>
                <a:t>Results</a:t>
              </a:r>
              <a:endParaRPr lang="zh-CN" altLang="en-US"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Tree>
    <p:extLst>
      <p:ext uri="{BB962C8B-B14F-4D97-AF65-F5344CB8AC3E}">
        <p14:creationId xmlns:p14="http://schemas.microsoft.com/office/powerpoint/2010/main" val="135689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01939-C49A-75FE-0012-EF0646D32A4E}"/>
              </a:ext>
            </a:extLst>
          </p:cNvPr>
          <p:cNvSpPr>
            <a:spLocks noGrp="1"/>
          </p:cNvSpPr>
          <p:nvPr>
            <p:ph type="title"/>
          </p:nvPr>
        </p:nvSpPr>
        <p:spPr/>
        <p:txBody>
          <a:bodyPr/>
          <a:lstStyle/>
          <a:p>
            <a:r>
              <a:rPr lang="zh-CN" altLang="en-US" dirty="0"/>
              <a:t>结果分析</a:t>
            </a:r>
            <a:r>
              <a:rPr lang="en-US" altLang="zh-CN" dirty="0"/>
              <a:t> – </a:t>
            </a:r>
            <a:r>
              <a:rPr lang="zh-CN" altLang="en-US" dirty="0"/>
              <a:t>指标评估</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789A3E-44F9-7378-B490-3FEE9B3CC36A}"/>
                  </a:ext>
                </a:extLst>
              </p:cNvPr>
              <p:cNvSpPr txBox="1"/>
              <p:nvPr/>
            </p:nvSpPr>
            <p:spPr>
              <a:xfrm>
                <a:off x="267587" y="1291883"/>
                <a:ext cx="4571059" cy="1436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𝑅𝑀𝑆𝐸</m:t>
                      </m:r>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f>
                            <m:fPr>
                              <m:ctrlPr>
                                <a:rPr lang="en-US" altLang="zh-CN" sz="2400" b="0" i="1" smtClean="0">
                                  <a:solidFill>
                                    <a:srgbClr val="836967"/>
                                  </a:solidFill>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𝑁</m:t>
                              </m:r>
                              <m:sSub>
                                <m:sSubPr>
                                  <m:ctrlPr>
                                    <a:rPr lang="en-US" altLang="zh-CN" sz="2400" b="0" i="1" smtClean="0">
                                      <a:solidFill>
                                        <a:srgbClr val="836967"/>
                                      </a:solidFill>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𝑝</m:t>
                                  </m:r>
                                </m:sub>
                              </m:sSub>
                            </m:den>
                          </m:f>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𝑁</m:t>
                              </m:r>
                            </m:sup>
                            <m:e>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𝑝</m:t>
                                      </m:r>
                                    </m:sub>
                                  </m:sSub>
                                </m:sup>
                                <m:e>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𝑥</m:t>
                                                  </m:r>
                                                </m:e>
                                              </m:acc>
                                            </m:e>
                                            <m:sub>
                                              <m:r>
                                                <a:rPr lang="en-US" altLang="zh-CN" sz="2400" b="0" i="1" smtClean="0">
                                                  <a:latin typeface="Cambria Math" panose="02040503050406030204" pitchFamily="18" charset="0"/>
                                                </a:rPr>
                                                <m:t>𝑖𝑗</m:t>
                                              </m:r>
                                            </m:sub>
                                          </m:sSub>
                                        </m:e>
                                      </m:d>
                                    </m:e>
                                    <m:sup>
                                      <m:r>
                                        <a:rPr lang="en-US" altLang="zh-CN" sz="2400" b="0" i="1" smtClean="0">
                                          <a:latin typeface="Cambria Math" panose="02040503050406030204" pitchFamily="18" charset="0"/>
                                        </a:rPr>
                                        <m:t>2</m:t>
                                      </m:r>
                                    </m:sup>
                                  </m:sSup>
                                </m:e>
                              </m:nary>
                            </m:e>
                          </m:nary>
                        </m:e>
                      </m:rad>
                    </m:oMath>
                  </m:oMathPara>
                </a14:m>
                <a:endParaRPr lang="zh-CN" altLang="en-US" sz="2400" dirty="0"/>
              </a:p>
            </p:txBody>
          </p:sp>
        </mc:Choice>
        <mc:Fallback xmlns="">
          <p:sp>
            <p:nvSpPr>
              <p:cNvPr id="4" name="文本框 3">
                <a:extLst>
                  <a:ext uri="{FF2B5EF4-FFF2-40B4-BE49-F238E27FC236}">
                    <a16:creationId xmlns:a16="http://schemas.microsoft.com/office/drawing/2014/main" id="{BF789A3E-44F9-7378-B490-3FEE9B3CC36A}"/>
                  </a:ext>
                </a:extLst>
              </p:cNvPr>
              <p:cNvSpPr txBox="1">
                <a:spLocks noRot="1" noChangeAspect="1" noMove="1" noResize="1" noEditPoints="1" noAdjustHandles="1" noChangeArrowheads="1" noChangeShapeType="1" noTextEdit="1"/>
              </p:cNvSpPr>
              <p:nvPr/>
            </p:nvSpPr>
            <p:spPr>
              <a:xfrm>
                <a:off x="267587" y="1291883"/>
                <a:ext cx="4571059" cy="143686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C866E1F-1EAC-D41B-0714-625A6D293A21}"/>
                  </a:ext>
                </a:extLst>
              </p:cNvPr>
              <p:cNvSpPr txBox="1"/>
              <p:nvPr/>
            </p:nvSpPr>
            <p:spPr>
              <a:xfrm>
                <a:off x="5048181" y="1360575"/>
                <a:ext cx="7035516" cy="1174039"/>
              </a:xfrm>
              <a:prstGeom prst="rect">
                <a:avLst/>
              </a:prstGeom>
              <a:noFill/>
            </p:spPr>
            <p:txBody>
              <a:bodyPr wrap="none" lIns="0" tIns="0" rIns="0" bIns="0" rtlCol="0">
                <a:spAutoFit/>
              </a:bodyPr>
              <a:lstStyle/>
              <a:p>
                <a14:m>
                  <m:oMath xmlns:m="http://schemas.openxmlformats.org/officeDocument/2006/math">
                    <m:r>
                      <a:rPr lang="en-US" altLang="zh-CN" smtClean="0">
                        <a:latin typeface="Cambria Math" panose="02040503050406030204" pitchFamily="18" charset="0"/>
                        <a:ea typeface="华文中宋" panose="02010600040101010101" pitchFamily="2" charset="-122"/>
                      </a:rPr>
                      <m:t>𝑁</m:t>
                    </m:r>
                    <m:r>
                      <a:rPr lang="en-US" altLang="zh-CN" smtClean="0">
                        <a:latin typeface="Cambria Math" panose="02040503050406030204" pitchFamily="18" charset="0"/>
                        <a:ea typeface="华文中宋" panose="02010600040101010101" pitchFamily="2" charset="-122"/>
                      </a:rPr>
                      <m:t>: </m:t>
                    </m:r>
                    <m:r>
                      <a:rPr lang="zh-CN" altLang="en-US">
                        <a:latin typeface="Cambria Math" panose="02040503050406030204" pitchFamily="18" charset="0"/>
                        <a:ea typeface="华文中宋" panose="02010600040101010101" pitchFamily="2" charset="-122"/>
                      </a:rPr>
                      <m:t>测试集</m:t>
                    </m:r>
                  </m:oMath>
                </a14:m>
                <a:r>
                  <a:rPr lang="zh-CN" altLang="en-US" dirty="0">
                    <a:latin typeface="华文中宋" panose="02010600040101010101" pitchFamily="2" charset="-122"/>
                    <a:ea typeface="华文中宋" panose="02010600040101010101" pitchFamily="2" charset="-122"/>
                  </a:rPr>
                  <a:t>大小</a:t>
                </a:r>
                <a:endParaRPr lang="en-US" altLang="zh-CN" dirty="0">
                  <a:latin typeface="华文中宋" panose="02010600040101010101" pitchFamily="2" charset="-122"/>
                  <a:ea typeface="华文中宋" panose="02010600040101010101" pitchFamily="2" charset="-122"/>
                </a:endParaRPr>
              </a:p>
              <a:p>
                <a14:m>
                  <m:oMath xmlns:m="http://schemas.openxmlformats.org/officeDocument/2006/math">
                    <m:sSub>
                      <m:sSubPr>
                        <m:ctrlPr>
                          <a:rPr lang="en-US" altLang="zh-CN" b="0" i="1" smtClean="0">
                            <a:latin typeface="Cambria Math" panose="02040503050406030204" pitchFamily="18" charset="0"/>
                            <a:ea typeface="华文中宋" panose="02010600040101010101" pitchFamily="2" charset="-122"/>
                          </a:rPr>
                        </m:ctrlPr>
                      </m:sSubPr>
                      <m:e>
                        <m:r>
                          <a:rPr lang="en-US" altLang="zh-CN" b="0" i="1" smtClean="0">
                            <a:latin typeface="Cambria Math" panose="02040503050406030204" pitchFamily="18" charset="0"/>
                            <a:ea typeface="华文中宋" panose="02010600040101010101" pitchFamily="2" charset="-122"/>
                          </a:rPr>
                          <m:t>𝑁</m:t>
                        </m:r>
                      </m:e>
                      <m:sub>
                        <m:r>
                          <a:rPr lang="en-US" altLang="zh-CN" b="0" i="1" smtClean="0">
                            <a:latin typeface="Cambria Math" panose="02040503050406030204" pitchFamily="18" charset="0"/>
                            <a:ea typeface="华文中宋" panose="02010600040101010101" pitchFamily="2" charset="-122"/>
                          </a:rPr>
                          <m:t>𝑝</m:t>
                        </m:r>
                      </m:sub>
                    </m:sSub>
                    <m:r>
                      <a:rPr lang="en-US" altLang="zh-CN" b="0" i="1" smtClean="0">
                        <a:latin typeface="Cambria Math" panose="02040503050406030204" pitchFamily="18" charset="0"/>
                        <a:ea typeface="华文中宋" panose="02010600040101010101" pitchFamily="2" charset="-122"/>
                      </a:rPr>
                      <m:t>: </m:t>
                    </m:r>
                    <m:r>
                      <a:rPr lang="zh-CN" altLang="en-US" i="1">
                        <a:latin typeface="Cambria Math" panose="02040503050406030204" pitchFamily="18" charset="0"/>
                        <a:ea typeface="华文中宋" panose="02010600040101010101" pitchFamily="2" charset="-122"/>
                      </a:rPr>
                      <m:t>单</m:t>
                    </m:r>
                    <m:r>
                      <a:rPr lang="zh-CN" altLang="en-US" i="1" smtClean="0">
                        <a:latin typeface="Cambria Math" panose="02040503050406030204" pitchFamily="18" charset="0"/>
                        <a:ea typeface="华文中宋" panose="02010600040101010101" pitchFamily="2" charset="-122"/>
                      </a:rPr>
                      <m:t>张</m:t>
                    </m:r>
                    <m:r>
                      <a:rPr lang="zh-CN" altLang="en-US" i="1">
                        <a:latin typeface="Cambria Math" panose="02040503050406030204" pitchFamily="18" charset="0"/>
                        <a:ea typeface="华文中宋" panose="02010600040101010101" pitchFamily="2" charset="-122"/>
                      </a:rPr>
                      <m:t>图像</m:t>
                    </m:r>
                    <m:r>
                      <a:rPr lang="zh-CN" altLang="en-US" i="1" smtClean="0">
                        <a:latin typeface="Cambria Math" panose="02040503050406030204" pitchFamily="18" charset="0"/>
                        <a:ea typeface="华文中宋" panose="02010600040101010101" pitchFamily="2" charset="-122"/>
                      </a:rPr>
                      <m:t>的</m:t>
                    </m:r>
                    <m:r>
                      <a:rPr lang="zh-CN" altLang="en-US" i="1">
                        <a:latin typeface="Cambria Math" panose="02040503050406030204" pitchFamily="18" charset="0"/>
                        <a:ea typeface="华文中宋" panose="02010600040101010101" pitchFamily="2" charset="-122"/>
                      </a:rPr>
                      <m:t>像素</m:t>
                    </m:r>
                  </m:oMath>
                </a14:m>
                <a:r>
                  <a:rPr lang="zh-CN" altLang="en-US" dirty="0">
                    <a:latin typeface="华文中宋" panose="02010600040101010101" pitchFamily="2" charset="-122"/>
                    <a:ea typeface="华文中宋" panose="02010600040101010101" pitchFamily="2" charset="-122"/>
                  </a:rPr>
                  <a:t>数</a:t>
                </a:r>
                <a:endParaRPr lang="en-US" altLang="zh-CN" dirty="0">
                  <a:latin typeface="华文中宋" panose="02010600040101010101" pitchFamily="2" charset="-122"/>
                  <a:ea typeface="华文中宋" panose="02010600040101010101" pitchFamily="2" charset="-122"/>
                </a:endParaRPr>
              </a:p>
              <a:p>
                <a14:m>
                  <m:oMath xmlns:m="http://schemas.openxmlformats.org/officeDocument/2006/math">
                    <m:sSub>
                      <m:sSubPr>
                        <m:ctrlPr>
                          <a:rPr lang="en-US" altLang="zh-CN" b="0" i="1" smtClean="0">
                            <a:latin typeface="Cambria Math" panose="02040503050406030204" pitchFamily="18" charset="0"/>
                            <a:ea typeface="华文中宋" panose="02010600040101010101" pitchFamily="2" charset="-122"/>
                          </a:rPr>
                        </m:ctrlPr>
                      </m:sSubPr>
                      <m:e>
                        <m:r>
                          <a:rPr lang="en-US" altLang="zh-CN" b="0" i="1" smtClean="0">
                            <a:latin typeface="Cambria Math" panose="02040503050406030204" pitchFamily="18" charset="0"/>
                            <a:ea typeface="华文中宋" panose="02010600040101010101" pitchFamily="2" charset="-122"/>
                          </a:rPr>
                          <m:t>𝑥</m:t>
                        </m:r>
                      </m:e>
                      <m:sub>
                        <m:r>
                          <a:rPr lang="en-US" altLang="zh-CN" b="0" i="1" smtClean="0">
                            <a:latin typeface="Cambria Math" panose="02040503050406030204" pitchFamily="18" charset="0"/>
                            <a:ea typeface="华文中宋" panose="02010600040101010101" pitchFamily="2" charset="-122"/>
                          </a:rPr>
                          <m:t>𝑖𝑗</m:t>
                        </m:r>
                      </m:sub>
                    </m:sSub>
                    <m:r>
                      <a:rPr lang="en-US" altLang="zh-CN" b="0" i="1" smtClean="0">
                        <a:latin typeface="Cambria Math" panose="02040503050406030204" pitchFamily="18" charset="0"/>
                        <a:ea typeface="华文中宋" panose="02010600040101010101" pitchFamily="2" charset="-122"/>
                      </a:rPr>
                      <m:t>:</m:t>
                    </m:r>
                    <m:r>
                      <a:rPr lang="en-US" altLang="zh-CN" b="0" i="1" smtClean="0">
                        <a:solidFill>
                          <a:schemeClr val="accent5">
                            <a:lumMod val="75000"/>
                          </a:schemeClr>
                        </a:solidFill>
                        <a:latin typeface="Cambria Math" panose="02040503050406030204" pitchFamily="18" charset="0"/>
                        <a:ea typeface="华文中宋" panose="02010600040101010101" pitchFamily="2" charset="-122"/>
                      </a:rPr>
                      <m:t>𝐻𝑅</m:t>
                    </m:r>
                    <m:d>
                      <m:dPr>
                        <m:ctrlPr>
                          <a:rPr lang="en-US" altLang="zh-CN" b="0" i="1" smtClean="0">
                            <a:solidFill>
                              <a:schemeClr val="accent5">
                                <a:lumMod val="75000"/>
                              </a:schemeClr>
                            </a:solidFill>
                            <a:latin typeface="Cambria Math" panose="02040503050406030204" pitchFamily="18" charset="0"/>
                            <a:ea typeface="华文中宋" panose="02010600040101010101" pitchFamily="2" charset="-122"/>
                          </a:rPr>
                        </m:ctrlPr>
                      </m:dPr>
                      <m:e>
                        <m:r>
                          <a:rPr lang="en-US" altLang="zh-CN" b="0" i="1" smtClean="0">
                            <a:solidFill>
                              <a:schemeClr val="accent5">
                                <a:lumMod val="75000"/>
                              </a:schemeClr>
                            </a:solidFill>
                            <a:latin typeface="Cambria Math" panose="02040503050406030204" pitchFamily="18" charset="0"/>
                            <a:ea typeface="华文中宋" panose="02010600040101010101" pitchFamily="2" charset="-122"/>
                          </a:rPr>
                          <m:t>𝑔𝑟𝑜𝑢𝑛𝑑</m:t>
                        </m:r>
                        <m:r>
                          <a:rPr lang="en-US" altLang="zh-CN" b="0" i="1" smtClean="0">
                            <a:solidFill>
                              <a:schemeClr val="accent5">
                                <a:lumMod val="75000"/>
                              </a:schemeClr>
                            </a:solidFill>
                            <a:latin typeface="Cambria Math" panose="02040503050406030204" pitchFamily="18" charset="0"/>
                            <a:ea typeface="华文中宋" panose="02010600040101010101" pitchFamily="2" charset="-122"/>
                          </a:rPr>
                          <m:t> </m:t>
                        </m:r>
                        <m:r>
                          <a:rPr lang="en-US" altLang="zh-CN" b="0" i="1" smtClean="0">
                            <a:solidFill>
                              <a:schemeClr val="accent5">
                                <a:lumMod val="75000"/>
                              </a:schemeClr>
                            </a:solidFill>
                            <a:latin typeface="Cambria Math" panose="02040503050406030204" pitchFamily="18" charset="0"/>
                            <a:ea typeface="华文中宋" panose="02010600040101010101" pitchFamily="2" charset="-122"/>
                          </a:rPr>
                          <m:t>𝑡𝑟𝑢𝑡h</m:t>
                        </m:r>
                      </m:e>
                    </m:d>
                    <m:r>
                      <a:rPr lang="zh-CN" altLang="en-US" i="1">
                        <a:solidFill>
                          <a:schemeClr val="accent5">
                            <a:lumMod val="75000"/>
                          </a:schemeClr>
                        </a:solidFill>
                        <a:latin typeface="Cambria Math" panose="02040503050406030204" pitchFamily="18" charset="0"/>
                        <a:ea typeface="华文中宋" panose="02010600040101010101" pitchFamily="2" charset="-122"/>
                      </a:rPr>
                      <m:t>图像</m:t>
                    </m:r>
                  </m:oMath>
                </a14:m>
                <a:r>
                  <a:rPr lang="zh-CN" altLang="en-US" dirty="0">
                    <a:solidFill>
                      <a:schemeClr val="accent5">
                        <a:lumMod val="75000"/>
                      </a:schemeClr>
                    </a:solidFill>
                    <a:latin typeface="华文中宋" panose="02010600040101010101" pitchFamily="2" charset="-122"/>
                    <a:ea typeface="华文中宋" panose="02010600040101010101" pitchFamily="2" charset="-122"/>
                  </a:rPr>
                  <a:t>集</a:t>
                </a:r>
                <a:r>
                  <a:rPr lang="zh-CN" altLang="en-US" dirty="0">
                    <a:latin typeface="华文中宋" panose="02010600040101010101" pitchFamily="2" charset="-122"/>
                    <a:ea typeface="华文中宋" panose="02010600040101010101" pitchFamily="2" charset="-122"/>
                  </a:rPr>
                  <a:t>第</a:t>
                </a:r>
                <a14:m>
                  <m:oMath xmlns:m="http://schemas.openxmlformats.org/officeDocument/2006/math">
                    <m:r>
                      <a:rPr lang="en-US" altLang="zh-CN" b="0" i="0" smtClean="0">
                        <a:latin typeface="Cambria Math" panose="02040503050406030204" pitchFamily="18" charset="0"/>
                        <a:ea typeface="华文中宋" panose="02010600040101010101" pitchFamily="2" charset="-122"/>
                      </a:rPr>
                      <m:t> </m:t>
                    </m:r>
                    <m:r>
                      <a:rPr lang="en-US" altLang="zh-CN" b="0" i="1" smtClean="0">
                        <a:latin typeface="Cambria Math" panose="02040503050406030204" pitchFamily="18" charset="0"/>
                        <a:ea typeface="华文中宋" panose="02010600040101010101" pitchFamily="2" charset="-122"/>
                      </a:rPr>
                      <m:t>𝑖</m:t>
                    </m:r>
                    <m:r>
                      <a:rPr lang="en-US" altLang="zh-CN" b="0" i="1" smtClean="0">
                        <a:latin typeface="Cambria Math" panose="02040503050406030204" pitchFamily="18" charset="0"/>
                        <a:ea typeface="华文中宋" panose="02010600040101010101" pitchFamily="2" charset="-122"/>
                      </a:rPr>
                      <m:t> </m:t>
                    </m:r>
                    <m:r>
                      <a:rPr lang="zh-CN" altLang="en-US" i="1">
                        <a:latin typeface="Cambria Math" panose="02040503050406030204" pitchFamily="18" charset="0"/>
                        <a:ea typeface="华文中宋" panose="02010600040101010101" pitchFamily="2" charset="-122"/>
                      </a:rPr>
                      <m:t>张</m:t>
                    </m:r>
                  </m:oMath>
                </a14:m>
                <a:r>
                  <a:rPr lang="zh-CN" altLang="en-US" dirty="0">
                    <a:latin typeface="华文中宋" panose="02010600040101010101" pitchFamily="2" charset="-122"/>
                    <a:ea typeface="华文中宋" panose="02010600040101010101" pitchFamily="2" charset="-122"/>
                  </a:rPr>
                  <a:t>图的第</a:t>
                </a:r>
                <a14:m>
                  <m:oMath xmlns:m="http://schemas.openxmlformats.org/officeDocument/2006/math">
                    <m:r>
                      <a:rPr lang="en-US" altLang="zh-CN">
                        <a:latin typeface="Cambria Math" panose="02040503050406030204" pitchFamily="18" charset="0"/>
                        <a:ea typeface="华文中宋" panose="02010600040101010101" pitchFamily="2" charset="-122"/>
                      </a:rPr>
                      <m:t> </m:t>
                    </m:r>
                    <m:r>
                      <a:rPr lang="en-US" altLang="zh-CN" b="0" i="1" smtClean="0">
                        <a:latin typeface="Cambria Math" panose="02040503050406030204" pitchFamily="18" charset="0"/>
                        <a:ea typeface="华文中宋" panose="02010600040101010101" pitchFamily="2" charset="-122"/>
                      </a:rPr>
                      <m:t>𝑗</m:t>
                    </m:r>
                    <m:r>
                      <a:rPr lang="en-US" altLang="zh-CN" i="1">
                        <a:latin typeface="Cambria Math" panose="02040503050406030204" pitchFamily="18" charset="0"/>
                        <a:ea typeface="华文中宋" panose="02010600040101010101" pitchFamily="2" charset="-122"/>
                      </a:rPr>
                      <m:t> </m:t>
                    </m:r>
                    <m:r>
                      <a:rPr lang="zh-CN" altLang="en-US" i="1" smtClean="0">
                        <a:latin typeface="Cambria Math" panose="02040503050406030204" pitchFamily="18" charset="0"/>
                        <a:ea typeface="华文中宋" panose="02010600040101010101" pitchFamily="2" charset="-122"/>
                      </a:rPr>
                      <m:t>个</m:t>
                    </m:r>
                  </m:oMath>
                </a14:m>
                <a:r>
                  <a:rPr lang="zh-CN" altLang="en-US" dirty="0">
                    <a:latin typeface="华文中宋" panose="02010600040101010101" pitchFamily="2" charset="-122"/>
                    <a:ea typeface="华文中宋" panose="02010600040101010101" pitchFamily="2" charset="-122"/>
                  </a:rPr>
                  <a:t>像素对应的海表温度值</a:t>
                </a:r>
                <a:endParaRPr lang="en-US" altLang="zh-CN" dirty="0">
                  <a:latin typeface="华文中宋" panose="02010600040101010101" pitchFamily="2" charset="-122"/>
                  <a:ea typeface="华文中宋" panose="02010600040101010101" pitchFamily="2" charset="-122"/>
                </a:endParaRPr>
              </a:p>
              <a:p>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𝑖𝑗</m:t>
                        </m:r>
                      </m:sub>
                    </m:sSub>
                    <m:r>
                      <a:rPr lang="en-US" altLang="zh-CN" b="0" i="1" smtClean="0">
                        <a:latin typeface="Cambria Math" panose="02040503050406030204" pitchFamily="18" charset="0"/>
                        <a:ea typeface="华文中宋" panose="02010600040101010101" pitchFamily="2" charset="-122"/>
                      </a:rPr>
                      <m:t>:</m:t>
                    </m:r>
                    <m:r>
                      <a:rPr lang="en-US" altLang="zh-CN" b="0" i="1" smtClean="0">
                        <a:solidFill>
                          <a:schemeClr val="accent5">
                            <a:lumMod val="75000"/>
                          </a:schemeClr>
                        </a:solidFill>
                        <a:latin typeface="Cambria Math" panose="02040503050406030204" pitchFamily="18" charset="0"/>
                        <a:ea typeface="华文中宋" panose="02010600040101010101" pitchFamily="2" charset="-122"/>
                      </a:rPr>
                      <m:t>𝑆𝑅</m:t>
                    </m:r>
                    <m:d>
                      <m:dPr>
                        <m:ctrlPr>
                          <a:rPr lang="en-US" altLang="zh-CN" b="0" i="1" smtClean="0">
                            <a:solidFill>
                              <a:schemeClr val="accent5">
                                <a:lumMod val="75000"/>
                              </a:schemeClr>
                            </a:solidFill>
                            <a:latin typeface="Cambria Math" panose="02040503050406030204" pitchFamily="18" charset="0"/>
                            <a:ea typeface="华文中宋" panose="02010600040101010101" pitchFamily="2" charset="-122"/>
                          </a:rPr>
                        </m:ctrlPr>
                      </m:dPr>
                      <m:e>
                        <m:r>
                          <a:rPr lang="zh-CN" altLang="en-US" i="1">
                            <a:solidFill>
                              <a:schemeClr val="accent5">
                                <a:lumMod val="75000"/>
                              </a:schemeClr>
                            </a:solidFill>
                            <a:latin typeface="Cambria Math" panose="02040503050406030204" pitchFamily="18" charset="0"/>
                            <a:ea typeface="华文中宋" panose="02010600040101010101" pitchFamily="2" charset="-122"/>
                          </a:rPr>
                          <m:t>超分</m:t>
                        </m:r>
                        <m:r>
                          <a:rPr lang="zh-CN" altLang="en-US" i="1" smtClean="0">
                            <a:solidFill>
                              <a:schemeClr val="accent5">
                                <a:lumMod val="75000"/>
                              </a:schemeClr>
                            </a:solidFill>
                            <a:latin typeface="Cambria Math" panose="02040503050406030204" pitchFamily="18" charset="0"/>
                            <a:ea typeface="华文中宋" panose="02010600040101010101" pitchFamily="2" charset="-122"/>
                          </a:rPr>
                          <m:t>处理</m:t>
                        </m:r>
                        <m:r>
                          <a:rPr lang="zh-CN" altLang="en-US" i="1">
                            <a:solidFill>
                              <a:schemeClr val="accent5">
                                <a:lumMod val="75000"/>
                              </a:schemeClr>
                            </a:solidFill>
                            <a:latin typeface="Cambria Math" panose="02040503050406030204" pitchFamily="18" charset="0"/>
                            <a:ea typeface="华文中宋" panose="02010600040101010101" pitchFamily="2" charset="-122"/>
                          </a:rPr>
                          <m:t>后</m:t>
                        </m:r>
                      </m:e>
                    </m:d>
                    <m:r>
                      <a:rPr lang="zh-CN" altLang="en-US" i="1">
                        <a:solidFill>
                          <a:schemeClr val="accent5">
                            <a:lumMod val="75000"/>
                          </a:schemeClr>
                        </a:solidFill>
                        <a:latin typeface="Cambria Math" panose="02040503050406030204" pitchFamily="18" charset="0"/>
                        <a:ea typeface="华文中宋" panose="02010600040101010101" pitchFamily="2" charset="-122"/>
                      </a:rPr>
                      <m:t>图像</m:t>
                    </m:r>
                  </m:oMath>
                </a14:m>
                <a:r>
                  <a:rPr lang="zh-CN" altLang="en-US" dirty="0">
                    <a:solidFill>
                      <a:schemeClr val="accent5">
                        <a:lumMod val="75000"/>
                      </a:schemeClr>
                    </a:solidFill>
                    <a:latin typeface="华文中宋" panose="02010600040101010101" pitchFamily="2" charset="-122"/>
                    <a:ea typeface="华文中宋" panose="02010600040101010101" pitchFamily="2" charset="-122"/>
                  </a:rPr>
                  <a:t>集</a:t>
                </a:r>
                <a:r>
                  <a:rPr lang="zh-CN" altLang="en-US" dirty="0">
                    <a:latin typeface="华文中宋" panose="02010600040101010101" pitchFamily="2" charset="-122"/>
                    <a:ea typeface="华文中宋" panose="02010600040101010101" pitchFamily="2" charset="-122"/>
                  </a:rPr>
                  <a:t>第</a:t>
                </a:r>
                <a14:m>
                  <m:oMath xmlns:m="http://schemas.openxmlformats.org/officeDocument/2006/math">
                    <m:r>
                      <a:rPr lang="en-US" altLang="zh-CN" b="0" i="0" smtClean="0">
                        <a:latin typeface="Cambria Math" panose="02040503050406030204" pitchFamily="18" charset="0"/>
                        <a:ea typeface="华文中宋" panose="02010600040101010101" pitchFamily="2" charset="-122"/>
                      </a:rPr>
                      <m:t> </m:t>
                    </m:r>
                    <m:r>
                      <a:rPr lang="en-US" altLang="zh-CN" b="0" i="1" smtClean="0">
                        <a:latin typeface="Cambria Math" panose="02040503050406030204" pitchFamily="18" charset="0"/>
                        <a:ea typeface="华文中宋" panose="02010600040101010101" pitchFamily="2" charset="-122"/>
                      </a:rPr>
                      <m:t>𝑖</m:t>
                    </m:r>
                    <m:r>
                      <a:rPr lang="en-US" altLang="zh-CN" b="0" i="1" smtClean="0">
                        <a:latin typeface="Cambria Math" panose="02040503050406030204" pitchFamily="18" charset="0"/>
                        <a:ea typeface="华文中宋" panose="02010600040101010101" pitchFamily="2" charset="-122"/>
                      </a:rPr>
                      <m:t> </m:t>
                    </m:r>
                    <m:r>
                      <a:rPr lang="zh-CN" altLang="en-US" i="1">
                        <a:latin typeface="Cambria Math" panose="02040503050406030204" pitchFamily="18" charset="0"/>
                        <a:ea typeface="华文中宋" panose="02010600040101010101" pitchFamily="2" charset="-122"/>
                      </a:rPr>
                      <m:t>张</m:t>
                    </m:r>
                  </m:oMath>
                </a14:m>
                <a:r>
                  <a:rPr lang="zh-CN" altLang="en-US" dirty="0">
                    <a:latin typeface="华文中宋" panose="02010600040101010101" pitchFamily="2" charset="-122"/>
                    <a:ea typeface="华文中宋" panose="02010600040101010101" pitchFamily="2" charset="-122"/>
                  </a:rPr>
                  <a:t>图的第</a:t>
                </a:r>
                <a14:m>
                  <m:oMath xmlns:m="http://schemas.openxmlformats.org/officeDocument/2006/math">
                    <m:r>
                      <a:rPr lang="en-US" altLang="zh-CN">
                        <a:latin typeface="Cambria Math" panose="02040503050406030204" pitchFamily="18" charset="0"/>
                        <a:ea typeface="华文中宋" panose="02010600040101010101" pitchFamily="2" charset="-122"/>
                      </a:rPr>
                      <m:t> </m:t>
                    </m:r>
                    <m:r>
                      <a:rPr lang="en-US" altLang="zh-CN" b="0" i="1" smtClean="0">
                        <a:latin typeface="Cambria Math" panose="02040503050406030204" pitchFamily="18" charset="0"/>
                        <a:ea typeface="华文中宋" panose="02010600040101010101" pitchFamily="2" charset="-122"/>
                      </a:rPr>
                      <m:t>𝑗</m:t>
                    </m:r>
                    <m:r>
                      <a:rPr lang="en-US" altLang="zh-CN" i="1">
                        <a:latin typeface="Cambria Math" panose="02040503050406030204" pitchFamily="18" charset="0"/>
                        <a:ea typeface="华文中宋" panose="02010600040101010101" pitchFamily="2" charset="-122"/>
                      </a:rPr>
                      <m:t> </m:t>
                    </m:r>
                    <m:r>
                      <a:rPr lang="zh-CN" altLang="en-US" i="1" smtClean="0">
                        <a:latin typeface="Cambria Math" panose="02040503050406030204" pitchFamily="18" charset="0"/>
                        <a:ea typeface="华文中宋" panose="02010600040101010101" pitchFamily="2" charset="-122"/>
                      </a:rPr>
                      <m:t>个</m:t>
                    </m:r>
                  </m:oMath>
                </a14:m>
                <a:r>
                  <a:rPr lang="zh-CN" altLang="en-US" dirty="0">
                    <a:latin typeface="华文中宋" panose="02010600040101010101" pitchFamily="2" charset="-122"/>
                    <a:ea typeface="华文中宋" panose="02010600040101010101" pitchFamily="2" charset="-122"/>
                  </a:rPr>
                  <a:t>像素对应的海表温度值</a:t>
                </a:r>
                <a:endParaRPr lang="en-US" altLang="zh-CN" dirty="0">
                  <a:latin typeface="华文中宋" panose="02010600040101010101" pitchFamily="2" charset="-122"/>
                  <a:ea typeface="华文中宋" panose="02010600040101010101" pitchFamily="2" charset="-122"/>
                </a:endParaRPr>
              </a:p>
            </p:txBody>
          </p:sp>
        </mc:Choice>
        <mc:Fallback xmlns="">
          <p:sp>
            <p:nvSpPr>
              <p:cNvPr id="5" name="文本框 4">
                <a:extLst>
                  <a:ext uri="{FF2B5EF4-FFF2-40B4-BE49-F238E27FC236}">
                    <a16:creationId xmlns:a16="http://schemas.microsoft.com/office/drawing/2014/main" id="{5C866E1F-1EAC-D41B-0714-625A6D293A21}"/>
                  </a:ext>
                </a:extLst>
              </p:cNvPr>
              <p:cNvSpPr txBox="1">
                <a:spLocks noRot="1" noChangeAspect="1" noMove="1" noResize="1" noEditPoints="1" noAdjustHandles="1" noChangeArrowheads="1" noChangeShapeType="1" noTextEdit="1"/>
              </p:cNvSpPr>
              <p:nvPr/>
            </p:nvSpPr>
            <p:spPr>
              <a:xfrm>
                <a:off x="5048181" y="1360575"/>
                <a:ext cx="7035516" cy="1174039"/>
              </a:xfrm>
              <a:prstGeom prst="rect">
                <a:avLst/>
              </a:prstGeom>
              <a:blipFill>
                <a:blip r:embed="rId3"/>
                <a:stretch>
                  <a:fillRect l="-1127" t="-6736" r="-1300" b="-9326"/>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203823A9-3132-F278-B0C1-2B34AA3B411A}"/>
              </a:ext>
            </a:extLst>
          </p:cNvPr>
          <p:cNvGraphicFramePr>
            <a:graphicFrameLocks noGrp="1"/>
          </p:cNvGraphicFramePr>
          <p:nvPr>
            <p:extLst>
              <p:ext uri="{D42A27DB-BD31-4B8C-83A1-F6EECF244321}">
                <p14:modId xmlns:p14="http://schemas.microsoft.com/office/powerpoint/2010/main" val="2511672836"/>
              </p:ext>
            </p:extLst>
          </p:nvPr>
        </p:nvGraphicFramePr>
        <p:xfrm>
          <a:off x="362861" y="3382532"/>
          <a:ext cx="5238557" cy="3229576"/>
        </p:xfrm>
        <a:graphic>
          <a:graphicData uri="http://schemas.openxmlformats.org/drawingml/2006/table">
            <a:tbl>
              <a:tblPr firstRow="1" bandRow="1">
                <a:tableStyleId>{22838BEF-8BB2-4498-84A7-C5851F593DF1}</a:tableStyleId>
              </a:tblPr>
              <a:tblGrid>
                <a:gridCol w="3682477">
                  <a:extLst>
                    <a:ext uri="{9D8B030D-6E8A-4147-A177-3AD203B41FA5}">
                      <a16:colId xmlns:a16="http://schemas.microsoft.com/office/drawing/2014/main" val="935712550"/>
                    </a:ext>
                  </a:extLst>
                </a:gridCol>
                <a:gridCol w="1556080">
                  <a:extLst>
                    <a:ext uri="{9D8B030D-6E8A-4147-A177-3AD203B41FA5}">
                      <a16:colId xmlns:a16="http://schemas.microsoft.com/office/drawing/2014/main" val="3747275389"/>
                    </a:ext>
                  </a:extLst>
                </a:gridCol>
              </a:tblGrid>
              <a:tr h="461368">
                <a:tc>
                  <a:txBody>
                    <a:bodyPr/>
                    <a:lstStyle/>
                    <a:p>
                      <a:pPr algn="ct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模型</a:t>
                      </a:r>
                    </a:p>
                  </a:txBody>
                  <a:tcPr anchor="ctr">
                    <a:solidFill>
                      <a:schemeClr val="accent1">
                        <a:lumMod val="60000"/>
                        <a:lumOff val="40000"/>
                      </a:schemeClr>
                    </a:solidFill>
                  </a:tcPr>
                </a:tc>
                <a:tc>
                  <a:txBody>
                    <a:bodyPr/>
                    <a:lstStyle/>
                    <a:p>
                      <a:pPr algn="ctr"/>
                      <a:r>
                        <a:rPr lang="en-US" altLang="zh-CN"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RMSE(</a:t>
                      </a: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p>
                  </a:txBody>
                  <a:tcPr anchor="ctr">
                    <a:solidFill>
                      <a:schemeClr val="accent1">
                        <a:lumMod val="60000"/>
                        <a:lumOff val="40000"/>
                      </a:schemeClr>
                    </a:solidFill>
                  </a:tcPr>
                </a:tc>
                <a:extLst>
                  <a:ext uri="{0D108BD9-81ED-4DB2-BD59-A6C34878D82A}">
                    <a16:rowId xmlns:a16="http://schemas.microsoft.com/office/drawing/2014/main" val="2578967239"/>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SR3</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初始模型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0.5813</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267882200"/>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M0+DDIM(</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加速模型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M1)</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algn="ct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0.6235</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4050407778"/>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M1+</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修改条件拼接方式</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(M2)</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0.5381</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045243185"/>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M2+</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条件反加噪</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(M3)</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0.5091</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600559164"/>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M3+MAE(M4)</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algn="ctr"/>
                      <a:r>
                        <a:rPr lang="en-US" altLang="zh-CN"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0.4689</a:t>
                      </a:r>
                      <a:endParaRPr lang="zh-CN" altLang="en-US"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435625500"/>
                  </a:ext>
                </a:extLst>
              </a:tr>
              <a:tr h="461368">
                <a:tc gridSpan="2">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M4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SST - Diffusion</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hMerge="1">
                  <a:txBody>
                    <a:bodyPr/>
                    <a:lstStyle/>
                    <a:p>
                      <a:pPr algn="ct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24784799"/>
                  </a:ext>
                </a:extLst>
              </a:tr>
            </a:tbl>
          </a:graphicData>
        </a:graphic>
      </p:graphicFrame>
      <p:graphicFrame>
        <p:nvGraphicFramePr>
          <p:cNvPr id="9" name="表格 8">
            <a:extLst>
              <a:ext uri="{FF2B5EF4-FFF2-40B4-BE49-F238E27FC236}">
                <a16:creationId xmlns:a16="http://schemas.microsoft.com/office/drawing/2014/main" id="{A0E2D01C-2B1E-E6F1-7A6C-3D363959FC58}"/>
              </a:ext>
            </a:extLst>
          </p:cNvPr>
          <p:cNvGraphicFramePr>
            <a:graphicFrameLocks noGrp="1"/>
          </p:cNvGraphicFramePr>
          <p:nvPr>
            <p:extLst>
              <p:ext uri="{D42A27DB-BD31-4B8C-83A1-F6EECF244321}">
                <p14:modId xmlns:p14="http://schemas.microsoft.com/office/powerpoint/2010/main" val="620201417"/>
              </p:ext>
            </p:extLst>
          </p:nvPr>
        </p:nvGraphicFramePr>
        <p:xfrm>
          <a:off x="5940598" y="3946585"/>
          <a:ext cx="6039582" cy="1845472"/>
        </p:xfrm>
        <a:graphic>
          <a:graphicData uri="http://schemas.openxmlformats.org/drawingml/2006/table">
            <a:tbl>
              <a:tblPr firstRow="1" bandRow="1">
                <a:tableStyleId>{22838BEF-8BB2-4498-84A7-C5851F593DF1}</a:tableStyleId>
              </a:tblPr>
              <a:tblGrid>
                <a:gridCol w="3064479">
                  <a:extLst>
                    <a:ext uri="{9D8B030D-6E8A-4147-A177-3AD203B41FA5}">
                      <a16:colId xmlns:a16="http://schemas.microsoft.com/office/drawing/2014/main" val="935712550"/>
                    </a:ext>
                  </a:extLst>
                </a:gridCol>
                <a:gridCol w="2975103">
                  <a:extLst>
                    <a:ext uri="{9D8B030D-6E8A-4147-A177-3AD203B41FA5}">
                      <a16:colId xmlns:a16="http://schemas.microsoft.com/office/drawing/2014/main" val="3747275389"/>
                    </a:ext>
                  </a:extLst>
                </a:gridCol>
              </a:tblGrid>
              <a:tr h="461368">
                <a:tc>
                  <a:txBody>
                    <a:bodyPr/>
                    <a:lstStyle/>
                    <a:p>
                      <a:pPr algn="ct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模型</a:t>
                      </a:r>
                    </a:p>
                  </a:txBody>
                  <a:tcPr anchor="ctr">
                    <a:solidFill>
                      <a:schemeClr val="accent5">
                        <a:lumMod val="75000"/>
                      </a:schemeClr>
                    </a:solidFill>
                  </a:tcPr>
                </a:tc>
                <a:tc>
                  <a:txBody>
                    <a:bodyPr/>
                    <a:lstStyle/>
                    <a:p>
                      <a:pPr algn="ct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单张图像平均逆扩散时间</a:t>
                      </a:r>
                      <a:r>
                        <a:rPr lang="en-US" altLang="zh-CN"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(s)</a:t>
                      </a:r>
                      <a:endPar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75000"/>
                      </a:schemeClr>
                    </a:solidFill>
                  </a:tcPr>
                </a:tc>
                <a:extLst>
                  <a:ext uri="{0D108BD9-81ED-4DB2-BD59-A6C34878D82A}">
                    <a16:rowId xmlns:a16="http://schemas.microsoft.com/office/drawing/2014/main" val="2578967239"/>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SR3</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初始模型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60</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20000"/>
                        <a:lumOff val="80000"/>
                      </a:schemeClr>
                    </a:solidFill>
                  </a:tcPr>
                </a:tc>
                <a:extLst>
                  <a:ext uri="{0D108BD9-81ED-4DB2-BD59-A6C34878D82A}">
                    <a16:rowId xmlns:a16="http://schemas.microsoft.com/office/drawing/2014/main" val="1267882200"/>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M0+DDIM(</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加速模型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M1)</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40000"/>
                        <a:lumOff val="60000"/>
                      </a:schemeClr>
                    </a:solidFill>
                  </a:tcPr>
                </a:tc>
                <a:tc>
                  <a:txBody>
                    <a:bodyPr/>
                    <a:lstStyle/>
                    <a:p>
                      <a:pPr algn="ctr"/>
                      <a:r>
                        <a:rPr lang="en-US" altLang="zh-CN"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5</a:t>
                      </a:r>
                      <a:endParaRPr lang="zh-CN" altLang="en-US"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40000"/>
                        <a:lumOff val="60000"/>
                      </a:schemeClr>
                    </a:solidFill>
                  </a:tcPr>
                </a:tc>
                <a:extLst>
                  <a:ext uri="{0D108BD9-81ED-4DB2-BD59-A6C34878D82A}">
                    <a16:rowId xmlns:a16="http://schemas.microsoft.com/office/drawing/2014/main" val="4050407778"/>
                  </a:ext>
                </a:extLst>
              </a:tr>
              <a:tr h="46136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latin typeface="Times New Roman" panose="02020603050405020304" pitchFamily="18" charset="0"/>
                          <a:ea typeface="华文中宋" panose="02010600040101010101" pitchFamily="2" charset="-122"/>
                          <a:cs typeface="Times New Roman" panose="02020603050405020304" pitchFamily="18" charset="0"/>
                        </a:rPr>
                        <a:t>NVIDIA Getforce_RTX_3090</a:t>
                      </a:r>
                      <a:endParaRPr lang="zh-CN" altLang="en-US" sz="1800" kern="1200" dirty="0">
                        <a:solidFill>
                          <a:schemeClr val="dk1"/>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solidFill>
                      <a:schemeClr val="accent5">
                        <a:lumMod val="20000"/>
                        <a:lumOff val="80000"/>
                      </a:schemeClr>
                    </a:solidFill>
                  </a:tcPr>
                </a:tc>
                <a:tc hMerge="1">
                  <a:txBody>
                    <a:bodyPr/>
                    <a:lstStyle/>
                    <a:p>
                      <a:pPr algn="ct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2334433177"/>
                  </a:ext>
                </a:extLst>
              </a:tr>
            </a:tbl>
          </a:graphicData>
        </a:graphic>
      </p:graphicFrame>
      <p:sp>
        <p:nvSpPr>
          <p:cNvPr id="10" name="文本框 9">
            <a:extLst>
              <a:ext uri="{FF2B5EF4-FFF2-40B4-BE49-F238E27FC236}">
                <a16:creationId xmlns:a16="http://schemas.microsoft.com/office/drawing/2014/main" id="{E8B5CE94-47DA-F184-9A18-6F4848A62FF9}"/>
              </a:ext>
            </a:extLst>
          </p:cNvPr>
          <p:cNvSpPr txBox="1"/>
          <p:nvPr/>
        </p:nvSpPr>
        <p:spPr>
          <a:xfrm>
            <a:off x="2120364" y="2849329"/>
            <a:ext cx="1723549" cy="461665"/>
          </a:xfrm>
          <a:prstGeom prst="rect">
            <a:avLst/>
          </a:prstGeom>
          <a:noFill/>
        </p:spPr>
        <p:txBody>
          <a:bodyPr wrap="none" rtlCol="0">
            <a:spAutoFit/>
          </a:bodyPr>
          <a:lstStyle/>
          <a:p>
            <a:r>
              <a:rPr lang="zh-CN" altLang="en-US" sz="2400" b="1" dirty="0">
                <a:solidFill>
                  <a:schemeClr val="accent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超分准确率</a:t>
            </a:r>
          </a:p>
        </p:txBody>
      </p:sp>
      <p:sp>
        <p:nvSpPr>
          <p:cNvPr id="11" name="文本框 10">
            <a:extLst>
              <a:ext uri="{FF2B5EF4-FFF2-40B4-BE49-F238E27FC236}">
                <a16:creationId xmlns:a16="http://schemas.microsoft.com/office/drawing/2014/main" id="{0919F1CD-98AA-F9F6-E3CB-90F8A50E3BB1}"/>
              </a:ext>
            </a:extLst>
          </p:cNvPr>
          <p:cNvSpPr txBox="1"/>
          <p:nvPr/>
        </p:nvSpPr>
        <p:spPr>
          <a:xfrm>
            <a:off x="8098614" y="3382532"/>
            <a:ext cx="1723549" cy="461665"/>
          </a:xfrm>
          <a:prstGeom prst="rect">
            <a:avLst/>
          </a:prstGeom>
          <a:noFill/>
        </p:spPr>
        <p:txBody>
          <a:bodyPr wrap="none" rtlCol="0">
            <a:spAutoFit/>
          </a:bodyPr>
          <a:lstStyle/>
          <a:p>
            <a:r>
              <a:rPr lang="zh-CN" altLang="en-US" sz="2400" b="1" dirty="0">
                <a:solidFill>
                  <a:schemeClr val="accent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逆扩散时间</a:t>
            </a:r>
          </a:p>
        </p:txBody>
      </p:sp>
    </p:spTree>
    <p:extLst>
      <p:ext uri="{BB962C8B-B14F-4D97-AF65-F5344CB8AC3E}">
        <p14:creationId xmlns:p14="http://schemas.microsoft.com/office/powerpoint/2010/main" val="47101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158F56-D4EE-689C-5D4D-07A570B5B8F5}"/>
              </a:ext>
            </a:extLst>
          </p:cNvPr>
          <p:cNvSpPr>
            <a:spLocks noGrp="1"/>
          </p:cNvSpPr>
          <p:nvPr>
            <p:ph type="title"/>
          </p:nvPr>
        </p:nvSpPr>
        <p:spPr>
          <a:xfrm>
            <a:off x="553346" y="106994"/>
            <a:ext cx="8893258" cy="805252"/>
          </a:xfrm>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结果分析</a:t>
            </a:r>
          </a:p>
        </p:txBody>
      </p:sp>
      <p:pic>
        <p:nvPicPr>
          <p:cNvPr id="4" name="图片 3">
            <a:extLst>
              <a:ext uri="{FF2B5EF4-FFF2-40B4-BE49-F238E27FC236}">
                <a16:creationId xmlns:a16="http://schemas.microsoft.com/office/drawing/2014/main" id="{E75CE5EF-36FB-9E98-5052-C375EBF05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7336" y="1587141"/>
            <a:ext cx="1265658" cy="1265658"/>
          </a:xfrm>
          <a:prstGeom prst="rect">
            <a:avLst/>
          </a:prstGeom>
        </p:spPr>
      </p:pic>
      <p:sp>
        <p:nvSpPr>
          <p:cNvPr id="5" name="矩形 4">
            <a:extLst>
              <a:ext uri="{FF2B5EF4-FFF2-40B4-BE49-F238E27FC236}">
                <a16:creationId xmlns:a16="http://schemas.microsoft.com/office/drawing/2014/main" id="{E4CE8541-46F9-912D-7289-C2A84E884C70}"/>
              </a:ext>
            </a:extLst>
          </p:cNvPr>
          <p:cNvSpPr/>
          <p:nvPr/>
        </p:nvSpPr>
        <p:spPr>
          <a:xfrm>
            <a:off x="6290244" y="3429000"/>
            <a:ext cx="2000569"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SST-Diffusion</a:t>
            </a:r>
            <a:endParaRPr kumimoji="0" lang="en-US" altLang="zh-CN"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pic>
        <p:nvPicPr>
          <p:cNvPr id="9" name="图片 8">
            <a:extLst>
              <a:ext uri="{FF2B5EF4-FFF2-40B4-BE49-F238E27FC236}">
                <a16:creationId xmlns:a16="http://schemas.microsoft.com/office/drawing/2014/main" id="{1E885234-3CD5-D8FD-EBE9-C67083F7A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2873" y="1587142"/>
            <a:ext cx="1265657" cy="1265657"/>
          </a:xfrm>
          <a:prstGeom prst="rect">
            <a:avLst/>
          </a:prstGeom>
        </p:spPr>
      </p:pic>
      <p:grpSp>
        <p:nvGrpSpPr>
          <p:cNvPr id="19" name="组合 18">
            <a:extLst>
              <a:ext uri="{FF2B5EF4-FFF2-40B4-BE49-F238E27FC236}">
                <a16:creationId xmlns:a16="http://schemas.microsoft.com/office/drawing/2014/main" id="{E6A266A0-379F-4BF1-AB74-4C99F7EA7D7A}"/>
              </a:ext>
            </a:extLst>
          </p:cNvPr>
          <p:cNvGrpSpPr/>
          <p:nvPr/>
        </p:nvGrpSpPr>
        <p:grpSpPr>
          <a:xfrm>
            <a:off x="578202" y="1615022"/>
            <a:ext cx="4727878" cy="1357616"/>
            <a:chOff x="6397849" y="2071384"/>
            <a:chExt cx="4727878" cy="1357616"/>
          </a:xfrm>
        </p:grpSpPr>
        <p:pic>
          <p:nvPicPr>
            <p:cNvPr id="11" name="图片 10">
              <a:extLst>
                <a:ext uri="{FF2B5EF4-FFF2-40B4-BE49-F238E27FC236}">
                  <a16:creationId xmlns:a16="http://schemas.microsoft.com/office/drawing/2014/main" id="{DA968862-A2FB-6615-59D6-2AE095BFA9FE}"/>
                </a:ext>
              </a:extLst>
            </p:cNvPr>
            <p:cNvPicPr>
              <a:picLocks noChangeAspect="1"/>
            </p:cNvPicPr>
            <p:nvPr/>
          </p:nvPicPr>
          <p:blipFill>
            <a:blip r:embed="rId4"/>
            <a:stretch>
              <a:fillRect/>
            </a:stretch>
          </p:blipFill>
          <p:spPr>
            <a:xfrm>
              <a:off x="6397849" y="2071384"/>
              <a:ext cx="1369631" cy="1357616"/>
            </a:xfrm>
            <a:prstGeom prst="rect">
              <a:avLst/>
            </a:prstGeom>
          </p:spPr>
        </p:pic>
        <p:pic>
          <p:nvPicPr>
            <p:cNvPr id="13" name="图片 12">
              <a:extLst>
                <a:ext uri="{FF2B5EF4-FFF2-40B4-BE49-F238E27FC236}">
                  <a16:creationId xmlns:a16="http://schemas.microsoft.com/office/drawing/2014/main" id="{C58A3504-0265-1934-B92E-CEF2BB1584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6723" y="2089119"/>
              <a:ext cx="1339881" cy="1339881"/>
            </a:xfrm>
            <a:prstGeom prst="rect">
              <a:avLst/>
            </a:prstGeom>
          </p:spPr>
        </p:pic>
        <p:pic>
          <p:nvPicPr>
            <p:cNvPr id="14" name="图片 13">
              <a:extLst>
                <a:ext uri="{FF2B5EF4-FFF2-40B4-BE49-F238E27FC236}">
                  <a16:creationId xmlns:a16="http://schemas.microsoft.com/office/drawing/2014/main" id="{A5C4AAC4-6CAC-B5D9-2C62-BA6B8A4D3B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85846" y="2089118"/>
              <a:ext cx="1339881" cy="1339881"/>
            </a:xfrm>
            <a:prstGeom prst="rect">
              <a:avLst/>
            </a:prstGeom>
          </p:spPr>
        </p:pic>
      </p:grpSp>
      <p:pic>
        <p:nvPicPr>
          <p:cNvPr id="26" name="图片 25">
            <a:extLst>
              <a:ext uri="{FF2B5EF4-FFF2-40B4-BE49-F238E27FC236}">
                <a16:creationId xmlns:a16="http://schemas.microsoft.com/office/drawing/2014/main" id="{126CE3BC-1E76-F390-D592-6ED8553250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28409" y="1585970"/>
            <a:ext cx="1265656" cy="1265656"/>
          </a:xfrm>
          <a:prstGeom prst="rect">
            <a:avLst/>
          </a:prstGeom>
        </p:spPr>
      </p:pic>
      <p:graphicFrame>
        <p:nvGraphicFramePr>
          <p:cNvPr id="27" name="表格 26">
            <a:extLst>
              <a:ext uri="{FF2B5EF4-FFF2-40B4-BE49-F238E27FC236}">
                <a16:creationId xmlns:a16="http://schemas.microsoft.com/office/drawing/2014/main" id="{D6793FD2-E5A8-C85D-4D87-84467CF4D802}"/>
              </a:ext>
            </a:extLst>
          </p:cNvPr>
          <p:cNvGraphicFramePr>
            <a:graphicFrameLocks noGrp="1"/>
          </p:cNvGraphicFramePr>
          <p:nvPr>
            <p:extLst>
              <p:ext uri="{D42A27DB-BD31-4B8C-83A1-F6EECF244321}">
                <p14:modId xmlns:p14="http://schemas.microsoft.com/office/powerpoint/2010/main" val="526530761"/>
              </p:ext>
            </p:extLst>
          </p:nvPr>
        </p:nvGraphicFramePr>
        <p:xfrm>
          <a:off x="347041" y="3263257"/>
          <a:ext cx="5238557" cy="3229576"/>
        </p:xfrm>
        <a:graphic>
          <a:graphicData uri="http://schemas.openxmlformats.org/drawingml/2006/table">
            <a:tbl>
              <a:tblPr firstRow="1" bandRow="1">
                <a:tableStyleId>{22838BEF-8BB2-4498-84A7-C5851F593DF1}</a:tableStyleId>
              </a:tblPr>
              <a:tblGrid>
                <a:gridCol w="3682477">
                  <a:extLst>
                    <a:ext uri="{9D8B030D-6E8A-4147-A177-3AD203B41FA5}">
                      <a16:colId xmlns:a16="http://schemas.microsoft.com/office/drawing/2014/main" val="935712550"/>
                    </a:ext>
                  </a:extLst>
                </a:gridCol>
                <a:gridCol w="1556080">
                  <a:extLst>
                    <a:ext uri="{9D8B030D-6E8A-4147-A177-3AD203B41FA5}">
                      <a16:colId xmlns:a16="http://schemas.microsoft.com/office/drawing/2014/main" val="3747275389"/>
                    </a:ext>
                  </a:extLst>
                </a:gridCol>
              </a:tblGrid>
              <a:tr h="461368">
                <a:tc>
                  <a:txBody>
                    <a:bodyPr/>
                    <a:lstStyle/>
                    <a:p>
                      <a:pPr algn="ct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模型</a:t>
                      </a:r>
                    </a:p>
                  </a:txBody>
                  <a:tcPr anchor="ctr">
                    <a:solidFill>
                      <a:schemeClr val="accent1">
                        <a:lumMod val="60000"/>
                        <a:lumOff val="40000"/>
                      </a:schemeClr>
                    </a:solidFill>
                  </a:tcPr>
                </a:tc>
                <a:tc>
                  <a:txBody>
                    <a:bodyPr/>
                    <a:lstStyle/>
                    <a:p>
                      <a:pPr algn="ctr"/>
                      <a:r>
                        <a:rPr lang="en-US" altLang="zh-CN"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RMSE(</a:t>
                      </a: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a:t>
                      </a:r>
                    </a:p>
                  </a:txBody>
                  <a:tcPr anchor="ctr">
                    <a:solidFill>
                      <a:schemeClr val="accent1">
                        <a:lumMod val="60000"/>
                        <a:lumOff val="40000"/>
                      </a:schemeClr>
                    </a:solidFill>
                  </a:tcPr>
                </a:tc>
                <a:extLst>
                  <a:ext uri="{0D108BD9-81ED-4DB2-BD59-A6C34878D82A}">
                    <a16:rowId xmlns:a16="http://schemas.microsoft.com/office/drawing/2014/main" val="2578967239"/>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SR3</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初始模型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0.5813</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267882200"/>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M0+DDIM(</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加速模型</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M1)</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algn="ct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0.6235</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4050407778"/>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M1+</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修改条件拼接方式</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(M2)</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0.5381</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045243185"/>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M2+</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条件反加噪</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集成均值</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(M3)</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0.5091</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600559164"/>
                  </a:ext>
                </a:extLst>
              </a:tr>
              <a:tr h="461368">
                <a:tc>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M3+MAE(M4)</a:t>
                      </a: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a:txBody>
                    <a:bodyPr/>
                    <a:lstStyle/>
                    <a:p>
                      <a:pPr algn="ctr"/>
                      <a:r>
                        <a:rPr lang="en-US" altLang="zh-CN"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0.4689</a:t>
                      </a:r>
                      <a:endParaRPr lang="zh-CN" altLang="en-US"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435625500"/>
                  </a:ext>
                </a:extLst>
              </a:tr>
              <a:tr h="461368">
                <a:tc gridSpan="2">
                  <a:txBody>
                    <a:bodyPr/>
                    <a:lstStyle/>
                    <a:p>
                      <a:pPr algn="ct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M4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SST - Diffusion</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tc hMerge="1">
                  <a:txBody>
                    <a:bodyPr/>
                    <a:lstStyle/>
                    <a:p>
                      <a:pPr algn="ctr"/>
                      <a:endParaRPr lang="zh-CN" altLang="en-US" dirty="0">
                        <a:latin typeface="Times New Roman" panose="02020603050405020304" pitchFamily="18" charset="0"/>
                        <a:ea typeface="华文中宋"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124784799"/>
                  </a:ext>
                </a:extLst>
              </a:tr>
            </a:tbl>
          </a:graphicData>
        </a:graphic>
      </p:graphicFrame>
      <p:pic>
        <p:nvPicPr>
          <p:cNvPr id="28" name="图片 27">
            <a:extLst>
              <a:ext uri="{FF2B5EF4-FFF2-40B4-BE49-F238E27FC236}">
                <a16:creationId xmlns:a16="http://schemas.microsoft.com/office/drawing/2014/main" id="{9429E686-2F82-DA9D-B0CA-607F2240BD7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90166" y="4103898"/>
            <a:ext cx="1265655" cy="1265655"/>
          </a:xfrm>
          <a:prstGeom prst="rect">
            <a:avLst/>
          </a:prstGeom>
        </p:spPr>
      </p:pic>
      <p:pic>
        <p:nvPicPr>
          <p:cNvPr id="30" name="图片 29">
            <a:extLst>
              <a:ext uri="{FF2B5EF4-FFF2-40B4-BE49-F238E27FC236}">
                <a16:creationId xmlns:a16="http://schemas.microsoft.com/office/drawing/2014/main" id="{666239C1-47B8-09DA-DFA5-76D6087A833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13947" y="1585971"/>
            <a:ext cx="1265655" cy="1265655"/>
          </a:xfrm>
          <a:prstGeom prst="rect">
            <a:avLst/>
          </a:prstGeom>
        </p:spPr>
      </p:pic>
      <p:sp>
        <p:nvSpPr>
          <p:cNvPr id="31" name="文本框 30">
            <a:extLst>
              <a:ext uri="{FF2B5EF4-FFF2-40B4-BE49-F238E27FC236}">
                <a16:creationId xmlns:a16="http://schemas.microsoft.com/office/drawing/2014/main" id="{EE6B71E4-9380-8C74-81AA-FAA59F5CF4F6}"/>
              </a:ext>
            </a:extLst>
          </p:cNvPr>
          <p:cNvSpPr txBox="1"/>
          <p:nvPr/>
        </p:nvSpPr>
        <p:spPr>
          <a:xfrm>
            <a:off x="6375816" y="1036627"/>
            <a:ext cx="628698"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M0</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8FE5B09D-A9F2-D8F8-A6C1-E709021575C1}"/>
              </a:ext>
            </a:extLst>
          </p:cNvPr>
          <p:cNvSpPr txBox="1"/>
          <p:nvPr/>
        </p:nvSpPr>
        <p:spPr>
          <a:xfrm>
            <a:off x="7743618" y="1036627"/>
            <a:ext cx="628698"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M1</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8D20CDB3-BCFB-1B8A-18F0-257EF6E1ECA4}"/>
              </a:ext>
            </a:extLst>
          </p:cNvPr>
          <p:cNvSpPr txBox="1"/>
          <p:nvPr/>
        </p:nvSpPr>
        <p:spPr>
          <a:xfrm>
            <a:off x="9111420" y="1036297"/>
            <a:ext cx="628698"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M2</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64F7CCD3-B301-79A1-43B5-A6CC8348CA88}"/>
              </a:ext>
            </a:extLst>
          </p:cNvPr>
          <p:cNvSpPr txBox="1"/>
          <p:nvPr/>
        </p:nvSpPr>
        <p:spPr>
          <a:xfrm>
            <a:off x="10568462" y="1036296"/>
            <a:ext cx="628698"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M3</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1EC8ADA1-2DA4-D52E-FD71-C2A1D27EAEF2}"/>
              </a:ext>
            </a:extLst>
          </p:cNvPr>
          <p:cNvSpPr txBox="1"/>
          <p:nvPr/>
        </p:nvSpPr>
        <p:spPr>
          <a:xfrm>
            <a:off x="978981" y="1110486"/>
            <a:ext cx="612668"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LR</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60CF9FD3-9EA6-597B-2CB3-76BB85DDD071}"/>
              </a:ext>
            </a:extLst>
          </p:cNvPr>
          <p:cNvSpPr txBox="1"/>
          <p:nvPr/>
        </p:nvSpPr>
        <p:spPr>
          <a:xfrm>
            <a:off x="2633850" y="1110155"/>
            <a:ext cx="646331"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HR</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D60A09F1-E25F-18A0-B4DA-2C51E1E0167A}"/>
              </a:ext>
            </a:extLst>
          </p:cNvPr>
          <p:cNvSpPr txBox="1"/>
          <p:nvPr/>
        </p:nvSpPr>
        <p:spPr>
          <a:xfrm>
            <a:off x="4022028" y="1110486"/>
            <a:ext cx="1228221"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LR</a:t>
            </a:r>
            <a:r>
              <a:rPr lang="zh-CN" altLang="en-US" sz="2400" b="1" dirty="0">
                <a:solidFill>
                  <a:schemeClr val="accent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插值</a:t>
            </a:r>
          </a:p>
        </p:txBody>
      </p:sp>
      <p:sp>
        <p:nvSpPr>
          <p:cNvPr id="44" name="文本框 43">
            <a:extLst>
              <a:ext uri="{FF2B5EF4-FFF2-40B4-BE49-F238E27FC236}">
                <a16:creationId xmlns:a16="http://schemas.microsoft.com/office/drawing/2014/main" id="{C8A46886-759B-1B10-B52C-DB5733E32774}"/>
              </a:ext>
            </a:extLst>
          </p:cNvPr>
          <p:cNvSpPr txBox="1"/>
          <p:nvPr/>
        </p:nvSpPr>
        <p:spPr>
          <a:xfrm>
            <a:off x="6508351" y="5886166"/>
            <a:ext cx="1814920" cy="461665"/>
          </a:xfrm>
          <a:prstGeom prst="rect">
            <a:avLst/>
          </a:prstGeom>
          <a:noFill/>
        </p:spPr>
        <p:txBody>
          <a:bodyPr wrap="none" rtlCol="0">
            <a:spAutoFit/>
          </a:bodyPr>
          <a:lstStyle/>
          <a:p>
            <a:r>
              <a:rPr lang="zh-CN" altLang="en-US" sz="2400" b="1" dirty="0">
                <a:solidFill>
                  <a:schemeClr val="accent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去噪过程 →</a:t>
            </a:r>
          </a:p>
        </p:txBody>
      </p:sp>
      <p:grpSp>
        <p:nvGrpSpPr>
          <p:cNvPr id="7" name="组合 6">
            <a:extLst>
              <a:ext uri="{FF2B5EF4-FFF2-40B4-BE49-F238E27FC236}">
                <a16:creationId xmlns:a16="http://schemas.microsoft.com/office/drawing/2014/main" id="{ED2B0B04-40AB-FA0A-6C1E-B9F697912D12}"/>
              </a:ext>
            </a:extLst>
          </p:cNvPr>
          <p:cNvGrpSpPr/>
          <p:nvPr/>
        </p:nvGrpSpPr>
        <p:grpSpPr>
          <a:xfrm>
            <a:off x="8743008" y="3065413"/>
            <a:ext cx="2722421" cy="3625264"/>
            <a:chOff x="8743008" y="3065413"/>
            <a:chExt cx="2722421" cy="3625264"/>
          </a:xfrm>
        </p:grpSpPr>
        <p:pic>
          <p:nvPicPr>
            <p:cNvPr id="40" name="图片 39">
              <a:extLst>
                <a:ext uri="{FF2B5EF4-FFF2-40B4-BE49-F238E27FC236}">
                  <a16:creationId xmlns:a16="http://schemas.microsoft.com/office/drawing/2014/main" id="{CA1F7674-3818-596E-8B95-CEA00061C8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43008" y="3065413"/>
              <a:ext cx="2722421" cy="3625264"/>
            </a:xfrm>
            <a:prstGeom prst="rect">
              <a:avLst/>
            </a:prstGeom>
          </p:spPr>
        </p:pic>
        <p:pic>
          <p:nvPicPr>
            <p:cNvPr id="6" name="图片 5">
              <a:extLst>
                <a:ext uri="{FF2B5EF4-FFF2-40B4-BE49-F238E27FC236}">
                  <a16:creationId xmlns:a16="http://schemas.microsoft.com/office/drawing/2014/main" id="{27ECD1AA-897C-0C88-BB49-616B20D121E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568462" y="5790747"/>
              <a:ext cx="879134" cy="879134"/>
            </a:xfrm>
            <a:prstGeom prst="rect">
              <a:avLst/>
            </a:prstGeom>
          </p:spPr>
        </p:pic>
      </p:grpSp>
    </p:spTree>
    <p:extLst>
      <p:ext uri="{BB962C8B-B14F-4D97-AF65-F5344CB8AC3E}">
        <p14:creationId xmlns:p14="http://schemas.microsoft.com/office/powerpoint/2010/main" val="366848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613C4-F9BF-6495-D4F1-D7A27A47F509}"/>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75FB0B8A-4503-8242-BCF0-A2B2FEC212B6}"/>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t="-95" b="8779"/>
          <a:stretch/>
        </p:blipFill>
        <p:spPr>
          <a:xfrm>
            <a:off x="0" y="-57150"/>
            <a:ext cx="12192000" cy="7080250"/>
          </a:xfrm>
          <a:prstGeom prst="rect">
            <a:avLst/>
          </a:prstGeom>
        </p:spPr>
      </p:pic>
      <p:grpSp>
        <p:nvGrpSpPr>
          <p:cNvPr id="8" name="组合 7">
            <a:extLst>
              <a:ext uri="{FF2B5EF4-FFF2-40B4-BE49-F238E27FC236}">
                <a16:creationId xmlns:a16="http://schemas.microsoft.com/office/drawing/2014/main" id="{B2867235-1D34-665B-8554-0A04A0FEE5E4}"/>
              </a:ext>
            </a:extLst>
          </p:cNvPr>
          <p:cNvGrpSpPr/>
          <p:nvPr/>
        </p:nvGrpSpPr>
        <p:grpSpPr>
          <a:xfrm>
            <a:off x="1080500" y="2444929"/>
            <a:ext cx="8926141" cy="2076091"/>
            <a:chOff x="1276032" y="2737579"/>
            <a:chExt cx="8926141" cy="2076091"/>
          </a:xfrm>
        </p:grpSpPr>
        <p:sp>
          <p:nvSpPr>
            <p:cNvPr id="6" name="矩形 5">
              <a:extLst>
                <a:ext uri="{FF2B5EF4-FFF2-40B4-BE49-F238E27FC236}">
                  <a16:creationId xmlns:a16="http://schemas.microsoft.com/office/drawing/2014/main" id="{8F9309AA-795E-7F85-5A74-615E26ECBE77}"/>
                </a:ext>
              </a:extLst>
            </p:cNvPr>
            <p:cNvSpPr/>
            <p:nvPr/>
          </p:nvSpPr>
          <p:spPr>
            <a:xfrm>
              <a:off x="2185358" y="2737579"/>
              <a:ext cx="8016815" cy="2076091"/>
            </a:xfrm>
            <a:prstGeom prst="rect">
              <a:avLst/>
            </a:prstGeom>
            <a:solidFill>
              <a:schemeClr val="bg1">
                <a:lumMod val="9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F80E19CA-57D4-6273-C530-94848FBBBB1B}"/>
                </a:ext>
              </a:extLst>
            </p:cNvPr>
            <p:cNvSpPr txBox="1"/>
            <p:nvPr/>
          </p:nvSpPr>
          <p:spPr>
            <a:xfrm>
              <a:off x="2506033" y="3011540"/>
              <a:ext cx="2133600" cy="1323439"/>
            </a:xfrm>
            <a:prstGeom prst="rect">
              <a:avLst/>
            </a:prstGeom>
            <a:noFill/>
          </p:spPr>
          <p:txBody>
            <a:bodyPr wrap="square" rtlCol="0">
              <a:spAutoFit/>
            </a:bodyPr>
            <a:lstStyle>
              <a:defPPr>
                <a:defRPr lang="zh-CN"/>
              </a:defPPr>
              <a:lvl1pPr algn="ctr">
                <a:defRPr sz="8000">
                  <a:solidFill>
                    <a:schemeClr val="bg1"/>
                  </a:solidFill>
                  <a:latin typeface="造字工房尚黑 G0v1 常规体" pitchFamily="50" charset="-122"/>
                  <a:ea typeface="造字工房尚黑 G0v1 常规体" pitchFamily="50" charset="-122"/>
                </a:defRPr>
              </a:lvl1pPr>
            </a:lstStyle>
            <a:p>
              <a:r>
                <a:rPr lang="en-US" altLang="zh-CN"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04</a:t>
              </a:r>
              <a:endParaRPr lang="zh-CN" altLang="en-US" b="1" dirty="0">
                <a:solidFill>
                  <a:schemeClr val="accent1">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1" name="文本框 20">
              <a:extLst>
                <a:ext uri="{FF2B5EF4-FFF2-40B4-BE49-F238E27FC236}">
                  <a16:creationId xmlns:a16="http://schemas.microsoft.com/office/drawing/2014/main" id="{CC3C883C-3E97-1739-20E0-AE0BAA3BD371}"/>
                </a:ext>
              </a:extLst>
            </p:cNvPr>
            <p:cNvSpPr txBox="1"/>
            <p:nvPr/>
          </p:nvSpPr>
          <p:spPr>
            <a:xfrm>
              <a:off x="2883194" y="4109784"/>
              <a:ext cx="1287264" cy="307777"/>
            </a:xfrm>
            <a:prstGeom prst="rect">
              <a:avLst/>
            </a:prstGeom>
            <a:noFill/>
          </p:spPr>
          <p:txBody>
            <a:bodyPr wrap="square" rtlCol="0">
              <a:spAutoFit/>
            </a:bodyPr>
            <a:lstStyle/>
            <a:p>
              <a:pPr algn="ctr"/>
              <a:r>
                <a:rPr lang="en-US" altLang="zh-CN"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rPr>
                <a:t>PART FOUR</a:t>
              </a:r>
              <a:endParaRPr lang="zh-CN" altLang="en-US" sz="1400" b="1" dirty="0">
                <a:solidFill>
                  <a:schemeClr val="accent1">
                    <a:lumMod val="50000"/>
                    <a:alpha val="56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2" name="文本框 41">
              <a:extLst>
                <a:ext uri="{FF2B5EF4-FFF2-40B4-BE49-F238E27FC236}">
                  <a16:creationId xmlns:a16="http://schemas.microsoft.com/office/drawing/2014/main" id="{6F9D1210-72EB-3644-245F-2094F8DD7B6F}"/>
                </a:ext>
              </a:extLst>
            </p:cNvPr>
            <p:cNvSpPr txBox="1"/>
            <p:nvPr/>
          </p:nvSpPr>
          <p:spPr>
            <a:xfrm>
              <a:off x="5579408" y="3224970"/>
              <a:ext cx="3218519"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总结展望</a:t>
              </a:r>
              <a:endParaRPr lang="en-US" altLang="zh-CN"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3" name="矩形 22">
              <a:extLst>
                <a:ext uri="{FF2B5EF4-FFF2-40B4-BE49-F238E27FC236}">
                  <a16:creationId xmlns:a16="http://schemas.microsoft.com/office/drawing/2014/main" id="{30A7B520-457F-E8EB-9B90-966938B5BA81}"/>
                </a:ext>
              </a:extLst>
            </p:cNvPr>
            <p:cNvSpPr/>
            <p:nvPr/>
          </p:nvSpPr>
          <p:spPr>
            <a:xfrm>
              <a:off x="1276032" y="3906336"/>
              <a:ext cx="7521895" cy="42864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rPr>
                <a:t>Summary &amp; Expectation</a:t>
              </a:r>
              <a:endParaRPr lang="zh-CN" altLang="en-US"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Tree>
    <p:extLst>
      <p:ext uri="{BB962C8B-B14F-4D97-AF65-F5344CB8AC3E}">
        <p14:creationId xmlns:p14="http://schemas.microsoft.com/office/powerpoint/2010/main" val="3083680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F44D-F240-1A6E-FA28-71F5117D8A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25760D-7525-B746-8AD1-C9709F51AC3C}"/>
              </a:ext>
            </a:extLst>
          </p:cNvPr>
          <p:cNvSpPr>
            <a:spLocks noGrp="1"/>
          </p:cNvSpPr>
          <p:nvPr>
            <p:ph type="title"/>
          </p:nvPr>
        </p:nvSpPr>
        <p:spPr/>
        <p:txBody>
          <a:bodyPr/>
          <a:lstStyle/>
          <a:p>
            <a:r>
              <a:rPr lang="zh-CN" altLang="en-US" dirty="0"/>
              <a:t>总结展望</a:t>
            </a:r>
          </a:p>
        </p:txBody>
      </p:sp>
      <p:sp>
        <p:nvSpPr>
          <p:cNvPr id="3" name="矩形 2">
            <a:extLst>
              <a:ext uri="{FF2B5EF4-FFF2-40B4-BE49-F238E27FC236}">
                <a16:creationId xmlns:a16="http://schemas.microsoft.com/office/drawing/2014/main" id="{8BE4DEAF-980C-3324-F8AD-FFE900558192}"/>
              </a:ext>
            </a:extLst>
          </p:cNvPr>
          <p:cNvSpPr/>
          <p:nvPr/>
        </p:nvSpPr>
        <p:spPr>
          <a:xfrm>
            <a:off x="350154" y="1461274"/>
            <a:ext cx="653738" cy="632674"/>
          </a:xfrm>
          <a:prstGeom prst="rect">
            <a:avLst/>
          </a:prstGeom>
          <a:solidFill>
            <a:srgbClr val="256090">
              <a:lumMod val="75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1</a:t>
            </a:r>
          </a:p>
        </p:txBody>
      </p:sp>
      <p:sp>
        <p:nvSpPr>
          <p:cNvPr id="4" name="文本框 3">
            <a:extLst>
              <a:ext uri="{FF2B5EF4-FFF2-40B4-BE49-F238E27FC236}">
                <a16:creationId xmlns:a16="http://schemas.microsoft.com/office/drawing/2014/main" id="{518CEEEB-39FC-529E-5C0C-C09189493093}"/>
              </a:ext>
            </a:extLst>
          </p:cNvPr>
          <p:cNvSpPr txBox="1"/>
          <p:nvPr/>
        </p:nvSpPr>
        <p:spPr>
          <a:xfrm>
            <a:off x="1184368" y="2036554"/>
            <a:ext cx="10256334" cy="461665"/>
          </a:xfrm>
          <a:prstGeom prst="rect">
            <a:avLst/>
          </a:prstGeom>
          <a:noFill/>
        </p:spPr>
        <p:txBody>
          <a:bodyPr wrap="none" rtlCol="0">
            <a:spAutoFit/>
          </a:bodyPr>
          <a:lstStyle/>
          <a:p>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DDIM</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是扩散模型中一种速度更快的去噪策略，加速逆扩散</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推断</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采样</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过程</a:t>
            </a:r>
          </a:p>
        </p:txBody>
      </p:sp>
      <p:sp>
        <p:nvSpPr>
          <p:cNvPr id="5" name="文本框 4">
            <a:extLst>
              <a:ext uri="{FF2B5EF4-FFF2-40B4-BE49-F238E27FC236}">
                <a16:creationId xmlns:a16="http://schemas.microsoft.com/office/drawing/2014/main" id="{E22A15D1-9F4B-3C77-B8A7-A089B90F1930}"/>
              </a:ext>
            </a:extLst>
          </p:cNvPr>
          <p:cNvSpPr txBox="1"/>
          <p:nvPr/>
        </p:nvSpPr>
        <p:spPr>
          <a:xfrm>
            <a:off x="1141905" y="1546778"/>
            <a:ext cx="3810659" cy="461665"/>
          </a:xfrm>
          <a:prstGeom prst="rect">
            <a:avLst/>
          </a:prstGeom>
          <a:noFill/>
        </p:spPr>
        <p:txBody>
          <a:bodyPr wrap="none" rtlCol="0">
            <a:spAutoFit/>
          </a:bodyPr>
          <a:lstStyle/>
          <a:p>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在逆扩散过程中引入</a:t>
            </a: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DDIM</a:t>
            </a:r>
            <a:endPar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06A7C222-EAA1-CC52-989F-60FEF9BE475E}"/>
              </a:ext>
            </a:extLst>
          </p:cNvPr>
          <p:cNvSpPr/>
          <p:nvPr/>
        </p:nvSpPr>
        <p:spPr>
          <a:xfrm>
            <a:off x="709558" y="2743778"/>
            <a:ext cx="653738" cy="632674"/>
          </a:xfrm>
          <a:prstGeom prst="rect">
            <a:avLst/>
          </a:prstGeom>
          <a:solidFill>
            <a:srgbClr val="256090">
              <a:lumMod val="75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2</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45F3EDA-0248-6C88-F962-B28FB9EF0894}"/>
                  </a:ext>
                </a:extLst>
              </p:cNvPr>
              <p:cNvSpPr txBox="1"/>
              <p:nvPr/>
            </p:nvSpPr>
            <p:spPr>
              <a:xfrm>
                <a:off x="1501309" y="2829282"/>
                <a:ext cx="6736139" cy="461665"/>
              </a:xfrm>
              <a:prstGeom prst="rect">
                <a:avLst/>
              </a:prstGeom>
              <a:noFill/>
            </p:spPr>
            <p:txBody>
              <a:bodyPr wrap="none" rtlCol="0">
                <a:spAutoFit/>
              </a:bodyPr>
              <a:lstStyle/>
              <a:p>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纯噪声图像 </a:t>
                </a:r>
                <a14:m>
                  <m:oMath xmlns:m="http://schemas.openxmlformats.org/officeDocument/2006/math">
                    <m:sSub>
                      <m:sSubPr>
                        <m:ctrlP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𝒕</m:t>
                        </m:r>
                      </m:sub>
                    </m:sSub>
                  </m:oMath>
                </a14:m>
                <a:r>
                  <a:rPr lang="en-US" altLang="zh-CN" sz="2400" b="1" baseline="-250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condition </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分别传入网络再拼接</a:t>
                </a:r>
              </a:p>
            </p:txBody>
          </p:sp>
        </mc:Choice>
        <mc:Fallback xmlns="">
          <p:sp>
            <p:nvSpPr>
              <p:cNvPr id="7" name="文本框 6">
                <a:extLst>
                  <a:ext uri="{FF2B5EF4-FFF2-40B4-BE49-F238E27FC236}">
                    <a16:creationId xmlns:a16="http://schemas.microsoft.com/office/drawing/2014/main" id="{E45F3EDA-0248-6C88-F962-B28FB9EF0894}"/>
                  </a:ext>
                </a:extLst>
              </p:cNvPr>
              <p:cNvSpPr txBox="1">
                <a:spLocks noRot="1" noChangeAspect="1" noMove="1" noResize="1" noEditPoints="1" noAdjustHandles="1" noChangeArrowheads="1" noChangeShapeType="1" noTextEdit="1"/>
              </p:cNvSpPr>
              <p:nvPr/>
            </p:nvSpPr>
            <p:spPr>
              <a:xfrm>
                <a:off x="1501309" y="2829282"/>
                <a:ext cx="6736139" cy="461665"/>
              </a:xfrm>
              <a:prstGeom prst="rect">
                <a:avLst/>
              </a:prstGeom>
              <a:blipFill>
                <a:blip r:embed="rId2"/>
                <a:stretch>
                  <a:fillRect l="-1357" t="-10526" b="-2894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C356663-924C-22E7-7F97-1FCB62821467}"/>
              </a:ext>
            </a:extLst>
          </p:cNvPr>
          <p:cNvSpPr txBox="1"/>
          <p:nvPr/>
        </p:nvSpPr>
        <p:spPr>
          <a:xfrm>
            <a:off x="1501309" y="3317971"/>
            <a:ext cx="8802410" cy="461665"/>
          </a:xfrm>
          <a:prstGeom prst="rect">
            <a:avLst/>
          </a:prstGeom>
          <a:noFill/>
        </p:spPr>
        <p:txBody>
          <a:bodyPr wrap="none" rtlCol="0">
            <a:spAutoFit/>
          </a:bodyPr>
          <a:lstStyle/>
          <a:p>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网络能够单独处理条件信息，提升条件对逆扩散去噪的指导效果</a:t>
            </a:r>
          </a:p>
        </p:txBody>
      </p:sp>
      <p:sp>
        <p:nvSpPr>
          <p:cNvPr id="9" name="矩形 8">
            <a:extLst>
              <a:ext uri="{FF2B5EF4-FFF2-40B4-BE49-F238E27FC236}">
                <a16:creationId xmlns:a16="http://schemas.microsoft.com/office/drawing/2014/main" id="{F646FE5D-1B94-1838-1168-F8435CA61B42}"/>
              </a:ext>
            </a:extLst>
          </p:cNvPr>
          <p:cNvSpPr/>
          <p:nvPr/>
        </p:nvSpPr>
        <p:spPr>
          <a:xfrm>
            <a:off x="1141905" y="4026283"/>
            <a:ext cx="653738" cy="632674"/>
          </a:xfrm>
          <a:prstGeom prst="rect">
            <a:avLst/>
          </a:prstGeom>
          <a:solidFill>
            <a:srgbClr val="256090">
              <a:lumMod val="75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3</a:t>
            </a:r>
          </a:p>
        </p:txBody>
      </p:sp>
      <p:sp>
        <p:nvSpPr>
          <p:cNvPr id="10" name="文本框 9">
            <a:extLst>
              <a:ext uri="{FF2B5EF4-FFF2-40B4-BE49-F238E27FC236}">
                <a16:creationId xmlns:a16="http://schemas.microsoft.com/office/drawing/2014/main" id="{823E8B7D-2A74-7C49-13E9-AA912D955E28}"/>
              </a:ext>
            </a:extLst>
          </p:cNvPr>
          <p:cNvSpPr txBox="1"/>
          <p:nvPr/>
        </p:nvSpPr>
        <p:spPr>
          <a:xfrm>
            <a:off x="1933656" y="4111787"/>
            <a:ext cx="6135013" cy="461665"/>
          </a:xfrm>
          <a:prstGeom prst="rect">
            <a:avLst/>
          </a:prstGeom>
          <a:noFill/>
        </p:spPr>
        <p:txBody>
          <a:bodyPr wrap="none" rtlCol="0">
            <a:spAutoFit/>
          </a:bodyPr>
          <a:lstStyle/>
          <a:p>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在训练过程中引入</a:t>
            </a: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MAE</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，提升特征提取能力</a:t>
            </a:r>
          </a:p>
        </p:txBody>
      </p:sp>
      <p:sp>
        <p:nvSpPr>
          <p:cNvPr id="14" name="文本框 13">
            <a:extLst>
              <a:ext uri="{FF2B5EF4-FFF2-40B4-BE49-F238E27FC236}">
                <a16:creationId xmlns:a16="http://schemas.microsoft.com/office/drawing/2014/main" id="{537D0EEA-A4C0-D0A6-3084-04D064E3F5BC}"/>
              </a:ext>
            </a:extLst>
          </p:cNvPr>
          <p:cNvSpPr txBox="1"/>
          <p:nvPr/>
        </p:nvSpPr>
        <p:spPr>
          <a:xfrm>
            <a:off x="1933656" y="4573452"/>
            <a:ext cx="8074538" cy="461665"/>
          </a:xfrm>
          <a:prstGeom prst="rect">
            <a:avLst/>
          </a:prstGeom>
          <a:noFill/>
        </p:spPr>
        <p:txBody>
          <a:bodyPr wrap="square" rtlCol="0">
            <a:spAutoFit/>
          </a:bodyPr>
          <a:lstStyle/>
          <a:p>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Masked Autoencoder</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提取高维特征，提高噪声预测准确性</a:t>
            </a:r>
          </a:p>
        </p:txBody>
      </p:sp>
      <p:sp>
        <p:nvSpPr>
          <p:cNvPr id="15" name="矩形 14">
            <a:extLst>
              <a:ext uri="{FF2B5EF4-FFF2-40B4-BE49-F238E27FC236}">
                <a16:creationId xmlns:a16="http://schemas.microsoft.com/office/drawing/2014/main" id="{C460F389-FAD8-E307-D8A2-3F41B78ACFB7}"/>
              </a:ext>
            </a:extLst>
          </p:cNvPr>
          <p:cNvSpPr/>
          <p:nvPr/>
        </p:nvSpPr>
        <p:spPr>
          <a:xfrm>
            <a:off x="1476311" y="5228659"/>
            <a:ext cx="653738" cy="632674"/>
          </a:xfrm>
          <a:prstGeom prst="rect">
            <a:avLst/>
          </a:prstGeom>
          <a:solidFill>
            <a:srgbClr val="256090">
              <a:lumMod val="75000"/>
            </a:srgbClr>
          </a:solidFill>
        </p:spPr>
        <p:txBody>
          <a:bodyPr wrap="square"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prstClr val="white"/>
                </a:solidFill>
                <a:effectLst/>
                <a:uLnTx/>
                <a:uFillTx/>
                <a:latin typeface="华文细黑" panose="02010600040101010101" pitchFamily="2" charset="-122"/>
                <a:ea typeface="微软雅黑" panose="020B0503020204020204" pitchFamily="34" charset="-122"/>
                <a:sym typeface="华文细黑" panose="02010600040101010101" pitchFamily="2" charset="-122"/>
              </a:rPr>
              <a:t>4</a:t>
            </a:r>
          </a:p>
        </p:txBody>
      </p:sp>
      <p:sp>
        <p:nvSpPr>
          <p:cNvPr id="16" name="文本框 15">
            <a:extLst>
              <a:ext uri="{FF2B5EF4-FFF2-40B4-BE49-F238E27FC236}">
                <a16:creationId xmlns:a16="http://schemas.microsoft.com/office/drawing/2014/main" id="{6023801D-6D48-725B-D99F-8F78B50237C4}"/>
              </a:ext>
            </a:extLst>
          </p:cNvPr>
          <p:cNvSpPr txBox="1"/>
          <p:nvPr/>
        </p:nvSpPr>
        <p:spPr>
          <a:xfrm>
            <a:off x="2281439" y="5307700"/>
            <a:ext cx="3262432" cy="461665"/>
          </a:xfrm>
          <a:prstGeom prst="rect">
            <a:avLst/>
          </a:prstGeom>
          <a:noFill/>
        </p:spPr>
        <p:txBody>
          <a:bodyPr wrap="none" rtlCol="0">
            <a:spAutoFit/>
          </a:bodyPr>
          <a:lstStyle/>
          <a:p>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条件反加噪和集成均值</a:t>
            </a:r>
          </a:p>
        </p:txBody>
      </p:sp>
      <p:sp>
        <p:nvSpPr>
          <p:cNvPr id="20" name="文本框 19">
            <a:extLst>
              <a:ext uri="{FF2B5EF4-FFF2-40B4-BE49-F238E27FC236}">
                <a16:creationId xmlns:a16="http://schemas.microsoft.com/office/drawing/2014/main" id="{63F0023C-9504-D283-0410-DFA2B0094A57}"/>
              </a:ext>
            </a:extLst>
          </p:cNvPr>
          <p:cNvSpPr txBox="1"/>
          <p:nvPr/>
        </p:nvSpPr>
        <p:spPr>
          <a:xfrm>
            <a:off x="2341416" y="5769365"/>
            <a:ext cx="9598658" cy="830997"/>
          </a:xfrm>
          <a:prstGeom prst="rect">
            <a:avLst/>
          </a:prstGeom>
          <a:noFill/>
        </p:spPr>
        <p:txBody>
          <a:bodyPr wrap="square" rtlCol="0">
            <a:spAutoFit/>
          </a:bodyPr>
          <a:lstStyle/>
          <a:p>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SR3</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推断过程不稳定的主要原因是初始纯噪声采样的随机性和每一步均值方差采样的随机性，条件反加噪解决了前者，集成均值解决了后者</a:t>
            </a:r>
          </a:p>
        </p:txBody>
      </p:sp>
      <p:sp>
        <p:nvSpPr>
          <p:cNvPr id="12" name="矩形 11">
            <a:extLst>
              <a:ext uri="{FF2B5EF4-FFF2-40B4-BE49-F238E27FC236}">
                <a16:creationId xmlns:a16="http://schemas.microsoft.com/office/drawing/2014/main" id="{FB45BDD0-0D67-A53D-9F2F-D80656353BF0}"/>
              </a:ext>
            </a:extLst>
          </p:cNvPr>
          <p:cNvSpPr/>
          <p:nvPr/>
        </p:nvSpPr>
        <p:spPr>
          <a:xfrm>
            <a:off x="5658928" y="515617"/>
            <a:ext cx="5833570" cy="799514"/>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通过</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SST – Diffusion</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超分处理，形成计算成本低、覆盖率高、超分准确率高的海表温度</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L3</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数据集产品</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Tree>
    <p:extLst>
      <p:ext uri="{BB962C8B-B14F-4D97-AF65-F5344CB8AC3E}">
        <p14:creationId xmlns:p14="http://schemas.microsoft.com/office/powerpoint/2010/main" val="360798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8797A-F9AA-2832-597E-B72B80FF7BC9}"/>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C70EF83C-22DF-861D-BA22-91E356622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079" y="3902247"/>
            <a:ext cx="2841620" cy="1834136"/>
          </a:xfrm>
          <a:prstGeom prst="rect">
            <a:avLst/>
          </a:prstGeom>
        </p:spPr>
      </p:pic>
      <p:sp>
        <p:nvSpPr>
          <p:cNvPr id="2" name="标题 1">
            <a:extLst>
              <a:ext uri="{FF2B5EF4-FFF2-40B4-BE49-F238E27FC236}">
                <a16:creationId xmlns:a16="http://schemas.microsoft.com/office/drawing/2014/main" id="{98C93C9C-508B-679E-0823-577604167413}"/>
              </a:ext>
            </a:extLst>
          </p:cNvPr>
          <p:cNvSpPr>
            <a:spLocks noGrp="1"/>
          </p:cNvSpPr>
          <p:nvPr>
            <p:ph type="title"/>
          </p:nvPr>
        </p:nvSpPr>
        <p:spPr/>
        <p:txBody>
          <a:bodyPr/>
          <a:lstStyle/>
          <a:p>
            <a:r>
              <a:rPr lang="zh-CN" altLang="en-US" dirty="0"/>
              <a:t>总结展望 </a:t>
            </a:r>
            <a:r>
              <a:rPr lang="en-US" altLang="zh-CN" dirty="0"/>
              <a:t>– </a:t>
            </a:r>
            <a:r>
              <a:rPr lang="zh-CN" altLang="en-US" dirty="0"/>
              <a:t>当前工作</a:t>
            </a:r>
          </a:p>
        </p:txBody>
      </p:sp>
      <p:sp>
        <p:nvSpPr>
          <p:cNvPr id="9" name="矩形: 圆角 8">
            <a:extLst>
              <a:ext uri="{FF2B5EF4-FFF2-40B4-BE49-F238E27FC236}">
                <a16:creationId xmlns:a16="http://schemas.microsoft.com/office/drawing/2014/main" id="{A755B4A2-0FDF-A923-0E3F-A480F28BBA12}"/>
              </a:ext>
            </a:extLst>
          </p:cNvPr>
          <p:cNvSpPr/>
          <p:nvPr/>
        </p:nvSpPr>
        <p:spPr>
          <a:xfrm>
            <a:off x="395198" y="1699924"/>
            <a:ext cx="7168283" cy="1913305"/>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A96FDF2E-22B0-A3B9-3CA7-4AAC48D68E92}"/>
              </a:ext>
            </a:extLst>
          </p:cNvPr>
          <p:cNvSpPr/>
          <p:nvPr/>
        </p:nvSpPr>
        <p:spPr>
          <a:xfrm>
            <a:off x="395198" y="3832216"/>
            <a:ext cx="9042249" cy="2260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0B5CFEE8-28B7-4FAA-4FEC-88CA66D352BA}"/>
              </a:ext>
            </a:extLst>
          </p:cNvPr>
          <p:cNvSpPr/>
          <p:nvPr/>
        </p:nvSpPr>
        <p:spPr>
          <a:xfrm>
            <a:off x="4097244" y="1292203"/>
            <a:ext cx="3377613" cy="313231"/>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0957DDB9-FAE3-0814-0447-26DCCB8F58F8}"/>
              </a:ext>
            </a:extLst>
          </p:cNvPr>
          <p:cNvSpPr txBox="1"/>
          <p:nvPr/>
        </p:nvSpPr>
        <p:spPr>
          <a:xfrm>
            <a:off x="293784" y="1201661"/>
            <a:ext cx="3700885"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Forward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5" name="文本框 74">
            <a:extLst>
              <a:ext uri="{FF2B5EF4-FFF2-40B4-BE49-F238E27FC236}">
                <a16:creationId xmlns:a16="http://schemas.microsoft.com/office/drawing/2014/main" id="{436698AC-4256-6E4E-62A3-A20FF89FC77D}"/>
              </a:ext>
            </a:extLst>
          </p:cNvPr>
          <p:cNvSpPr txBox="1"/>
          <p:nvPr/>
        </p:nvSpPr>
        <p:spPr>
          <a:xfrm>
            <a:off x="5367608" y="6176083"/>
            <a:ext cx="3580660" cy="461665"/>
          </a:xfrm>
          <a:prstGeom prst="rect">
            <a:avLst/>
          </a:prstGeom>
          <a:noFill/>
        </p:spPr>
        <p:txBody>
          <a:bodyPr wrap="none" rtlCol="0">
            <a:spAutoFit/>
          </a:bodyPr>
          <a:lstStyle/>
          <a:p>
            <a:r>
              <a:rPr lang="en-US" altLang="zh-CN" sz="2400" b="1" dirty="0">
                <a:solidFill>
                  <a:schemeClr val="accent1">
                    <a:lumMod val="50000"/>
                  </a:schemeClr>
                </a:solidFill>
                <a:latin typeface="Times New Roman" panose="02020603050405020304" pitchFamily="18" charset="0"/>
                <a:cs typeface="Times New Roman" panose="02020603050405020304" pitchFamily="18" charset="0"/>
              </a:rPr>
              <a:t>Reverse Diffusion Process</a:t>
            </a:r>
            <a:endParaRPr lang="zh-CN" alt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40" name="组合 39">
            <a:extLst>
              <a:ext uri="{FF2B5EF4-FFF2-40B4-BE49-F238E27FC236}">
                <a16:creationId xmlns:a16="http://schemas.microsoft.com/office/drawing/2014/main" id="{5CE43505-1E92-8749-A137-B9D1F33861E1}"/>
              </a:ext>
            </a:extLst>
          </p:cNvPr>
          <p:cNvGrpSpPr/>
          <p:nvPr/>
        </p:nvGrpSpPr>
        <p:grpSpPr>
          <a:xfrm>
            <a:off x="696658" y="2000941"/>
            <a:ext cx="6247434" cy="1494761"/>
            <a:chOff x="674323" y="1994990"/>
            <a:chExt cx="6247434" cy="1494761"/>
          </a:xfrm>
        </p:grpSpPr>
        <p:cxnSp>
          <p:nvCxnSpPr>
            <p:cNvPr id="13" name="直接箭头连接符 12">
              <a:extLst>
                <a:ext uri="{FF2B5EF4-FFF2-40B4-BE49-F238E27FC236}">
                  <a16:creationId xmlns:a16="http://schemas.microsoft.com/office/drawing/2014/main" id="{CF358F27-6250-3CF7-1A6A-A727C4601FC6}"/>
                </a:ext>
              </a:extLst>
            </p:cNvPr>
            <p:cNvCxnSpPr>
              <a:cxnSpLocks/>
            </p:cNvCxnSpPr>
            <p:nvPr/>
          </p:nvCxnSpPr>
          <p:spPr>
            <a:xfrm>
              <a:off x="1978551" y="2624293"/>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AF3699A-76B9-4792-4C6D-53AB05E0B509}"/>
                    </a:ext>
                  </a:extLst>
                </p:cNvPr>
                <p:cNvSpPr txBox="1"/>
                <p:nvPr/>
              </p:nvSpPr>
              <p:spPr>
                <a:xfrm>
                  <a:off x="1187566" y="3212752"/>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14" name="文本框 13">
                  <a:extLst>
                    <a:ext uri="{FF2B5EF4-FFF2-40B4-BE49-F238E27FC236}">
                      <a16:creationId xmlns:a16="http://schemas.microsoft.com/office/drawing/2014/main" id="{C4E3FA21-8FAA-9164-5CFC-0334298EEAFE}"/>
                    </a:ext>
                  </a:extLst>
                </p:cNvPr>
                <p:cNvSpPr txBox="1">
                  <a:spLocks noRot="1" noChangeAspect="1" noMove="1" noResize="1" noEditPoints="1" noAdjustHandles="1" noChangeArrowheads="1" noChangeShapeType="1" noTextEdit="1"/>
                </p:cNvSpPr>
                <p:nvPr/>
              </p:nvSpPr>
              <p:spPr>
                <a:xfrm>
                  <a:off x="1187566" y="3212752"/>
                  <a:ext cx="350808" cy="276999"/>
                </a:xfrm>
                <a:prstGeom prst="rect">
                  <a:avLst/>
                </a:prstGeom>
                <a:blipFill>
                  <a:blip r:embed="rId12"/>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F066ECA-84AD-5E79-5F64-7F299D53806C}"/>
                    </a:ext>
                  </a:extLst>
                </p:cNvPr>
                <p:cNvSpPr txBox="1"/>
                <p:nvPr/>
              </p:nvSpPr>
              <p:spPr>
                <a:xfrm>
                  <a:off x="2661451" y="2411263"/>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0</m:t>
                            </m:r>
                          </m:sub>
                        </m:sSub>
                      </m:oMath>
                    </m:oMathPara>
                  </a14:m>
                  <a:endParaRPr lang="en-US" altLang="zh-CN" sz="2400" b="0" dirty="0"/>
                </a:p>
              </p:txBody>
            </p:sp>
          </mc:Choice>
          <mc:Fallback xmlns="">
            <p:sp>
              <p:nvSpPr>
                <p:cNvPr id="15" name="文本框 14">
                  <a:extLst>
                    <a:ext uri="{FF2B5EF4-FFF2-40B4-BE49-F238E27FC236}">
                      <a16:creationId xmlns:a16="http://schemas.microsoft.com/office/drawing/2014/main" id="{EF066ECA-84AD-5E79-5F64-7F299D53806C}"/>
                    </a:ext>
                  </a:extLst>
                </p:cNvPr>
                <p:cNvSpPr txBox="1">
                  <a:spLocks noRot="1" noChangeAspect="1" noMove="1" noResize="1" noEditPoints="1" noAdjustHandles="1" noChangeArrowheads="1" noChangeShapeType="1" noTextEdit="1"/>
                </p:cNvSpPr>
                <p:nvPr/>
              </p:nvSpPr>
              <p:spPr>
                <a:xfrm>
                  <a:off x="2661451" y="2411263"/>
                  <a:ext cx="350808" cy="369332"/>
                </a:xfrm>
                <a:prstGeom prst="rect">
                  <a:avLst/>
                </a:prstGeom>
                <a:blipFill>
                  <a:blip r:embed="rId13"/>
                  <a:stretch>
                    <a:fillRect l="-10345" r="-6897" b="-15000"/>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859B68A8-D405-C69B-26E7-0645D094B80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4323" y="1994990"/>
              <a:ext cx="1219200" cy="1219200"/>
            </a:xfrm>
            <a:prstGeom prst="rect">
              <a:avLst/>
            </a:prstGeom>
          </p:spPr>
        </p:pic>
        <p:grpSp>
          <p:nvGrpSpPr>
            <p:cNvPr id="35" name="组合 34">
              <a:extLst>
                <a:ext uri="{FF2B5EF4-FFF2-40B4-BE49-F238E27FC236}">
                  <a16:creationId xmlns:a16="http://schemas.microsoft.com/office/drawing/2014/main" id="{B42D4118-3B3A-381E-3D33-9E8E34451A5A}"/>
                </a:ext>
              </a:extLst>
            </p:cNvPr>
            <p:cNvGrpSpPr/>
            <p:nvPr/>
          </p:nvGrpSpPr>
          <p:grpSpPr>
            <a:xfrm>
              <a:off x="4240589" y="2334382"/>
              <a:ext cx="1059640" cy="461665"/>
              <a:chOff x="4240589" y="2334382"/>
              <a:chExt cx="1059640" cy="461665"/>
            </a:xfrm>
          </p:grpSpPr>
          <p:cxnSp>
            <p:nvCxnSpPr>
              <p:cNvPr id="28" name="直接箭头连接符 27">
                <a:extLst>
                  <a:ext uri="{FF2B5EF4-FFF2-40B4-BE49-F238E27FC236}">
                    <a16:creationId xmlns:a16="http://schemas.microsoft.com/office/drawing/2014/main" id="{FFAF9B7F-4085-638C-17A0-C7D2B4C0FE0C}"/>
                  </a:ext>
                </a:extLst>
              </p:cNvPr>
              <p:cNvCxnSpPr>
                <a:cxnSpLocks/>
              </p:cNvCxnSpPr>
              <p:nvPr/>
            </p:nvCxnSpPr>
            <p:spPr>
              <a:xfrm>
                <a:off x="4946672" y="2652006"/>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8F3A672E-9AA5-9FAC-6383-219D7C850047}"/>
                  </a:ext>
                </a:extLst>
              </p:cNvPr>
              <p:cNvSpPr txBox="1"/>
              <p:nvPr/>
            </p:nvSpPr>
            <p:spPr>
              <a:xfrm>
                <a:off x="4490932" y="2334382"/>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B3984190-4DB3-6953-E9FB-7E06E6EC5668}"/>
                  </a:ext>
                </a:extLst>
              </p:cNvPr>
              <p:cNvCxnSpPr/>
              <p:nvPr/>
            </p:nvCxnSpPr>
            <p:spPr>
              <a:xfrm>
                <a:off x="4240589" y="2644993"/>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BA75529-2184-43DA-558E-126A2E306BD6}"/>
                </a:ext>
              </a:extLst>
            </p:cNvPr>
            <p:cNvGrpSpPr/>
            <p:nvPr/>
          </p:nvGrpSpPr>
          <p:grpSpPr>
            <a:xfrm>
              <a:off x="5862117" y="2358409"/>
              <a:ext cx="1059640" cy="461665"/>
              <a:chOff x="3315294" y="2360601"/>
              <a:chExt cx="1059640" cy="461665"/>
            </a:xfrm>
          </p:grpSpPr>
          <p:cxnSp>
            <p:nvCxnSpPr>
              <p:cNvPr id="37" name="直接箭头连接符 36">
                <a:extLst>
                  <a:ext uri="{FF2B5EF4-FFF2-40B4-BE49-F238E27FC236}">
                    <a16:creationId xmlns:a16="http://schemas.microsoft.com/office/drawing/2014/main" id="{9CFD6114-8F0B-16BD-78CC-6E8443EAEE7B}"/>
                  </a:ext>
                </a:extLst>
              </p:cNvPr>
              <p:cNvCxnSpPr>
                <a:cxnSpLocks/>
              </p:cNvCxnSpPr>
              <p:nvPr/>
            </p:nvCxnSpPr>
            <p:spPr>
              <a:xfrm>
                <a:off x="4021377" y="2678225"/>
                <a:ext cx="353557" cy="6894"/>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60E7AF31-05B0-A670-EADE-BD9C9EAA53B9}"/>
                  </a:ext>
                </a:extLst>
              </p:cNvPr>
              <p:cNvSpPr txBox="1"/>
              <p:nvPr/>
            </p:nvSpPr>
            <p:spPr>
              <a:xfrm>
                <a:off x="3565637" y="2360601"/>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19D4018B-D930-F472-7F14-7E672E8EFBF8}"/>
                  </a:ext>
                </a:extLst>
              </p:cNvPr>
              <p:cNvCxnSpPr/>
              <p:nvPr/>
            </p:nvCxnSpPr>
            <p:spPr>
              <a:xfrm>
                <a:off x="3315294" y="2671212"/>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8" name="组合 57">
            <a:extLst>
              <a:ext uri="{FF2B5EF4-FFF2-40B4-BE49-F238E27FC236}">
                <a16:creationId xmlns:a16="http://schemas.microsoft.com/office/drawing/2014/main" id="{15DDFD93-597E-2B7E-0E76-893DD5C7AA7B}"/>
              </a:ext>
            </a:extLst>
          </p:cNvPr>
          <p:cNvGrpSpPr/>
          <p:nvPr/>
        </p:nvGrpSpPr>
        <p:grpSpPr>
          <a:xfrm>
            <a:off x="9879781" y="5135048"/>
            <a:ext cx="1259457" cy="1531625"/>
            <a:chOff x="10497066" y="5253346"/>
            <a:chExt cx="1259457" cy="1531625"/>
          </a:xfrm>
        </p:grpSpPr>
        <p:pic>
          <p:nvPicPr>
            <p:cNvPr id="51" name="图片 50">
              <a:extLst>
                <a:ext uri="{FF2B5EF4-FFF2-40B4-BE49-F238E27FC236}">
                  <a16:creationId xmlns:a16="http://schemas.microsoft.com/office/drawing/2014/main" id="{3AEE5101-20C7-CAF0-D205-3001AD0CBDB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537323" y="5253346"/>
              <a:ext cx="1219200" cy="1219200"/>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8E716E0-B074-EAD6-655E-98F7DC56DBDB}"/>
                    </a:ext>
                  </a:extLst>
                </p:cNvPr>
                <p:cNvSpPr txBox="1"/>
                <p:nvPr/>
              </p:nvSpPr>
              <p:spPr>
                <a:xfrm>
                  <a:off x="10497066" y="6507972"/>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𝑐𝑜𝑛𝑑𝑖𝑡𝑖𝑜𝑛</m:t>
                        </m:r>
                        <m:r>
                          <a:rPr lang="en-US" altLang="zh-CN" b="0" i="1" smtClean="0">
                            <a:latin typeface="Cambria Math" panose="02040503050406030204" pitchFamily="18" charset="0"/>
                          </a:rPr>
                          <m:t>)</m:t>
                        </m:r>
                      </m:oMath>
                    </m:oMathPara>
                  </a14:m>
                  <a:endParaRPr lang="en-US" altLang="zh-CN" b="0" dirty="0"/>
                </a:p>
              </p:txBody>
            </p:sp>
          </mc:Choice>
          <mc:Fallback xmlns="">
            <p:sp>
              <p:nvSpPr>
                <p:cNvPr id="53" name="文本框 52">
                  <a:extLst>
                    <a:ext uri="{FF2B5EF4-FFF2-40B4-BE49-F238E27FC236}">
                      <a16:creationId xmlns:a16="http://schemas.microsoft.com/office/drawing/2014/main" id="{F861BD3F-A023-B3CB-E68A-FECE81DB1E83}"/>
                    </a:ext>
                  </a:extLst>
                </p:cNvPr>
                <p:cNvSpPr txBox="1">
                  <a:spLocks noRot="1" noChangeAspect="1" noMove="1" noResize="1" noEditPoints="1" noAdjustHandles="1" noChangeArrowheads="1" noChangeShapeType="1" noTextEdit="1"/>
                </p:cNvSpPr>
                <p:nvPr/>
              </p:nvSpPr>
              <p:spPr>
                <a:xfrm>
                  <a:off x="10497066" y="6507972"/>
                  <a:ext cx="1219200" cy="276999"/>
                </a:xfrm>
                <a:prstGeom prst="rect">
                  <a:avLst/>
                </a:prstGeom>
                <a:blipFill>
                  <a:blip r:embed="rId6"/>
                  <a:stretch>
                    <a:fillRect l="-6500" t="-4444" r="-17500" b="-3555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0E68EB94-B560-1A01-7D03-9765A50227CA}"/>
                  </a:ext>
                </a:extLst>
              </p:cNvPr>
              <p:cNvSpPr txBox="1"/>
              <p:nvPr/>
            </p:nvSpPr>
            <p:spPr>
              <a:xfrm>
                <a:off x="5918875" y="5597883"/>
                <a:ext cx="17648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r>
                        <a:rPr lang="en-US" altLang="zh-CN" b="0" i="1" smtClean="0">
                          <a:latin typeface="Cambria Math" panose="02040503050406030204" pitchFamily="18" charset="0"/>
                        </a:rPr>
                        <m:t>(</m:t>
                      </m:r>
                      <m:r>
                        <a:rPr lang="en-US" altLang="zh-CN" b="0" i="1" smtClean="0">
                          <a:latin typeface="Cambria Math" panose="02040503050406030204" pitchFamily="18" charset="0"/>
                        </a:rPr>
                        <m:t>𝑤𝑖𝑡h</m:t>
                      </m:r>
                      <m:r>
                        <a:rPr lang="en-US" altLang="zh-CN" b="0" i="1" smtClean="0">
                          <a:latin typeface="Cambria Math" panose="02040503050406030204" pitchFamily="18" charset="0"/>
                        </a:rPr>
                        <m:t> </m:t>
                      </m:r>
                      <m:r>
                        <a:rPr lang="en-US" altLang="zh-CN" b="0" i="1" smtClean="0">
                          <a:latin typeface="Cambria Math" panose="02040503050406030204" pitchFamily="18" charset="0"/>
                        </a:rPr>
                        <m:t>𝑀𝐴𝐸</m:t>
                      </m:r>
                      <m:r>
                        <a:rPr lang="en-US" altLang="zh-CN" b="0" i="1" smtClean="0">
                          <a:latin typeface="Cambria Math" panose="02040503050406030204" pitchFamily="18" charset="0"/>
                        </a:rPr>
                        <m:t>)</m:t>
                      </m:r>
                    </m:oMath>
                  </m:oMathPara>
                </a14:m>
                <a:endParaRPr lang="en-US" altLang="zh-CN" b="0" dirty="0"/>
              </a:p>
            </p:txBody>
          </p:sp>
        </mc:Choice>
        <mc:Fallback xmlns="">
          <p:sp>
            <p:nvSpPr>
              <p:cNvPr id="55" name="文本框 54">
                <a:extLst>
                  <a:ext uri="{FF2B5EF4-FFF2-40B4-BE49-F238E27FC236}">
                    <a16:creationId xmlns:a16="http://schemas.microsoft.com/office/drawing/2014/main" id="{0E68EB94-B560-1A01-7D03-9765A50227CA}"/>
                  </a:ext>
                </a:extLst>
              </p:cNvPr>
              <p:cNvSpPr txBox="1">
                <a:spLocks noRot="1" noChangeAspect="1" noMove="1" noResize="1" noEditPoints="1" noAdjustHandles="1" noChangeArrowheads="1" noChangeShapeType="1" noTextEdit="1"/>
              </p:cNvSpPr>
              <p:nvPr/>
            </p:nvSpPr>
            <p:spPr>
              <a:xfrm>
                <a:off x="5918875" y="5597883"/>
                <a:ext cx="1764813" cy="276999"/>
              </a:xfrm>
              <a:prstGeom prst="rect">
                <a:avLst/>
              </a:prstGeom>
              <a:blipFill>
                <a:blip r:embed="rId16"/>
                <a:stretch>
                  <a:fillRect l="-2768" t="-2174" r="-4498" b="-32609"/>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2B7C8982-44A4-CB81-898E-6819C09CABED}"/>
              </a:ext>
            </a:extLst>
          </p:cNvPr>
          <p:cNvCxnSpPr>
            <a:cxnSpLocks/>
          </p:cNvCxnSpPr>
          <p:nvPr/>
        </p:nvCxnSpPr>
        <p:spPr>
          <a:xfrm flipH="1">
            <a:off x="8153220" y="4682425"/>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51D46153-6F8E-96C0-C0A2-A36000890E86}"/>
              </a:ext>
            </a:extLst>
          </p:cNvPr>
          <p:cNvCxnSpPr>
            <a:cxnSpLocks/>
          </p:cNvCxnSpPr>
          <p:nvPr/>
        </p:nvCxnSpPr>
        <p:spPr>
          <a:xfrm flipH="1">
            <a:off x="4534665" y="4851222"/>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ABFCF86B-E0D9-9E8F-E91F-DC29D8E908A1}"/>
                  </a:ext>
                </a:extLst>
              </p:cNvPr>
              <p:cNvSpPr txBox="1"/>
              <p:nvPr/>
            </p:nvSpPr>
            <p:spPr>
              <a:xfrm>
                <a:off x="3981153" y="4592954"/>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oMath>
                  </m:oMathPara>
                </a14:m>
                <a:endParaRPr lang="en-US" altLang="zh-CN" sz="2400" b="0" dirty="0"/>
              </a:p>
            </p:txBody>
          </p:sp>
        </mc:Choice>
        <mc:Fallback xmlns="">
          <p:sp>
            <p:nvSpPr>
              <p:cNvPr id="78" name="文本框 77">
                <a:extLst>
                  <a:ext uri="{FF2B5EF4-FFF2-40B4-BE49-F238E27FC236}">
                    <a16:creationId xmlns:a16="http://schemas.microsoft.com/office/drawing/2014/main" id="{ABFCF86B-E0D9-9E8F-E91F-DC29D8E908A1}"/>
                  </a:ext>
                </a:extLst>
              </p:cNvPr>
              <p:cNvSpPr txBox="1">
                <a:spLocks noRot="1" noChangeAspect="1" noMove="1" noResize="1" noEditPoints="1" noAdjustHandles="1" noChangeArrowheads="1" noChangeShapeType="1" noTextEdit="1"/>
              </p:cNvSpPr>
              <p:nvPr/>
            </p:nvSpPr>
            <p:spPr>
              <a:xfrm>
                <a:off x="3981153" y="4592954"/>
                <a:ext cx="350808" cy="369332"/>
              </a:xfrm>
              <a:prstGeom prst="rect">
                <a:avLst/>
              </a:prstGeom>
              <a:blipFill>
                <a:blip r:embed="rId17"/>
                <a:stretch>
                  <a:fillRect l="-20690" r="-72414" b="-13115"/>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C6C02DD4-7912-4178-4812-7F6325D4E7A4}"/>
              </a:ext>
            </a:extLst>
          </p:cNvPr>
          <p:cNvGrpSpPr/>
          <p:nvPr/>
        </p:nvGrpSpPr>
        <p:grpSpPr>
          <a:xfrm rot="10800000">
            <a:off x="2870887" y="4679379"/>
            <a:ext cx="997299" cy="461665"/>
            <a:chOff x="1578436" y="4462154"/>
            <a:chExt cx="997299" cy="461665"/>
          </a:xfrm>
        </p:grpSpPr>
        <p:cxnSp>
          <p:nvCxnSpPr>
            <p:cNvPr id="80" name="直接箭头连接符 79">
              <a:extLst>
                <a:ext uri="{FF2B5EF4-FFF2-40B4-BE49-F238E27FC236}">
                  <a16:creationId xmlns:a16="http://schemas.microsoft.com/office/drawing/2014/main" id="{08E06E08-1404-C820-FF41-34CAB47E9494}"/>
                </a:ext>
              </a:extLst>
            </p:cNvPr>
            <p:cNvCxnSpPr>
              <a:cxnSpLocks/>
            </p:cNvCxnSpPr>
            <p:nvPr/>
          </p:nvCxnSpPr>
          <p:spPr>
            <a:xfrm rot="10800000" flipH="1">
              <a:off x="2284518" y="4772765"/>
              <a:ext cx="291217" cy="701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7BB29D55-2610-B897-7ADB-9AEED1392C1C}"/>
                </a:ext>
              </a:extLst>
            </p:cNvPr>
            <p:cNvSpPr txBox="1"/>
            <p:nvPr/>
          </p:nvSpPr>
          <p:spPr>
            <a:xfrm>
              <a:off x="1828779" y="4462154"/>
              <a:ext cx="481222" cy="461665"/>
            </a:xfrm>
            <a:prstGeom prst="rect">
              <a:avLst/>
            </a:prstGeom>
            <a:noFill/>
          </p:spPr>
          <p:txBody>
            <a:bodyPr wrap="none" rtlCol="0">
              <a:spAutoFit/>
            </a:bodyPr>
            <a:lstStyle/>
            <a:p>
              <a:r>
                <a:rPr lang="en-US" altLang="zh-CN" sz="2400" b="1" dirty="0">
                  <a:solidFill>
                    <a:schemeClr val="bg1">
                      <a:lumMod val="50000"/>
                    </a:schemeClr>
                  </a:solidFill>
                  <a:latin typeface="微软雅黑" panose="020B0503020204020204" pitchFamily="34" charset="-122"/>
                  <a:ea typeface="微软雅黑" panose="020B0503020204020204" pitchFamily="34" charset="-122"/>
                </a:rPr>
                <a:t>…</a:t>
              </a:r>
              <a:endParaRPr lang="zh-CN" altLang="en-US" sz="24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2" name="直接连接符 81">
              <a:extLst>
                <a:ext uri="{FF2B5EF4-FFF2-40B4-BE49-F238E27FC236}">
                  <a16:creationId xmlns:a16="http://schemas.microsoft.com/office/drawing/2014/main" id="{F36AC457-80A7-516E-9A94-B6363462A978}"/>
                </a:ext>
              </a:extLst>
            </p:cNvPr>
            <p:cNvCxnSpPr>
              <a:cxnSpLocks/>
            </p:cNvCxnSpPr>
            <p:nvPr/>
          </p:nvCxnSpPr>
          <p:spPr>
            <a:xfrm>
              <a:off x="1578436" y="4772765"/>
              <a:ext cx="252905"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89" name="图片 88">
            <a:extLst>
              <a:ext uri="{FF2B5EF4-FFF2-40B4-BE49-F238E27FC236}">
                <a16:creationId xmlns:a16="http://schemas.microsoft.com/office/drawing/2014/main" id="{97E2F2AE-F8CF-4213-EB68-285A394C68E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90703" y="4203242"/>
            <a:ext cx="1240356" cy="1240356"/>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54E8433E-2EE5-591C-1199-19C76A659E3A}"/>
                  </a:ext>
                </a:extLst>
              </p:cNvPr>
              <p:cNvSpPr txBox="1"/>
              <p:nvPr/>
            </p:nvSpPr>
            <p:spPr>
              <a:xfrm>
                <a:off x="1076422" y="5451031"/>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en-US" altLang="zh-CN" b="0" dirty="0"/>
              </a:p>
            </p:txBody>
          </p:sp>
        </mc:Choice>
        <mc:Fallback xmlns="">
          <p:sp>
            <p:nvSpPr>
              <p:cNvPr id="90" name="文本框 89">
                <a:extLst>
                  <a:ext uri="{FF2B5EF4-FFF2-40B4-BE49-F238E27FC236}">
                    <a16:creationId xmlns:a16="http://schemas.microsoft.com/office/drawing/2014/main" id="{54E8433E-2EE5-591C-1199-19C76A659E3A}"/>
                  </a:ext>
                </a:extLst>
              </p:cNvPr>
              <p:cNvSpPr txBox="1">
                <a:spLocks noRot="1" noChangeAspect="1" noMove="1" noResize="1" noEditPoints="1" noAdjustHandles="1" noChangeArrowheads="1" noChangeShapeType="1" noTextEdit="1"/>
              </p:cNvSpPr>
              <p:nvPr/>
            </p:nvSpPr>
            <p:spPr>
              <a:xfrm>
                <a:off x="1076422" y="5451031"/>
                <a:ext cx="350808" cy="276999"/>
              </a:xfrm>
              <a:prstGeom prst="rect">
                <a:avLst/>
              </a:prstGeom>
              <a:blipFill>
                <a:blip r:embed="rId19"/>
                <a:stretch>
                  <a:fillRect b="-15217"/>
                </a:stretch>
              </a:blipFill>
            </p:spPr>
            <p:txBody>
              <a:bodyPr/>
              <a:lstStyle/>
              <a:p>
                <a:r>
                  <a:rPr lang="zh-CN" altLang="en-US">
                    <a:noFill/>
                  </a:rPr>
                  <a:t> </a:t>
                </a:r>
              </a:p>
            </p:txBody>
          </p:sp>
        </mc:Fallback>
      </mc:AlternateContent>
      <p:cxnSp>
        <p:nvCxnSpPr>
          <p:cNvPr id="97" name="连接符: 肘形 96">
            <a:extLst>
              <a:ext uri="{FF2B5EF4-FFF2-40B4-BE49-F238E27FC236}">
                <a16:creationId xmlns:a16="http://schemas.microsoft.com/office/drawing/2014/main" id="{3E84F92D-0734-5BE2-AD9C-D4A51D19F269}"/>
              </a:ext>
            </a:extLst>
          </p:cNvPr>
          <p:cNvCxnSpPr>
            <a:cxnSpLocks/>
          </p:cNvCxnSpPr>
          <p:nvPr/>
        </p:nvCxnSpPr>
        <p:spPr>
          <a:xfrm rot="16200000" flipV="1">
            <a:off x="4777155" y="4915443"/>
            <a:ext cx="358024" cy="283232"/>
          </a:xfrm>
          <a:prstGeom prst="bentConnector3">
            <a:avLst>
              <a:gd name="adj1" fmla="val 663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连接符: 肘形 4">
            <a:extLst>
              <a:ext uri="{FF2B5EF4-FFF2-40B4-BE49-F238E27FC236}">
                <a16:creationId xmlns:a16="http://schemas.microsoft.com/office/drawing/2014/main" id="{7957CACC-2E58-16EC-2038-DC3784D2CB7F}"/>
              </a:ext>
            </a:extLst>
          </p:cNvPr>
          <p:cNvCxnSpPr>
            <a:cxnSpLocks/>
          </p:cNvCxnSpPr>
          <p:nvPr/>
        </p:nvCxnSpPr>
        <p:spPr>
          <a:xfrm rot="10800000">
            <a:off x="8153220" y="5214203"/>
            <a:ext cx="1689664" cy="660377"/>
          </a:xfrm>
          <a:prstGeom prst="bentConnector3">
            <a:avLst>
              <a:gd name="adj1" fmla="val 28804"/>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937EA2E-19DF-47A0-D9AE-9CE719C97904}"/>
                  </a:ext>
                </a:extLst>
              </p:cNvPr>
              <p:cNvSpPr txBox="1"/>
              <p:nvPr/>
            </p:nvSpPr>
            <p:spPr>
              <a:xfrm>
                <a:off x="3109808" y="4406699"/>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𝐷𝐷𝐼𝑀</m:t>
                      </m:r>
                    </m:oMath>
                  </m:oMathPara>
                </a14:m>
                <a:endParaRPr lang="en-US" altLang="zh-CN" b="0" dirty="0"/>
              </a:p>
            </p:txBody>
          </p:sp>
        </mc:Choice>
        <mc:Fallback xmlns="">
          <p:sp>
            <p:nvSpPr>
              <p:cNvPr id="6" name="文本框 5">
                <a:extLst>
                  <a:ext uri="{FF2B5EF4-FFF2-40B4-BE49-F238E27FC236}">
                    <a16:creationId xmlns:a16="http://schemas.microsoft.com/office/drawing/2014/main" id="{2937EA2E-19DF-47A0-D9AE-9CE719C97904}"/>
                  </a:ext>
                </a:extLst>
              </p:cNvPr>
              <p:cNvSpPr txBox="1">
                <a:spLocks noRot="1" noChangeAspect="1" noMove="1" noResize="1" noEditPoints="1" noAdjustHandles="1" noChangeArrowheads="1" noChangeShapeType="1" noTextEdit="1"/>
              </p:cNvSpPr>
              <p:nvPr/>
            </p:nvSpPr>
            <p:spPr>
              <a:xfrm>
                <a:off x="3109808" y="4406699"/>
                <a:ext cx="641806" cy="276999"/>
              </a:xfrm>
              <a:prstGeom prst="rect">
                <a:avLst/>
              </a:prstGeom>
              <a:blipFill>
                <a:blip r:embed="rId20"/>
                <a:stretch>
                  <a:fillRect l="-9524" r="-9524" b="-6667"/>
                </a:stretch>
              </a:blipFill>
            </p:spPr>
            <p:txBody>
              <a:bodyPr/>
              <a:lstStyle/>
              <a:p>
                <a:r>
                  <a:rPr lang="zh-CN" altLang="en-US">
                    <a:noFill/>
                  </a:rPr>
                  <a:t> </a:t>
                </a:r>
              </a:p>
            </p:txBody>
          </p:sp>
        </mc:Fallback>
      </mc:AlternateContent>
      <p:cxnSp>
        <p:nvCxnSpPr>
          <p:cNvPr id="7" name="连接符: 肘形 6">
            <a:extLst>
              <a:ext uri="{FF2B5EF4-FFF2-40B4-BE49-F238E27FC236}">
                <a16:creationId xmlns:a16="http://schemas.microsoft.com/office/drawing/2014/main" id="{61D92A01-7143-7369-7EAA-0FE4362CC01C}"/>
              </a:ext>
            </a:extLst>
          </p:cNvPr>
          <p:cNvCxnSpPr>
            <a:cxnSpLocks/>
          </p:cNvCxnSpPr>
          <p:nvPr/>
        </p:nvCxnSpPr>
        <p:spPr>
          <a:xfrm rot="10800000">
            <a:off x="9161661" y="4690624"/>
            <a:ext cx="1362446" cy="382110"/>
          </a:xfrm>
          <a:prstGeom prst="bentConnector3">
            <a:avLst>
              <a:gd name="adj1" fmla="val 1990"/>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3D97549-AD63-B21B-75F1-390846500D6F}"/>
                  </a:ext>
                </a:extLst>
              </p:cNvPr>
              <p:cNvSpPr txBox="1"/>
              <p:nvPr/>
            </p:nvSpPr>
            <p:spPr>
              <a:xfrm>
                <a:off x="2904696" y="4937204"/>
                <a:ext cx="641806" cy="55399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𝐸𝑛𝑠𝑒𝑚𝑏𝑙𝑒</m:t>
                      </m:r>
                    </m:oMath>
                  </m:oMathPara>
                </a14:m>
                <a:endParaRPr lang="en-US" altLang="zh-CN" b="0" dirty="0">
                  <a:solidFill>
                    <a:schemeClr val="tx1"/>
                  </a:solidFill>
                </a:endParaRPr>
              </a:p>
              <a:p>
                <a:pPr algn="ctr"/>
                <a14:m>
                  <m:oMathPara xmlns:m="http://schemas.openxmlformats.org/officeDocument/2006/math">
                    <m:oMathParaPr>
                      <m:jc m:val="center"/>
                    </m:oMathParaPr>
                    <m:oMath xmlns:m="http://schemas.openxmlformats.org/officeDocument/2006/math">
                      <m:r>
                        <a:rPr lang="en-US" altLang="zh-CN" b="0" i="1" dirty="0" smtClean="0">
                          <a:solidFill>
                            <a:schemeClr val="tx1"/>
                          </a:solidFill>
                          <a:latin typeface="Cambria Math" panose="02040503050406030204" pitchFamily="18" charset="0"/>
                        </a:rPr>
                        <m:t>    </m:t>
                      </m:r>
                      <m:r>
                        <a:rPr lang="en-US" altLang="zh-CN" i="1" dirty="0" smtClean="0">
                          <a:solidFill>
                            <a:schemeClr val="tx1"/>
                          </a:solidFill>
                          <a:latin typeface="Cambria Math" panose="02040503050406030204" pitchFamily="18" charset="0"/>
                        </a:rPr>
                        <m:t>𝑀𝑒𝑎</m:t>
                      </m:r>
                      <m:r>
                        <a:rPr lang="en-US" altLang="zh-CN" i="1" dirty="0">
                          <a:solidFill>
                            <a:schemeClr val="tx1"/>
                          </a:solidFill>
                          <a:latin typeface="Cambria Math" panose="02040503050406030204" pitchFamily="18" charset="0"/>
                        </a:rPr>
                        <m:t>𝑛</m:t>
                      </m:r>
                    </m:oMath>
                  </m:oMathPara>
                </a14:m>
                <a:endParaRPr lang="en-US" altLang="zh-CN" b="0" dirty="0">
                  <a:solidFill>
                    <a:schemeClr val="tx1"/>
                  </a:solidFill>
                </a:endParaRPr>
              </a:p>
            </p:txBody>
          </p:sp>
        </mc:Choice>
        <mc:Fallback xmlns="">
          <p:sp>
            <p:nvSpPr>
              <p:cNvPr id="3" name="文本框 2">
                <a:extLst>
                  <a:ext uri="{FF2B5EF4-FFF2-40B4-BE49-F238E27FC236}">
                    <a16:creationId xmlns:a16="http://schemas.microsoft.com/office/drawing/2014/main" id="{23D97549-AD63-B21B-75F1-390846500D6F}"/>
                  </a:ext>
                </a:extLst>
              </p:cNvPr>
              <p:cNvSpPr txBox="1">
                <a:spLocks noRot="1" noChangeAspect="1" noMove="1" noResize="1" noEditPoints="1" noAdjustHandles="1" noChangeArrowheads="1" noChangeShapeType="1" noTextEdit="1"/>
              </p:cNvSpPr>
              <p:nvPr/>
            </p:nvSpPr>
            <p:spPr>
              <a:xfrm>
                <a:off x="2904696" y="4937204"/>
                <a:ext cx="641806" cy="553998"/>
              </a:xfrm>
              <a:prstGeom prst="rect">
                <a:avLst/>
              </a:prstGeom>
              <a:blipFill>
                <a:blip r:embed="rId21"/>
                <a:stretch>
                  <a:fillRect l="-13208" r="-67925" b="-2198"/>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0B705719-C9DF-3CA6-7296-445983C3D628}"/>
              </a:ext>
            </a:extLst>
          </p:cNvPr>
          <p:cNvCxnSpPr>
            <a:cxnSpLocks/>
          </p:cNvCxnSpPr>
          <p:nvPr/>
        </p:nvCxnSpPr>
        <p:spPr>
          <a:xfrm>
            <a:off x="3128170" y="2640328"/>
            <a:ext cx="607961"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098E16F-946D-2CBB-F76B-1E23C248EF88}"/>
                  </a:ext>
                </a:extLst>
              </p:cNvPr>
              <p:cNvSpPr txBox="1"/>
              <p:nvPr/>
            </p:nvSpPr>
            <p:spPr>
              <a:xfrm>
                <a:off x="3811415" y="2422274"/>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1</m:t>
                          </m:r>
                        </m:sub>
                      </m:sSub>
                    </m:oMath>
                  </m:oMathPara>
                </a14:m>
                <a:endParaRPr lang="en-US" altLang="zh-CN" sz="2400" b="0" dirty="0"/>
              </a:p>
            </p:txBody>
          </p:sp>
        </mc:Choice>
        <mc:Fallback xmlns="">
          <p:sp>
            <p:nvSpPr>
              <p:cNvPr id="10" name="文本框 9">
                <a:extLst>
                  <a:ext uri="{FF2B5EF4-FFF2-40B4-BE49-F238E27FC236}">
                    <a16:creationId xmlns:a16="http://schemas.microsoft.com/office/drawing/2014/main" id="{D098E16F-946D-2CBB-F76B-1E23C248EF88}"/>
                  </a:ext>
                </a:extLst>
              </p:cNvPr>
              <p:cNvSpPr txBox="1">
                <a:spLocks noRot="1" noChangeAspect="1" noMove="1" noResize="1" noEditPoints="1" noAdjustHandles="1" noChangeArrowheads="1" noChangeShapeType="1" noTextEdit="1"/>
              </p:cNvSpPr>
              <p:nvPr/>
            </p:nvSpPr>
            <p:spPr>
              <a:xfrm>
                <a:off x="3811415" y="2422274"/>
                <a:ext cx="350808" cy="369332"/>
              </a:xfrm>
              <a:prstGeom prst="rect">
                <a:avLst/>
              </a:prstGeom>
              <a:blipFill>
                <a:blip r:embed="rId22"/>
                <a:stretch>
                  <a:fillRect l="-10345" r="-5172"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D9CEF57-233B-F692-449A-93DF4EE4E3FA}"/>
                  </a:ext>
                </a:extLst>
              </p:cNvPr>
              <p:cNvSpPr txBox="1"/>
              <p:nvPr/>
            </p:nvSpPr>
            <p:spPr>
              <a:xfrm>
                <a:off x="5441806" y="2437590"/>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𝑘</m:t>
                          </m:r>
                        </m:sub>
                      </m:sSub>
                    </m:oMath>
                  </m:oMathPara>
                </a14:m>
                <a:endParaRPr lang="en-US" altLang="zh-CN" sz="2400" b="0" dirty="0"/>
              </a:p>
            </p:txBody>
          </p:sp>
        </mc:Choice>
        <mc:Fallback xmlns="">
          <p:sp>
            <p:nvSpPr>
              <p:cNvPr id="11" name="文本框 10">
                <a:extLst>
                  <a:ext uri="{FF2B5EF4-FFF2-40B4-BE49-F238E27FC236}">
                    <a16:creationId xmlns:a16="http://schemas.microsoft.com/office/drawing/2014/main" id="{6D9CEF57-233B-F692-449A-93DF4EE4E3FA}"/>
                  </a:ext>
                </a:extLst>
              </p:cNvPr>
              <p:cNvSpPr txBox="1">
                <a:spLocks noRot="1" noChangeAspect="1" noMove="1" noResize="1" noEditPoints="1" noAdjustHandles="1" noChangeArrowheads="1" noChangeShapeType="1" noTextEdit="1"/>
              </p:cNvSpPr>
              <p:nvPr/>
            </p:nvSpPr>
            <p:spPr>
              <a:xfrm>
                <a:off x="5441806" y="2437590"/>
                <a:ext cx="350808" cy="369332"/>
              </a:xfrm>
              <a:prstGeom prst="rect">
                <a:avLst/>
              </a:prstGeom>
              <a:blipFill>
                <a:blip r:embed="rId23"/>
                <a:stretch>
                  <a:fillRect l="-14035" r="-10526"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DB76307-7466-9BB8-B8F2-A4A7558AE185}"/>
                  </a:ext>
                </a:extLst>
              </p:cNvPr>
              <p:cNvSpPr txBox="1"/>
              <p:nvPr/>
            </p:nvSpPr>
            <p:spPr>
              <a:xfrm>
                <a:off x="7044107" y="2445578"/>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𝑡</m:t>
                          </m:r>
                        </m:sub>
                      </m:sSub>
                    </m:oMath>
                  </m:oMathPara>
                </a14:m>
                <a:endParaRPr lang="en-US" altLang="zh-CN" sz="2400" b="0" dirty="0"/>
              </a:p>
            </p:txBody>
          </p:sp>
        </mc:Choice>
        <mc:Fallback xmlns="">
          <p:sp>
            <p:nvSpPr>
              <p:cNvPr id="12" name="文本框 11">
                <a:extLst>
                  <a:ext uri="{FF2B5EF4-FFF2-40B4-BE49-F238E27FC236}">
                    <a16:creationId xmlns:a16="http://schemas.microsoft.com/office/drawing/2014/main" id="{BDB76307-7466-9BB8-B8F2-A4A7558AE185}"/>
                  </a:ext>
                </a:extLst>
              </p:cNvPr>
              <p:cNvSpPr txBox="1">
                <a:spLocks noRot="1" noChangeAspect="1" noMove="1" noResize="1" noEditPoints="1" noAdjustHandles="1" noChangeArrowheads="1" noChangeShapeType="1" noTextEdit="1"/>
              </p:cNvSpPr>
              <p:nvPr/>
            </p:nvSpPr>
            <p:spPr>
              <a:xfrm>
                <a:off x="7044107" y="2445578"/>
                <a:ext cx="350808" cy="369332"/>
              </a:xfrm>
              <a:prstGeom prst="rect">
                <a:avLst/>
              </a:prstGeom>
              <a:blipFill>
                <a:blip r:embed="rId24"/>
                <a:stretch>
                  <a:fillRect l="-8772" r="-3509"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45060F4-243B-4F97-3291-166752BBCEE2}"/>
                  </a:ext>
                </a:extLst>
              </p:cNvPr>
              <p:cNvSpPr txBox="1"/>
              <p:nvPr/>
            </p:nvSpPr>
            <p:spPr>
              <a:xfrm>
                <a:off x="8731397" y="4457134"/>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𝑡</m:t>
                          </m:r>
                        </m:sub>
                      </m:sSub>
                    </m:oMath>
                  </m:oMathPara>
                </a14:m>
                <a:endParaRPr lang="en-US" altLang="zh-CN" sz="2400" b="0" dirty="0"/>
              </a:p>
            </p:txBody>
          </p:sp>
        </mc:Choice>
        <mc:Fallback xmlns="">
          <p:sp>
            <p:nvSpPr>
              <p:cNvPr id="16" name="文本框 15">
                <a:extLst>
                  <a:ext uri="{FF2B5EF4-FFF2-40B4-BE49-F238E27FC236}">
                    <a16:creationId xmlns:a16="http://schemas.microsoft.com/office/drawing/2014/main" id="{545060F4-243B-4F97-3291-166752BBCEE2}"/>
                  </a:ext>
                </a:extLst>
              </p:cNvPr>
              <p:cNvSpPr txBox="1">
                <a:spLocks noRot="1" noChangeAspect="1" noMove="1" noResize="1" noEditPoints="1" noAdjustHandles="1" noChangeArrowheads="1" noChangeShapeType="1" noTextEdit="1"/>
              </p:cNvSpPr>
              <p:nvPr/>
            </p:nvSpPr>
            <p:spPr>
              <a:xfrm>
                <a:off x="8731397" y="4457134"/>
                <a:ext cx="350808" cy="369332"/>
              </a:xfrm>
              <a:prstGeom prst="rect">
                <a:avLst/>
              </a:prstGeom>
              <a:blipFill>
                <a:blip r:embed="rId25"/>
                <a:stretch>
                  <a:fillRect l="-6897" r="-1724"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70E45E4-1E4C-46B6-6E96-AB415ABE5051}"/>
                  </a:ext>
                </a:extLst>
              </p:cNvPr>
              <p:cNvSpPr txBox="1"/>
              <p:nvPr/>
            </p:nvSpPr>
            <p:spPr>
              <a:xfrm>
                <a:off x="8101067" y="5268991"/>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𝑐𝑜𝑛𝑑𝑖𝑡𝑖𝑜𝑛</m:t>
                          </m:r>
                        </m:sub>
                      </m:sSub>
                    </m:oMath>
                  </m:oMathPara>
                </a14:m>
                <a:endParaRPr lang="en-US" altLang="zh-CN" sz="2400" b="0" dirty="0"/>
              </a:p>
            </p:txBody>
          </p:sp>
        </mc:Choice>
        <mc:Fallback xmlns="">
          <p:sp>
            <p:nvSpPr>
              <p:cNvPr id="17" name="文本框 16">
                <a:extLst>
                  <a:ext uri="{FF2B5EF4-FFF2-40B4-BE49-F238E27FC236}">
                    <a16:creationId xmlns:a16="http://schemas.microsoft.com/office/drawing/2014/main" id="{E70E45E4-1E4C-46B6-6E96-AB415ABE5051}"/>
                  </a:ext>
                </a:extLst>
              </p:cNvPr>
              <p:cNvSpPr txBox="1">
                <a:spLocks noRot="1" noChangeAspect="1" noMove="1" noResize="1" noEditPoints="1" noAdjustHandles="1" noChangeArrowheads="1" noChangeShapeType="1" noTextEdit="1"/>
              </p:cNvSpPr>
              <p:nvPr/>
            </p:nvSpPr>
            <p:spPr>
              <a:xfrm>
                <a:off x="8101067" y="5268991"/>
                <a:ext cx="350808" cy="369332"/>
              </a:xfrm>
              <a:prstGeom prst="rect">
                <a:avLst/>
              </a:prstGeom>
              <a:blipFill>
                <a:blip r:embed="rId26"/>
                <a:stretch>
                  <a:fillRect l="-22807" r="-270175"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DA8FC7A3-2FB9-60F1-F407-57C47047AC52}"/>
                  </a:ext>
                </a:extLst>
              </p:cNvPr>
              <p:cNvSpPr txBox="1"/>
              <p:nvPr/>
            </p:nvSpPr>
            <p:spPr>
              <a:xfrm>
                <a:off x="2521365" y="4582259"/>
                <a:ext cx="35080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0</m:t>
                          </m:r>
                        </m:sub>
                      </m:sSub>
                    </m:oMath>
                  </m:oMathPara>
                </a14:m>
                <a:endParaRPr lang="en-US" altLang="zh-CN" sz="2400" b="0" dirty="0"/>
              </a:p>
            </p:txBody>
          </p:sp>
        </mc:Choice>
        <mc:Fallback xmlns="">
          <p:sp>
            <p:nvSpPr>
              <p:cNvPr id="54" name="文本框 53">
                <a:extLst>
                  <a:ext uri="{FF2B5EF4-FFF2-40B4-BE49-F238E27FC236}">
                    <a16:creationId xmlns:a16="http://schemas.microsoft.com/office/drawing/2014/main" id="{DA8FC7A3-2FB9-60F1-F407-57C47047AC52}"/>
                  </a:ext>
                </a:extLst>
              </p:cNvPr>
              <p:cNvSpPr txBox="1">
                <a:spLocks noRot="1" noChangeAspect="1" noMove="1" noResize="1" noEditPoints="1" noAdjustHandles="1" noChangeArrowheads="1" noChangeShapeType="1" noTextEdit="1"/>
              </p:cNvSpPr>
              <p:nvPr/>
            </p:nvSpPr>
            <p:spPr>
              <a:xfrm>
                <a:off x="2521365" y="4582259"/>
                <a:ext cx="350808" cy="369332"/>
              </a:xfrm>
              <a:prstGeom prst="rect">
                <a:avLst/>
              </a:prstGeom>
              <a:blipFill>
                <a:blip r:embed="rId27"/>
                <a:stretch>
                  <a:fillRect l="-12281" r="-8772" b="-15000"/>
                </a:stretch>
              </a:blipFill>
            </p:spPr>
            <p:txBody>
              <a:bodyPr/>
              <a:lstStyle/>
              <a:p>
                <a:r>
                  <a:rPr lang="zh-CN" altLang="en-US">
                    <a:noFill/>
                  </a:rPr>
                  <a:t> </a:t>
                </a:r>
              </a:p>
            </p:txBody>
          </p:sp>
        </mc:Fallback>
      </mc:AlternateContent>
      <p:cxnSp>
        <p:nvCxnSpPr>
          <p:cNvPr id="56" name="直接箭头连接符 55">
            <a:extLst>
              <a:ext uri="{FF2B5EF4-FFF2-40B4-BE49-F238E27FC236}">
                <a16:creationId xmlns:a16="http://schemas.microsoft.com/office/drawing/2014/main" id="{DF0DF54B-3A39-01CE-10B3-EFCAA831B495}"/>
              </a:ext>
            </a:extLst>
          </p:cNvPr>
          <p:cNvCxnSpPr>
            <a:cxnSpLocks/>
          </p:cNvCxnSpPr>
          <p:nvPr/>
        </p:nvCxnSpPr>
        <p:spPr>
          <a:xfrm flipH="1">
            <a:off x="1886409" y="4816269"/>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4A6495D7-6E95-F413-AD10-0FF1B4B06107}"/>
              </a:ext>
            </a:extLst>
          </p:cNvPr>
          <p:cNvSpPr/>
          <p:nvPr/>
        </p:nvSpPr>
        <p:spPr>
          <a:xfrm>
            <a:off x="7756271" y="1313635"/>
            <a:ext cx="4247020"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VAE (Variational Auto-Encoder, 2013)</a:t>
            </a:r>
            <a:endParaRPr kumimoji="0" lang="en-US" altLang="zh-CN"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
        <p:nvSpPr>
          <p:cNvPr id="61" name="箭头: 右 60">
            <a:extLst>
              <a:ext uri="{FF2B5EF4-FFF2-40B4-BE49-F238E27FC236}">
                <a16:creationId xmlns:a16="http://schemas.microsoft.com/office/drawing/2014/main" id="{C7EA2D4F-087C-9FD0-DB3A-A921717BA6A3}"/>
              </a:ext>
            </a:extLst>
          </p:cNvPr>
          <p:cNvSpPr/>
          <p:nvPr/>
        </p:nvSpPr>
        <p:spPr>
          <a:xfrm rot="10800000">
            <a:off x="1831059" y="6250299"/>
            <a:ext cx="3377613" cy="313231"/>
          </a:xfrm>
          <a:prstGeom prst="rightArrow">
            <a:avLst>
              <a:gd name="adj1" fmla="val 50000"/>
              <a:gd name="adj2" fmla="val 134571"/>
            </a:avLst>
          </a:prstGeom>
          <a:solidFill>
            <a:schemeClr val="accent5">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63122865-0541-504C-1BC1-914AA77F6630}"/>
              </a:ext>
            </a:extLst>
          </p:cNvPr>
          <p:cNvSpPr txBox="1"/>
          <p:nvPr/>
        </p:nvSpPr>
        <p:spPr>
          <a:xfrm>
            <a:off x="7714815" y="1826914"/>
            <a:ext cx="4404614" cy="1705210"/>
          </a:xfrm>
          <a:prstGeom prst="rect">
            <a:avLst/>
          </a:prstGeom>
          <a:noFill/>
        </p:spPr>
        <p:txBody>
          <a:bodyPr wrap="square" rtlCol="0">
            <a:spAutoFit/>
          </a:bodyPr>
          <a:lstStyle/>
          <a:p>
            <a:pPr>
              <a:lnSpc>
                <a:spcPct val="150000"/>
              </a:lnSpc>
            </a:pPr>
            <a:r>
              <a:rPr lang="zh-CN" altLang="en-US"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借鉴 </a:t>
            </a:r>
            <a:r>
              <a:rPr lang="en-US" altLang="zh-CN"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Latent Diffusion Model (2022)</a:t>
            </a:r>
            <a:r>
              <a:rPr lang="zh-CN" altLang="en-US"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的思路，在扩散模型训练前通过</a:t>
            </a:r>
            <a:r>
              <a:rPr lang="en-US" altLang="zh-CN"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VAE</a:t>
            </a:r>
            <a:r>
              <a:rPr lang="zh-CN" altLang="en-US"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对高维图像进行降维传入网络，逆扩散推断完成后再进行重建，可以较好地缩短训练和推断时间</a:t>
            </a:r>
          </a:p>
        </p:txBody>
      </p:sp>
    </p:spTree>
    <p:extLst>
      <p:ext uri="{BB962C8B-B14F-4D97-AF65-F5344CB8AC3E}">
        <p14:creationId xmlns:p14="http://schemas.microsoft.com/office/powerpoint/2010/main" val="14918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A2A627-EAF1-26ED-92B3-FD8E37E34089}"/>
              </a:ext>
            </a:extLst>
          </p:cNvPr>
          <p:cNvSpPr>
            <a:spLocks noGrp="1"/>
          </p:cNvSpPr>
          <p:nvPr>
            <p:ph type="title"/>
          </p:nvPr>
        </p:nvSpPr>
        <p:spPr/>
        <p:txBody>
          <a:bodyPr/>
          <a:lstStyle/>
          <a:p>
            <a:r>
              <a:rPr lang="zh-CN" altLang="en-US" dirty="0"/>
              <a:t>核心参考文献</a:t>
            </a:r>
          </a:p>
        </p:txBody>
      </p:sp>
      <p:sp>
        <p:nvSpPr>
          <p:cNvPr id="4" name="文本框 3">
            <a:extLst>
              <a:ext uri="{FF2B5EF4-FFF2-40B4-BE49-F238E27FC236}">
                <a16:creationId xmlns:a16="http://schemas.microsoft.com/office/drawing/2014/main" id="{9B8075E8-1CBE-5D97-8C24-10674C7EEB6F}"/>
              </a:ext>
            </a:extLst>
          </p:cNvPr>
          <p:cNvSpPr txBox="1"/>
          <p:nvPr/>
        </p:nvSpPr>
        <p:spPr>
          <a:xfrm>
            <a:off x="116066" y="941777"/>
            <a:ext cx="11632864" cy="6182718"/>
          </a:xfrm>
          <a:prstGeom prst="rect">
            <a:avLst/>
          </a:prstGeom>
          <a:noFill/>
        </p:spPr>
        <p:txBody>
          <a:bodyPr wrap="square">
            <a:spAutoFit/>
          </a:bodyPr>
          <a:lstStyle/>
          <a:p>
            <a:pPr algn="just">
              <a:lnSpc>
                <a:spcPct val="150000"/>
              </a:lnSpc>
            </a:pPr>
            <a:r>
              <a:rPr lang="en-US" altLang="zh-CN" sz="1600" dirty="0">
                <a:solidFill>
                  <a:srgbClr val="222222"/>
                </a:solidFill>
                <a:latin typeface="Times New Roman" panose="02020603050405020304" pitchFamily="18" charset="0"/>
                <a:cs typeface="Times New Roman" panose="02020603050405020304" pitchFamily="18" charset="0"/>
              </a:rPr>
              <a:t>[1] </a:t>
            </a:r>
            <a:r>
              <a:rPr lang="en-US" altLang="zh-CN" sz="1600" b="0" i="0" dirty="0">
                <a:solidFill>
                  <a:srgbClr val="222222"/>
                </a:solidFill>
                <a:effectLst/>
                <a:latin typeface="Times New Roman" panose="02020603050405020304" pitchFamily="18" charset="0"/>
                <a:cs typeface="Times New Roman" panose="02020603050405020304" pitchFamily="18" charset="0"/>
              </a:rPr>
              <a:t>Zou, R., Wei, L., &amp; Guan, L. (2023). Super Resolution of Satellite-Derived Sea Surface Temperature Using a Transformer-Based Model. </a:t>
            </a:r>
            <a:r>
              <a:rPr lang="en-US" altLang="zh-CN" sz="1600" b="0" i="1" dirty="0">
                <a:solidFill>
                  <a:srgbClr val="222222"/>
                </a:solidFill>
                <a:effectLst/>
                <a:latin typeface="Times New Roman" panose="02020603050405020304" pitchFamily="18" charset="0"/>
                <a:cs typeface="Times New Roman" panose="02020603050405020304" pitchFamily="18" charset="0"/>
              </a:rPr>
              <a:t>Remote Sensing</a:t>
            </a:r>
            <a:r>
              <a:rPr lang="en-US" altLang="zh-CN" sz="1600" b="0" i="0" dirty="0">
                <a:solidFill>
                  <a:srgbClr val="222222"/>
                </a:solidFill>
                <a:effectLst/>
                <a:latin typeface="Times New Roman" panose="02020603050405020304" pitchFamily="18" charset="0"/>
                <a:cs typeface="Times New Roman" panose="02020603050405020304" pitchFamily="18" charset="0"/>
              </a:rPr>
              <a:t>, </a:t>
            </a:r>
            <a:r>
              <a:rPr lang="en-US" altLang="zh-CN" sz="1600" b="0" i="1" dirty="0">
                <a:solidFill>
                  <a:srgbClr val="222222"/>
                </a:solidFill>
                <a:effectLst/>
                <a:latin typeface="Times New Roman" panose="02020603050405020304" pitchFamily="18" charset="0"/>
                <a:cs typeface="Times New Roman" panose="02020603050405020304" pitchFamily="18" charset="0"/>
              </a:rPr>
              <a:t>15</a:t>
            </a:r>
            <a:r>
              <a:rPr lang="en-US" altLang="zh-CN" sz="1600" b="0" i="0" dirty="0">
                <a:solidFill>
                  <a:srgbClr val="222222"/>
                </a:solidFill>
                <a:effectLst/>
                <a:latin typeface="Times New Roman" panose="02020603050405020304" pitchFamily="18" charset="0"/>
                <a:cs typeface="Times New Roman" panose="02020603050405020304" pitchFamily="18" charset="0"/>
              </a:rPr>
              <a:t>(22), 5376.</a:t>
            </a:r>
          </a:p>
          <a:p>
            <a:pPr algn="just">
              <a:lnSpc>
                <a:spcPct val="150000"/>
              </a:lnSpc>
            </a:pPr>
            <a:r>
              <a:rPr lang="en-US" altLang="zh-CN" sz="1600" dirty="0">
                <a:solidFill>
                  <a:srgbClr val="222222"/>
                </a:solidFill>
                <a:latin typeface="Times New Roman" panose="02020603050405020304" pitchFamily="18" charset="0"/>
                <a:cs typeface="Times New Roman" panose="02020603050405020304" pitchFamily="18" charset="0"/>
              </a:rPr>
              <a:t>[2] </a:t>
            </a:r>
            <a:r>
              <a:rPr lang="en-US" altLang="zh-CN" sz="1600" b="0" i="0" dirty="0" err="1">
                <a:solidFill>
                  <a:srgbClr val="222222"/>
                </a:solidFill>
                <a:effectLst/>
                <a:latin typeface="Times New Roman" panose="02020603050405020304" pitchFamily="18" charset="0"/>
                <a:cs typeface="Times New Roman" panose="02020603050405020304" pitchFamily="18" charset="0"/>
              </a:rPr>
              <a:t>Saharia</a:t>
            </a:r>
            <a:r>
              <a:rPr lang="en-US" altLang="zh-CN" sz="1600" b="0" i="0" dirty="0">
                <a:solidFill>
                  <a:srgbClr val="222222"/>
                </a:solidFill>
                <a:effectLst/>
                <a:latin typeface="Times New Roman" panose="02020603050405020304" pitchFamily="18" charset="0"/>
                <a:cs typeface="Times New Roman" panose="02020603050405020304" pitchFamily="18" charset="0"/>
              </a:rPr>
              <a:t>, C., Ho, J., Chan, W., </a:t>
            </a:r>
            <a:r>
              <a:rPr lang="en-US" altLang="zh-CN" sz="1600" b="0" i="0" dirty="0" err="1">
                <a:solidFill>
                  <a:srgbClr val="222222"/>
                </a:solidFill>
                <a:effectLst/>
                <a:latin typeface="Times New Roman" panose="02020603050405020304" pitchFamily="18" charset="0"/>
                <a:cs typeface="Times New Roman" panose="02020603050405020304" pitchFamily="18" charset="0"/>
              </a:rPr>
              <a:t>Salimans</a:t>
            </a:r>
            <a:r>
              <a:rPr lang="en-US" altLang="zh-CN" sz="1600" b="0" i="0" dirty="0">
                <a:solidFill>
                  <a:srgbClr val="222222"/>
                </a:solidFill>
                <a:effectLst/>
                <a:latin typeface="Times New Roman" panose="02020603050405020304" pitchFamily="18" charset="0"/>
                <a:cs typeface="Times New Roman" panose="02020603050405020304" pitchFamily="18" charset="0"/>
              </a:rPr>
              <a:t>, T., Fleet, D. J., &amp; </a:t>
            </a:r>
            <a:r>
              <a:rPr lang="en-US" altLang="zh-CN" sz="1600" b="0" i="0" dirty="0" err="1">
                <a:solidFill>
                  <a:srgbClr val="222222"/>
                </a:solidFill>
                <a:effectLst/>
                <a:latin typeface="Times New Roman" panose="02020603050405020304" pitchFamily="18" charset="0"/>
                <a:cs typeface="Times New Roman" panose="02020603050405020304" pitchFamily="18" charset="0"/>
              </a:rPr>
              <a:t>Norouzi</a:t>
            </a:r>
            <a:r>
              <a:rPr lang="en-US" altLang="zh-CN" sz="1600" b="0" i="0" dirty="0">
                <a:solidFill>
                  <a:srgbClr val="222222"/>
                </a:solidFill>
                <a:effectLst/>
                <a:latin typeface="Times New Roman" panose="02020603050405020304" pitchFamily="18" charset="0"/>
                <a:cs typeface="Times New Roman" panose="02020603050405020304" pitchFamily="18" charset="0"/>
              </a:rPr>
              <a:t>, M. (2022). Image super-resolution via iterative refinement. </a:t>
            </a:r>
            <a:r>
              <a:rPr lang="en-US" altLang="zh-CN" sz="1600" b="0" i="1" dirty="0">
                <a:solidFill>
                  <a:srgbClr val="222222"/>
                </a:solidFill>
                <a:effectLst/>
                <a:latin typeface="Times New Roman" panose="02020603050405020304" pitchFamily="18" charset="0"/>
                <a:cs typeface="Times New Roman" panose="02020603050405020304" pitchFamily="18" charset="0"/>
              </a:rPr>
              <a:t>IEEE transactions on pattern analysis and machine intelligence</a:t>
            </a:r>
            <a:r>
              <a:rPr lang="en-US" altLang="zh-CN" sz="1600" b="0" i="0" dirty="0">
                <a:solidFill>
                  <a:srgbClr val="222222"/>
                </a:solidFill>
                <a:effectLst/>
                <a:latin typeface="Times New Roman" panose="02020603050405020304" pitchFamily="18" charset="0"/>
                <a:cs typeface="Times New Roman" panose="02020603050405020304" pitchFamily="18" charset="0"/>
              </a:rPr>
              <a:t>, </a:t>
            </a:r>
            <a:r>
              <a:rPr lang="en-US" altLang="zh-CN" sz="1600" b="0" i="1" dirty="0">
                <a:solidFill>
                  <a:srgbClr val="222222"/>
                </a:solidFill>
                <a:effectLst/>
                <a:latin typeface="Times New Roman" panose="02020603050405020304" pitchFamily="18" charset="0"/>
                <a:cs typeface="Times New Roman" panose="02020603050405020304" pitchFamily="18" charset="0"/>
              </a:rPr>
              <a:t>45</a:t>
            </a:r>
            <a:r>
              <a:rPr lang="en-US" altLang="zh-CN" sz="1600" b="0" i="0" dirty="0">
                <a:solidFill>
                  <a:srgbClr val="222222"/>
                </a:solidFill>
                <a:effectLst/>
                <a:latin typeface="Times New Roman" panose="02020603050405020304" pitchFamily="18" charset="0"/>
                <a:cs typeface="Times New Roman" panose="02020603050405020304" pitchFamily="18" charset="0"/>
              </a:rPr>
              <a:t>(4), 4713-4726.</a:t>
            </a: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[3] Ho, J., Jain, A., &amp; </a:t>
            </a:r>
            <a:r>
              <a:rPr lang="en-US" altLang="zh-CN" sz="1600" b="0" i="0" dirty="0" err="1">
                <a:solidFill>
                  <a:srgbClr val="222222"/>
                </a:solidFill>
                <a:effectLst/>
                <a:latin typeface="Times New Roman" panose="02020603050405020304" pitchFamily="18" charset="0"/>
                <a:cs typeface="Times New Roman" panose="02020603050405020304" pitchFamily="18" charset="0"/>
              </a:rPr>
              <a:t>Abbeel</a:t>
            </a:r>
            <a:r>
              <a:rPr lang="en-US" altLang="zh-CN" sz="1600" b="0" i="0" dirty="0">
                <a:solidFill>
                  <a:srgbClr val="222222"/>
                </a:solidFill>
                <a:effectLst/>
                <a:latin typeface="Times New Roman" panose="02020603050405020304" pitchFamily="18" charset="0"/>
                <a:cs typeface="Times New Roman" panose="02020603050405020304" pitchFamily="18" charset="0"/>
              </a:rPr>
              <a:t>, P. (2020). Denoising diffusion probabilistic models. </a:t>
            </a:r>
            <a:r>
              <a:rPr lang="en-US" altLang="zh-CN" sz="1600" b="0" i="1" dirty="0">
                <a:solidFill>
                  <a:srgbClr val="222222"/>
                </a:solidFill>
                <a:effectLst/>
                <a:latin typeface="Times New Roman" panose="02020603050405020304" pitchFamily="18" charset="0"/>
                <a:cs typeface="Times New Roman" panose="02020603050405020304" pitchFamily="18" charset="0"/>
              </a:rPr>
              <a:t>Advances in neural information processing systems</a:t>
            </a:r>
            <a:r>
              <a:rPr lang="en-US" altLang="zh-CN" sz="1600" b="0" i="0" dirty="0">
                <a:solidFill>
                  <a:srgbClr val="222222"/>
                </a:solidFill>
                <a:effectLst/>
                <a:latin typeface="Times New Roman" panose="02020603050405020304" pitchFamily="18" charset="0"/>
                <a:cs typeface="Times New Roman" panose="02020603050405020304" pitchFamily="18" charset="0"/>
              </a:rPr>
              <a:t>, </a:t>
            </a:r>
            <a:r>
              <a:rPr lang="en-US" altLang="zh-CN" sz="1600" b="0" i="1" dirty="0">
                <a:solidFill>
                  <a:srgbClr val="222222"/>
                </a:solidFill>
                <a:effectLst/>
                <a:latin typeface="Times New Roman" panose="02020603050405020304" pitchFamily="18" charset="0"/>
                <a:cs typeface="Times New Roman" panose="02020603050405020304" pitchFamily="18" charset="0"/>
              </a:rPr>
              <a:t>33</a:t>
            </a:r>
            <a:r>
              <a:rPr lang="en-US" altLang="zh-CN" sz="1600" b="0" i="0" dirty="0">
                <a:solidFill>
                  <a:srgbClr val="222222"/>
                </a:solidFill>
                <a:effectLst/>
                <a:latin typeface="Times New Roman" panose="02020603050405020304" pitchFamily="18" charset="0"/>
                <a:cs typeface="Times New Roman" panose="02020603050405020304" pitchFamily="18" charset="0"/>
              </a:rPr>
              <a:t>, 6840-6851.</a:t>
            </a:r>
            <a:endParaRPr lang="en-US" altLang="zh-CN" sz="1600" dirty="0">
              <a:solidFill>
                <a:srgbClr val="222222"/>
              </a:solidFill>
              <a:latin typeface="Times New Roman" panose="02020603050405020304" pitchFamily="18" charset="0"/>
              <a:cs typeface="Times New Roman" panose="02020603050405020304" pitchFamily="18" charset="0"/>
            </a:endParaRPr>
          </a:p>
          <a:p>
            <a:pPr algn="just">
              <a:lnSpc>
                <a:spcPct val="150000"/>
              </a:lnSpc>
            </a:pPr>
            <a:r>
              <a:rPr lang="fr-FR" altLang="zh-CN" sz="1600" b="0" i="0" dirty="0">
                <a:solidFill>
                  <a:srgbClr val="222222"/>
                </a:solidFill>
                <a:effectLst/>
                <a:latin typeface="Times New Roman" panose="02020603050405020304" pitchFamily="18" charset="0"/>
                <a:cs typeface="Times New Roman" panose="02020603050405020304" pitchFamily="18" charset="0"/>
              </a:rPr>
              <a:t>[4] Song, J., Meng, C., &amp; Ermon, S. (2020). Denoising diffusion implicit models. </a:t>
            </a:r>
            <a:r>
              <a:rPr lang="fr-FR" altLang="zh-CN" sz="1600" b="0" i="1" dirty="0">
                <a:solidFill>
                  <a:srgbClr val="222222"/>
                </a:solidFill>
                <a:effectLst/>
                <a:latin typeface="Times New Roman" panose="02020603050405020304" pitchFamily="18" charset="0"/>
                <a:cs typeface="Times New Roman" panose="02020603050405020304" pitchFamily="18" charset="0"/>
              </a:rPr>
              <a:t>arXiv preprint arXiv:2010.02502</a:t>
            </a:r>
            <a:r>
              <a:rPr lang="fr-FR" altLang="zh-CN" sz="1600" b="0" i="0" dirty="0">
                <a:solidFill>
                  <a:srgbClr val="222222"/>
                </a:solidFill>
                <a:effectLst/>
                <a:latin typeface="Times New Roman" panose="02020603050405020304" pitchFamily="18" charset="0"/>
                <a:cs typeface="Times New Roman" panose="02020603050405020304" pitchFamily="18" charset="0"/>
              </a:rPr>
              <a:t>.</a:t>
            </a:r>
            <a:endParaRPr lang="en-US" altLang="zh-CN" sz="1600" b="0" i="0" dirty="0">
              <a:solidFill>
                <a:srgbClr val="222222"/>
              </a:solidFill>
              <a:effectLst/>
              <a:latin typeface="Times New Roman" panose="02020603050405020304" pitchFamily="18" charset="0"/>
              <a:cs typeface="Times New Roman" panose="02020603050405020304" pitchFamily="18" charset="0"/>
            </a:endParaRP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[5] He, K., Chen, X., Xie, S., Li, Y., </a:t>
            </a:r>
            <a:r>
              <a:rPr lang="en-US" altLang="zh-CN" sz="1600" b="0" i="0" dirty="0" err="1">
                <a:solidFill>
                  <a:srgbClr val="222222"/>
                </a:solidFill>
                <a:effectLst/>
                <a:latin typeface="Times New Roman" panose="02020603050405020304" pitchFamily="18" charset="0"/>
                <a:cs typeface="Times New Roman" panose="02020603050405020304" pitchFamily="18" charset="0"/>
              </a:rPr>
              <a:t>Dollár</a:t>
            </a:r>
            <a:r>
              <a:rPr lang="en-US" altLang="zh-CN" sz="1600" b="0" i="0" dirty="0">
                <a:solidFill>
                  <a:srgbClr val="222222"/>
                </a:solidFill>
                <a:effectLst/>
                <a:latin typeface="Times New Roman" panose="02020603050405020304" pitchFamily="18" charset="0"/>
                <a:cs typeface="Times New Roman" panose="02020603050405020304" pitchFamily="18" charset="0"/>
              </a:rPr>
              <a:t>, P., &amp; </a:t>
            </a:r>
            <a:r>
              <a:rPr lang="en-US" altLang="zh-CN" sz="1600" b="0" i="0" dirty="0" err="1">
                <a:solidFill>
                  <a:srgbClr val="222222"/>
                </a:solidFill>
                <a:effectLst/>
                <a:latin typeface="Times New Roman" panose="02020603050405020304" pitchFamily="18" charset="0"/>
                <a:cs typeface="Times New Roman" panose="02020603050405020304" pitchFamily="18" charset="0"/>
              </a:rPr>
              <a:t>Girshick</a:t>
            </a:r>
            <a:r>
              <a:rPr lang="en-US" altLang="zh-CN" sz="1600" b="0" i="0" dirty="0">
                <a:solidFill>
                  <a:srgbClr val="222222"/>
                </a:solidFill>
                <a:effectLst/>
                <a:latin typeface="Times New Roman" panose="02020603050405020304" pitchFamily="18" charset="0"/>
                <a:cs typeface="Times New Roman" panose="02020603050405020304" pitchFamily="18" charset="0"/>
              </a:rPr>
              <a:t>, R. (2022). Masked autoencoders are scalable vision learners. In </a:t>
            </a:r>
            <a:r>
              <a:rPr lang="en-US" altLang="zh-CN" sz="1600" b="0" i="1" dirty="0">
                <a:solidFill>
                  <a:srgbClr val="222222"/>
                </a:solidFill>
                <a:effectLst/>
                <a:latin typeface="Times New Roman" panose="02020603050405020304" pitchFamily="18" charset="0"/>
                <a:cs typeface="Times New Roman" panose="02020603050405020304" pitchFamily="18" charset="0"/>
              </a:rPr>
              <a:t>Proceedings of the IEEE/CVF conference on computer vision and pattern recognition</a:t>
            </a:r>
            <a:r>
              <a:rPr lang="en-US" altLang="zh-CN" sz="1600" b="0" i="0" dirty="0">
                <a:solidFill>
                  <a:srgbClr val="222222"/>
                </a:solidFill>
                <a:effectLst/>
                <a:latin typeface="Times New Roman" panose="02020603050405020304" pitchFamily="18" charset="0"/>
                <a:cs typeface="Times New Roman" panose="02020603050405020304" pitchFamily="18" charset="0"/>
              </a:rPr>
              <a:t> (pp. 16000-16009).</a:t>
            </a: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[6] Rombach, R., </a:t>
            </a:r>
            <a:r>
              <a:rPr lang="en-US" altLang="zh-CN" sz="1600" b="0" i="0" dirty="0" err="1">
                <a:solidFill>
                  <a:srgbClr val="222222"/>
                </a:solidFill>
                <a:effectLst/>
                <a:latin typeface="Times New Roman" panose="02020603050405020304" pitchFamily="18" charset="0"/>
                <a:cs typeface="Times New Roman" panose="02020603050405020304" pitchFamily="18" charset="0"/>
              </a:rPr>
              <a:t>Blattmann</a:t>
            </a:r>
            <a:r>
              <a:rPr lang="en-US" altLang="zh-CN" sz="1600" b="0" i="0" dirty="0">
                <a:solidFill>
                  <a:srgbClr val="222222"/>
                </a:solidFill>
                <a:effectLst/>
                <a:latin typeface="Times New Roman" panose="02020603050405020304" pitchFamily="18" charset="0"/>
                <a:cs typeface="Times New Roman" panose="02020603050405020304" pitchFamily="18" charset="0"/>
              </a:rPr>
              <a:t>, A., Lorenz, D., Esser, P., &amp; </a:t>
            </a:r>
            <a:r>
              <a:rPr lang="en-US" altLang="zh-CN" sz="1600" b="0" i="0" dirty="0" err="1">
                <a:solidFill>
                  <a:srgbClr val="222222"/>
                </a:solidFill>
                <a:effectLst/>
                <a:latin typeface="Times New Roman" panose="02020603050405020304" pitchFamily="18" charset="0"/>
                <a:cs typeface="Times New Roman" panose="02020603050405020304" pitchFamily="18" charset="0"/>
              </a:rPr>
              <a:t>Ommer</a:t>
            </a:r>
            <a:r>
              <a:rPr lang="en-US" altLang="zh-CN" sz="1600" b="0" i="0" dirty="0">
                <a:solidFill>
                  <a:srgbClr val="222222"/>
                </a:solidFill>
                <a:effectLst/>
                <a:latin typeface="Times New Roman" panose="02020603050405020304" pitchFamily="18" charset="0"/>
                <a:cs typeface="Times New Roman" panose="02020603050405020304" pitchFamily="18" charset="0"/>
              </a:rPr>
              <a:t>, B. (2022). High-resolution image synthesis with latent diffusion models. In </a:t>
            </a:r>
            <a:r>
              <a:rPr lang="en-US" altLang="zh-CN" sz="1600" b="0" i="1" dirty="0">
                <a:solidFill>
                  <a:srgbClr val="222222"/>
                </a:solidFill>
                <a:effectLst/>
                <a:latin typeface="Times New Roman" panose="02020603050405020304" pitchFamily="18" charset="0"/>
                <a:cs typeface="Times New Roman" panose="02020603050405020304" pitchFamily="18" charset="0"/>
              </a:rPr>
              <a:t>Proceedings of the IEEE/CVF conference on computer vision and pattern recognition</a:t>
            </a:r>
            <a:r>
              <a:rPr lang="en-US" altLang="zh-CN" sz="1600" b="0" i="0" dirty="0">
                <a:solidFill>
                  <a:srgbClr val="222222"/>
                </a:solidFill>
                <a:effectLst/>
                <a:latin typeface="Times New Roman" panose="02020603050405020304" pitchFamily="18" charset="0"/>
                <a:cs typeface="Times New Roman" panose="02020603050405020304" pitchFamily="18" charset="0"/>
              </a:rPr>
              <a:t> (pp. 10684-10695).</a:t>
            </a: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[7] </a:t>
            </a:r>
            <a:r>
              <a:rPr lang="en-US" altLang="zh-CN" sz="1600" b="0" i="0" dirty="0" err="1">
                <a:solidFill>
                  <a:srgbClr val="222222"/>
                </a:solidFill>
                <a:effectLst/>
                <a:latin typeface="Times New Roman" panose="02020603050405020304" pitchFamily="18" charset="0"/>
                <a:cs typeface="Times New Roman" panose="02020603050405020304" pitchFamily="18" charset="0"/>
              </a:rPr>
              <a:t>Kingma</a:t>
            </a:r>
            <a:r>
              <a:rPr lang="en-US" altLang="zh-CN" sz="1600" b="0" i="0" dirty="0">
                <a:solidFill>
                  <a:srgbClr val="222222"/>
                </a:solidFill>
                <a:effectLst/>
                <a:latin typeface="Times New Roman" panose="02020603050405020304" pitchFamily="18" charset="0"/>
                <a:cs typeface="Times New Roman" panose="02020603050405020304" pitchFamily="18" charset="0"/>
              </a:rPr>
              <a:t>, D. P. (2013). Auto-encoding variational bayes. </a:t>
            </a:r>
            <a:r>
              <a:rPr lang="en-US" altLang="zh-CN" sz="1600" b="0" i="1" dirty="0" err="1">
                <a:solidFill>
                  <a:srgbClr val="222222"/>
                </a:solidFill>
                <a:effectLst/>
                <a:latin typeface="Times New Roman" panose="02020603050405020304" pitchFamily="18" charset="0"/>
                <a:cs typeface="Times New Roman" panose="02020603050405020304" pitchFamily="18" charset="0"/>
              </a:rPr>
              <a:t>arXiv</a:t>
            </a:r>
            <a:r>
              <a:rPr lang="en-US" altLang="zh-CN" sz="1600" b="0" i="1" dirty="0">
                <a:solidFill>
                  <a:srgbClr val="222222"/>
                </a:solidFill>
                <a:effectLst/>
                <a:latin typeface="Times New Roman" panose="02020603050405020304" pitchFamily="18" charset="0"/>
                <a:cs typeface="Times New Roman" panose="02020603050405020304" pitchFamily="18" charset="0"/>
              </a:rPr>
              <a:t> preprint arXiv:1312.6114</a:t>
            </a:r>
            <a:r>
              <a:rPr lang="en-US" altLang="zh-CN" sz="1600" b="0" i="0" dirty="0">
                <a:solidFill>
                  <a:srgbClr val="222222"/>
                </a:solidFill>
                <a:effectLst/>
                <a:latin typeface="Times New Roman" panose="02020603050405020304" pitchFamily="18" charset="0"/>
                <a:cs typeface="Times New Roman" panose="02020603050405020304" pitchFamily="18" charset="0"/>
              </a:rPr>
              <a:t>.</a:t>
            </a: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[8] </a:t>
            </a:r>
            <a:r>
              <a:rPr lang="en-US" altLang="zh-CN" sz="1600" b="0" i="0" dirty="0" err="1">
                <a:solidFill>
                  <a:srgbClr val="222222"/>
                </a:solidFill>
                <a:effectLst/>
                <a:latin typeface="Times New Roman" panose="02020603050405020304" pitchFamily="18" charset="0"/>
                <a:cs typeface="Times New Roman" panose="02020603050405020304" pitchFamily="18" charset="0"/>
              </a:rPr>
              <a:t>Merizzi</a:t>
            </a:r>
            <a:r>
              <a:rPr lang="en-US" altLang="zh-CN" sz="1600" b="0" i="0" dirty="0">
                <a:solidFill>
                  <a:srgbClr val="222222"/>
                </a:solidFill>
                <a:effectLst/>
                <a:latin typeface="Times New Roman" panose="02020603050405020304" pitchFamily="18" charset="0"/>
                <a:cs typeface="Times New Roman" panose="02020603050405020304" pitchFamily="18" charset="0"/>
              </a:rPr>
              <a:t>, F., </a:t>
            </a:r>
            <a:r>
              <a:rPr lang="en-US" altLang="zh-CN" sz="1600" b="0" i="0" dirty="0" err="1">
                <a:solidFill>
                  <a:srgbClr val="222222"/>
                </a:solidFill>
                <a:effectLst/>
                <a:latin typeface="Times New Roman" panose="02020603050405020304" pitchFamily="18" charset="0"/>
                <a:cs typeface="Times New Roman" panose="02020603050405020304" pitchFamily="18" charset="0"/>
              </a:rPr>
              <a:t>Asperti</a:t>
            </a:r>
            <a:r>
              <a:rPr lang="en-US" altLang="zh-CN" sz="1600" b="0" i="0" dirty="0">
                <a:solidFill>
                  <a:srgbClr val="222222"/>
                </a:solidFill>
                <a:effectLst/>
                <a:latin typeface="Times New Roman" panose="02020603050405020304" pitchFamily="18" charset="0"/>
                <a:cs typeface="Times New Roman" panose="02020603050405020304" pitchFamily="18" charset="0"/>
              </a:rPr>
              <a:t>, A., &amp; </a:t>
            </a:r>
            <a:r>
              <a:rPr lang="en-US" altLang="zh-CN" sz="1600" b="0" i="0" dirty="0" err="1">
                <a:solidFill>
                  <a:srgbClr val="222222"/>
                </a:solidFill>
                <a:effectLst/>
                <a:latin typeface="Times New Roman" panose="02020603050405020304" pitchFamily="18" charset="0"/>
                <a:cs typeface="Times New Roman" panose="02020603050405020304" pitchFamily="18" charset="0"/>
              </a:rPr>
              <a:t>Colamonaco</a:t>
            </a:r>
            <a:r>
              <a:rPr lang="en-US" altLang="zh-CN" sz="1600" b="0" i="0" dirty="0">
                <a:solidFill>
                  <a:srgbClr val="222222"/>
                </a:solidFill>
                <a:effectLst/>
                <a:latin typeface="Times New Roman" panose="02020603050405020304" pitchFamily="18" charset="0"/>
                <a:cs typeface="Times New Roman" panose="02020603050405020304" pitchFamily="18" charset="0"/>
              </a:rPr>
              <a:t>, S. (2024). Wind speed super-resolution and validation: from ERA5 to CERRA via diffusion models. </a:t>
            </a:r>
            <a:r>
              <a:rPr lang="en-US" altLang="zh-CN" sz="1600" b="0" i="1" dirty="0">
                <a:solidFill>
                  <a:srgbClr val="222222"/>
                </a:solidFill>
                <a:effectLst/>
                <a:latin typeface="Times New Roman" panose="02020603050405020304" pitchFamily="18" charset="0"/>
                <a:cs typeface="Times New Roman" panose="02020603050405020304" pitchFamily="18" charset="0"/>
              </a:rPr>
              <a:t>Neural Computing and Applications</a:t>
            </a:r>
            <a:r>
              <a:rPr lang="en-US" altLang="zh-CN" sz="1600" b="0" i="0" dirty="0">
                <a:solidFill>
                  <a:srgbClr val="222222"/>
                </a:solidFill>
                <a:effectLst/>
                <a:latin typeface="Times New Roman" panose="02020603050405020304" pitchFamily="18" charset="0"/>
                <a:cs typeface="Times New Roman" panose="02020603050405020304" pitchFamily="18" charset="0"/>
              </a:rPr>
              <a:t>.</a:t>
            </a:r>
            <a:endParaRPr lang="en-US" altLang="zh-CN" sz="1600" dirty="0">
              <a:solidFill>
                <a:srgbClr val="222222"/>
              </a:solidFill>
              <a:latin typeface="Times New Roman" panose="02020603050405020304" pitchFamily="18" charset="0"/>
              <a:cs typeface="Times New Roman" panose="02020603050405020304" pitchFamily="18" charset="0"/>
            </a:endParaRPr>
          </a:p>
          <a:p>
            <a:pPr algn="just">
              <a:lnSpc>
                <a:spcPct val="150000"/>
              </a:lnSpc>
            </a:pPr>
            <a:r>
              <a:rPr lang="en-US" altLang="zh-CN" sz="1600" b="0" i="0" dirty="0">
                <a:solidFill>
                  <a:srgbClr val="222222"/>
                </a:solidFill>
                <a:effectLst/>
                <a:latin typeface="Times New Roman" panose="02020603050405020304" pitchFamily="18" charset="0"/>
                <a:cs typeface="Times New Roman" panose="02020603050405020304" pitchFamily="18" charset="0"/>
              </a:rPr>
              <a:t>[9] Xiao, H., Zhang, F., Wang, L., Li, W., Guo, B., &amp; Li, J. (2024). </a:t>
            </a:r>
            <a:r>
              <a:rPr lang="en-US" altLang="zh-CN" sz="1600" b="0" i="0" dirty="0" err="1">
                <a:solidFill>
                  <a:srgbClr val="222222"/>
                </a:solidFill>
                <a:effectLst/>
                <a:latin typeface="Times New Roman" panose="02020603050405020304" pitchFamily="18" charset="0"/>
                <a:cs typeface="Times New Roman" panose="02020603050405020304" pitchFamily="18" charset="0"/>
              </a:rPr>
              <a:t>CloudDiff</a:t>
            </a:r>
            <a:r>
              <a:rPr lang="en-US" altLang="zh-CN" sz="1600" b="0" i="0" dirty="0">
                <a:solidFill>
                  <a:srgbClr val="222222"/>
                </a:solidFill>
                <a:effectLst/>
                <a:latin typeface="Times New Roman" panose="02020603050405020304" pitchFamily="18" charset="0"/>
                <a:cs typeface="Times New Roman" panose="02020603050405020304" pitchFamily="18" charset="0"/>
              </a:rPr>
              <a:t>: Super-resolution ensemble retrieval of cloud properties for all day using the generative diffusion model. </a:t>
            </a:r>
            <a:r>
              <a:rPr lang="en-US" altLang="zh-CN" sz="1600" b="0" i="1" dirty="0" err="1">
                <a:solidFill>
                  <a:srgbClr val="222222"/>
                </a:solidFill>
                <a:effectLst/>
                <a:latin typeface="Times New Roman" panose="02020603050405020304" pitchFamily="18" charset="0"/>
                <a:cs typeface="Times New Roman" panose="02020603050405020304" pitchFamily="18" charset="0"/>
              </a:rPr>
              <a:t>arXiv</a:t>
            </a:r>
            <a:r>
              <a:rPr lang="en-US" altLang="zh-CN" sz="1600" b="0" i="1" dirty="0">
                <a:solidFill>
                  <a:srgbClr val="222222"/>
                </a:solidFill>
                <a:effectLst/>
                <a:latin typeface="Times New Roman" panose="02020603050405020304" pitchFamily="18" charset="0"/>
                <a:cs typeface="Times New Roman" panose="02020603050405020304" pitchFamily="18" charset="0"/>
              </a:rPr>
              <a:t> preprint arXiv:2405.04483</a:t>
            </a:r>
            <a:r>
              <a:rPr lang="en-US" altLang="zh-CN" sz="1600" b="0" i="0" dirty="0">
                <a:solidFill>
                  <a:srgbClr val="222222"/>
                </a:solidFill>
                <a:effectLst/>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5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3989B-4496-5E94-05C7-F228F218FD59}"/>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3F5EEAAF-7035-77D4-7D47-E2EDA505D7A3}"/>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t="-95" b="8779"/>
          <a:stretch/>
        </p:blipFill>
        <p:spPr>
          <a:xfrm>
            <a:off x="0" y="-57150"/>
            <a:ext cx="12192000" cy="7080250"/>
          </a:xfrm>
          <a:prstGeom prst="rect">
            <a:avLst/>
          </a:prstGeom>
        </p:spPr>
      </p:pic>
      <p:grpSp>
        <p:nvGrpSpPr>
          <p:cNvPr id="8" name="组合 7">
            <a:extLst>
              <a:ext uri="{FF2B5EF4-FFF2-40B4-BE49-F238E27FC236}">
                <a16:creationId xmlns:a16="http://schemas.microsoft.com/office/drawing/2014/main" id="{6DB9F0F2-BFC1-24EB-9D57-D1903F35A05B}"/>
              </a:ext>
            </a:extLst>
          </p:cNvPr>
          <p:cNvGrpSpPr/>
          <p:nvPr/>
        </p:nvGrpSpPr>
        <p:grpSpPr>
          <a:xfrm>
            <a:off x="1989826" y="2444929"/>
            <a:ext cx="8016815" cy="2076091"/>
            <a:chOff x="2185358" y="2737579"/>
            <a:chExt cx="8016815" cy="2076091"/>
          </a:xfrm>
        </p:grpSpPr>
        <p:sp>
          <p:nvSpPr>
            <p:cNvPr id="6" name="矩形 5">
              <a:extLst>
                <a:ext uri="{FF2B5EF4-FFF2-40B4-BE49-F238E27FC236}">
                  <a16:creationId xmlns:a16="http://schemas.microsoft.com/office/drawing/2014/main" id="{758FB45D-06C1-25B6-5C0B-5AF1CA86607D}"/>
                </a:ext>
              </a:extLst>
            </p:cNvPr>
            <p:cNvSpPr/>
            <p:nvPr/>
          </p:nvSpPr>
          <p:spPr>
            <a:xfrm>
              <a:off x="2185358" y="2737579"/>
              <a:ext cx="8016815" cy="2076091"/>
            </a:xfrm>
            <a:prstGeom prst="rect">
              <a:avLst/>
            </a:prstGeom>
            <a:solidFill>
              <a:schemeClr val="bg1">
                <a:lumMod val="9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41">
              <a:extLst>
                <a:ext uri="{FF2B5EF4-FFF2-40B4-BE49-F238E27FC236}">
                  <a16:creationId xmlns:a16="http://schemas.microsoft.com/office/drawing/2014/main" id="{14DD709B-1A6B-BE7A-2359-020B5DBED113}"/>
                </a:ext>
              </a:extLst>
            </p:cNvPr>
            <p:cNvSpPr txBox="1"/>
            <p:nvPr/>
          </p:nvSpPr>
          <p:spPr>
            <a:xfrm>
              <a:off x="4682271" y="3282479"/>
              <a:ext cx="3218519"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rPr>
                <a:t>谢谢</a:t>
              </a:r>
              <a:endParaRPr lang="en-US" altLang="zh-CN" sz="4400" b="1" dirty="0">
                <a:solidFill>
                  <a:schemeClr val="accent5">
                    <a:lumMod val="50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sp>
          <p:nvSpPr>
            <p:cNvPr id="23" name="矩形 22">
              <a:extLst>
                <a:ext uri="{FF2B5EF4-FFF2-40B4-BE49-F238E27FC236}">
                  <a16:creationId xmlns:a16="http://schemas.microsoft.com/office/drawing/2014/main" id="{0ED481F5-786C-93B3-98D1-E74B51EEE3C6}"/>
                </a:ext>
              </a:extLst>
            </p:cNvPr>
            <p:cNvSpPr/>
            <p:nvPr/>
          </p:nvSpPr>
          <p:spPr>
            <a:xfrm>
              <a:off x="2530584" y="3986899"/>
              <a:ext cx="7521895" cy="42864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rPr>
                <a:t>Thanks</a:t>
              </a:r>
              <a:endParaRPr lang="zh-CN" altLang="en-US" sz="2000" b="1" dirty="0">
                <a:solidFill>
                  <a:schemeClr val="tx1">
                    <a:lumMod val="75000"/>
                    <a:lumOff val="25000"/>
                    <a:alpha val="78000"/>
                  </a:schemeClr>
                </a:solidFill>
                <a:latin typeface="华文细黑" panose="02010600040101010101" pitchFamily="2" charset="-122"/>
                <a:ea typeface="微软雅黑" panose="020B0503020204020204" pitchFamily="34" charset="-122"/>
                <a:sym typeface="华文细黑" panose="02010600040101010101" pitchFamily="2" charset="-122"/>
              </a:endParaRPr>
            </a:p>
          </p:txBody>
        </p:sp>
      </p:grpSp>
    </p:spTree>
    <p:extLst>
      <p:ext uri="{BB962C8B-B14F-4D97-AF65-F5344CB8AC3E}">
        <p14:creationId xmlns:p14="http://schemas.microsoft.com/office/powerpoint/2010/main" val="2159542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75336-A87B-BD36-DD32-4D2A089FBD8E}"/>
              </a:ext>
            </a:extLst>
          </p:cNvPr>
          <p:cNvSpPr>
            <a:spLocks noGrp="1"/>
          </p:cNvSpPr>
          <p:nvPr>
            <p:ph type="title"/>
          </p:nvPr>
        </p:nvSpPr>
        <p:spPr/>
        <p:txBody>
          <a:bodyPr/>
          <a:lstStyle/>
          <a:p>
            <a:r>
              <a:rPr lang="zh-CN" altLang="en-US" dirty="0"/>
              <a:t>研究方法 </a:t>
            </a:r>
            <a:r>
              <a:rPr lang="en-US" altLang="zh-CN" dirty="0"/>
              <a:t>-- SR3</a:t>
            </a:r>
            <a:r>
              <a:rPr lang="zh-CN" altLang="en-US" dirty="0"/>
              <a:t>模型优化</a:t>
            </a:r>
          </a:p>
        </p:txBody>
      </p:sp>
      <p:pic>
        <p:nvPicPr>
          <p:cNvPr id="3" name="图片 2">
            <a:extLst>
              <a:ext uri="{FF2B5EF4-FFF2-40B4-BE49-F238E27FC236}">
                <a16:creationId xmlns:a16="http://schemas.microsoft.com/office/drawing/2014/main" id="{4068A785-8568-ADCA-19C4-A132351737B3}"/>
              </a:ext>
            </a:extLst>
          </p:cNvPr>
          <p:cNvPicPr>
            <a:picLocks noChangeAspect="1"/>
          </p:cNvPicPr>
          <p:nvPr/>
        </p:nvPicPr>
        <p:blipFill>
          <a:blip r:embed="rId2"/>
          <a:stretch>
            <a:fillRect/>
          </a:stretch>
        </p:blipFill>
        <p:spPr>
          <a:xfrm>
            <a:off x="615228" y="2755336"/>
            <a:ext cx="11134071" cy="1604287"/>
          </a:xfrm>
          <a:prstGeom prst="rect">
            <a:avLst/>
          </a:prstGeom>
        </p:spPr>
      </p:pic>
      <p:sp>
        <p:nvSpPr>
          <p:cNvPr id="4" name="矩形 3">
            <a:extLst>
              <a:ext uri="{FF2B5EF4-FFF2-40B4-BE49-F238E27FC236}">
                <a16:creationId xmlns:a16="http://schemas.microsoft.com/office/drawing/2014/main" id="{2289E04F-F9AE-99FF-A8FD-BC8FAE25087C}"/>
              </a:ext>
            </a:extLst>
          </p:cNvPr>
          <p:cNvSpPr/>
          <p:nvPr/>
        </p:nvSpPr>
        <p:spPr>
          <a:xfrm>
            <a:off x="376740" y="1633850"/>
            <a:ext cx="5805524"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DDIM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Denoising Diffusion Implicit Models, 2020)</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02EB30F-2C9F-A5F8-3BD4-0AECE45202C7}"/>
                  </a:ext>
                </a:extLst>
              </p:cNvPr>
              <p:cNvSpPr txBox="1"/>
              <p:nvPr/>
            </p:nvSpPr>
            <p:spPr>
              <a:xfrm>
                <a:off x="1319692" y="4832554"/>
                <a:ext cx="10276403" cy="1141851"/>
              </a:xfrm>
              <a:prstGeom prst="rect">
                <a:avLst/>
              </a:prstGeom>
              <a:noFill/>
            </p:spPr>
            <p:txBody>
              <a:bodyPr wrap="none" rtlCol="0">
                <a:spAutoFit/>
              </a:bodyPr>
              <a:lstStyle/>
              <a:p>
                <a:pPr>
                  <a:lnSpc>
                    <a:spcPct val="150000"/>
                  </a:lnSpc>
                </a:pP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SR3</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采用的是</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DDPM</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的去噪策略，</a:t>
                </a:r>
                <a14:m>
                  <m:oMath xmlns:m="http://schemas.openxmlformats.org/officeDocument/2006/math">
                    <m:sSub>
                      <m:sSubPr>
                        <m:ctrlP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只依赖于</a:t>
                </a:r>
                <a14:m>
                  <m:oMath xmlns:m="http://schemas.openxmlformats.org/officeDocument/2006/math">
                    <m:sSub>
                      <m:sSubPr>
                        <m:ctrlP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endPar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DDIM</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的去噪策略中，</a:t>
                </a:r>
                <a:r>
                  <a:rPr lang="en-US" altLang="zh-CN" sz="2400" b="0" dirty="0">
                    <a:solidFill>
                      <a:schemeClr val="bg2">
                        <a:lumMod val="10000"/>
                      </a:schemeClr>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依赖于</a:t>
                </a:r>
                <a14:m>
                  <m:oMath xmlns:m="http://schemas.openxmlformats.org/officeDocument/2006/math">
                    <m:sSub>
                      <m:sSubPr>
                        <m:ctrlP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smtClean="0">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400" i="1">
                        <a:solidFill>
                          <a:schemeClr val="bg2">
                            <a:lumMod val="10000"/>
                          </a:schemeClr>
                        </a:solidFill>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，可以实现跳步，加速去噪过程</a:t>
                </a:r>
              </a:p>
            </p:txBody>
          </p:sp>
        </mc:Choice>
        <mc:Fallback xmlns="">
          <p:sp>
            <p:nvSpPr>
              <p:cNvPr id="5" name="文本框 4">
                <a:extLst>
                  <a:ext uri="{FF2B5EF4-FFF2-40B4-BE49-F238E27FC236}">
                    <a16:creationId xmlns:a16="http://schemas.microsoft.com/office/drawing/2014/main" id="{602EB30F-2C9F-A5F8-3BD4-0AECE45202C7}"/>
                  </a:ext>
                </a:extLst>
              </p:cNvPr>
              <p:cNvSpPr txBox="1">
                <a:spLocks noRot="1" noChangeAspect="1" noMove="1" noResize="1" noEditPoints="1" noAdjustHandles="1" noChangeArrowheads="1" noChangeShapeType="1" noTextEdit="1"/>
              </p:cNvSpPr>
              <p:nvPr/>
            </p:nvSpPr>
            <p:spPr>
              <a:xfrm>
                <a:off x="1319692" y="4832554"/>
                <a:ext cx="10276403" cy="1141851"/>
              </a:xfrm>
              <a:prstGeom prst="rect">
                <a:avLst/>
              </a:prstGeom>
              <a:blipFill>
                <a:blip r:embed="rId3"/>
                <a:stretch>
                  <a:fillRect l="-890" b="-11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266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67058-6228-5EC9-865F-3B10A66447C4}"/>
              </a:ext>
            </a:extLst>
          </p:cNvPr>
          <p:cNvSpPr>
            <a:spLocks noGrp="1"/>
          </p:cNvSpPr>
          <p:nvPr>
            <p:ph type="title"/>
          </p:nvPr>
        </p:nvSpPr>
        <p:spPr/>
        <p:txBody>
          <a:bodyPr/>
          <a:lstStyle/>
          <a:p>
            <a:r>
              <a:rPr lang="zh-CN" altLang="en-US" dirty="0"/>
              <a:t>研究方法 </a:t>
            </a:r>
            <a:r>
              <a:rPr lang="en-US" altLang="zh-CN" dirty="0"/>
              <a:t>-- SR3</a:t>
            </a:r>
            <a:r>
              <a:rPr lang="zh-CN" altLang="en-US" dirty="0"/>
              <a:t>模型优化</a:t>
            </a:r>
          </a:p>
        </p:txBody>
      </p:sp>
      <p:pic>
        <p:nvPicPr>
          <p:cNvPr id="4" name="图片 3">
            <a:extLst>
              <a:ext uri="{FF2B5EF4-FFF2-40B4-BE49-F238E27FC236}">
                <a16:creationId xmlns:a16="http://schemas.microsoft.com/office/drawing/2014/main" id="{C0110F72-6863-5BD6-6015-2705829E222D}"/>
              </a:ext>
            </a:extLst>
          </p:cNvPr>
          <p:cNvPicPr>
            <a:picLocks noChangeAspect="1"/>
          </p:cNvPicPr>
          <p:nvPr/>
        </p:nvPicPr>
        <p:blipFill>
          <a:blip r:embed="rId2"/>
          <a:stretch>
            <a:fillRect/>
          </a:stretch>
        </p:blipFill>
        <p:spPr>
          <a:xfrm>
            <a:off x="2346977" y="1566015"/>
            <a:ext cx="7387034" cy="3958207"/>
          </a:xfrm>
          <a:prstGeom prst="rect">
            <a:avLst/>
          </a:prstGeom>
        </p:spPr>
      </p:pic>
      <p:sp>
        <p:nvSpPr>
          <p:cNvPr id="5" name="矩形 4">
            <a:extLst>
              <a:ext uri="{FF2B5EF4-FFF2-40B4-BE49-F238E27FC236}">
                <a16:creationId xmlns:a16="http://schemas.microsoft.com/office/drawing/2014/main" id="{A726331C-6197-4D61-B508-AF6015F493B2}"/>
              </a:ext>
            </a:extLst>
          </p:cNvPr>
          <p:cNvSpPr/>
          <p:nvPr/>
        </p:nvSpPr>
        <p:spPr>
          <a:xfrm>
            <a:off x="359487" y="1272603"/>
            <a:ext cx="4059130"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MAE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Masked Autoencoder, 2021)</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
        <p:nvSpPr>
          <p:cNvPr id="6" name="文本框 5">
            <a:extLst>
              <a:ext uri="{FF2B5EF4-FFF2-40B4-BE49-F238E27FC236}">
                <a16:creationId xmlns:a16="http://schemas.microsoft.com/office/drawing/2014/main" id="{58F4737F-BFF7-811F-2E03-79E4194098F4}"/>
              </a:ext>
            </a:extLst>
          </p:cNvPr>
          <p:cNvSpPr txBox="1"/>
          <p:nvPr/>
        </p:nvSpPr>
        <p:spPr>
          <a:xfrm>
            <a:off x="638203" y="5524222"/>
            <a:ext cx="11128971" cy="1134862"/>
          </a:xfrm>
          <a:prstGeom prst="rect">
            <a:avLst/>
          </a:prstGeom>
          <a:noFill/>
        </p:spPr>
        <p:txBody>
          <a:bodyPr wrap="square" rtlCol="0">
            <a:spAutoFit/>
          </a:bodyPr>
          <a:lstStyle/>
          <a:p>
            <a:pPr>
              <a:lnSpc>
                <a:spcPct val="150000"/>
              </a:lnSpc>
            </a:pP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MAE</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通过掩码，在预训练任务上提高了</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encoder</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的特征识别能力，生成特征维数较高的张量，如果该张量传入</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SR3</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网络，对条件信息的提取能起到比较好的作用</a:t>
            </a:r>
          </a:p>
        </p:txBody>
      </p:sp>
    </p:spTree>
    <p:extLst>
      <p:ext uri="{BB962C8B-B14F-4D97-AF65-F5344CB8AC3E}">
        <p14:creationId xmlns:p14="http://schemas.microsoft.com/office/powerpoint/2010/main" val="825771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A9C247-D563-DA2E-94B3-CC617DA676A9}"/>
              </a:ext>
            </a:extLst>
          </p:cNvPr>
          <p:cNvSpPr>
            <a:spLocks noGrp="1"/>
          </p:cNvSpPr>
          <p:nvPr>
            <p:ph type="title"/>
          </p:nvPr>
        </p:nvSpPr>
        <p:spPr/>
        <p:txBody>
          <a:bodyPr/>
          <a:lstStyle/>
          <a:p>
            <a:r>
              <a:rPr lang="zh-CN" altLang="en-US" dirty="0"/>
              <a:t>研究方法 </a:t>
            </a:r>
            <a:r>
              <a:rPr lang="en-US" altLang="zh-CN" dirty="0"/>
              <a:t>-- SR3</a:t>
            </a:r>
            <a:r>
              <a:rPr lang="zh-CN" altLang="en-US" dirty="0"/>
              <a:t>模型优化</a:t>
            </a:r>
          </a:p>
        </p:txBody>
      </p:sp>
      <p:sp>
        <p:nvSpPr>
          <p:cNvPr id="3" name="矩形 2">
            <a:extLst>
              <a:ext uri="{FF2B5EF4-FFF2-40B4-BE49-F238E27FC236}">
                <a16:creationId xmlns:a16="http://schemas.microsoft.com/office/drawing/2014/main" id="{DF883212-8AAE-E1D8-F88F-D7F283DEBF83}"/>
              </a:ext>
            </a:extLst>
          </p:cNvPr>
          <p:cNvSpPr/>
          <p:nvPr/>
        </p:nvSpPr>
        <p:spPr>
          <a:xfrm>
            <a:off x="455202" y="1242720"/>
            <a:ext cx="3528151" cy="429413"/>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模型细节微调</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1</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(Refinement)</a:t>
            </a:r>
          </a:p>
        </p:txBody>
      </p:sp>
      <p:grpSp>
        <p:nvGrpSpPr>
          <p:cNvPr id="24" name="组合 23">
            <a:extLst>
              <a:ext uri="{FF2B5EF4-FFF2-40B4-BE49-F238E27FC236}">
                <a16:creationId xmlns:a16="http://schemas.microsoft.com/office/drawing/2014/main" id="{DC1FD219-1390-C8DD-9192-5B7D3EE88F3B}"/>
              </a:ext>
            </a:extLst>
          </p:cNvPr>
          <p:cNvGrpSpPr/>
          <p:nvPr/>
        </p:nvGrpSpPr>
        <p:grpSpPr>
          <a:xfrm>
            <a:off x="4541173" y="1305102"/>
            <a:ext cx="7419634" cy="2561263"/>
            <a:chOff x="154358" y="1775321"/>
            <a:chExt cx="7419634" cy="2561263"/>
          </a:xfrm>
        </p:grpSpPr>
        <p:grpSp>
          <p:nvGrpSpPr>
            <p:cNvPr id="22" name="组合 21">
              <a:extLst>
                <a:ext uri="{FF2B5EF4-FFF2-40B4-BE49-F238E27FC236}">
                  <a16:creationId xmlns:a16="http://schemas.microsoft.com/office/drawing/2014/main" id="{58285718-BCF7-C301-A2F7-DC03DDFE4C4E}"/>
                </a:ext>
              </a:extLst>
            </p:cNvPr>
            <p:cNvGrpSpPr/>
            <p:nvPr/>
          </p:nvGrpSpPr>
          <p:grpSpPr>
            <a:xfrm>
              <a:off x="231193" y="1789851"/>
              <a:ext cx="7126176" cy="2496850"/>
              <a:chOff x="1441817" y="1928168"/>
              <a:chExt cx="7126176" cy="2496850"/>
            </a:xfrm>
          </p:grpSpPr>
          <p:grpSp>
            <p:nvGrpSpPr>
              <p:cNvPr id="12" name="组合 11">
                <a:extLst>
                  <a:ext uri="{FF2B5EF4-FFF2-40B4-BE49-F238E27FC236}">
                    <a16:creationId xmlns:a16="http://schemas.microsoft.com/office/drawing/2014/main" id="{81B0CC60-260D-0501-967B-21891409987D}"/>
                  </a:ext>
                </a:extLst>
              </p:cNvPr>
              <p:cNvGrpSpPr/>
              <p:nvPr/>
            </p:nvGrpSpPr>
            <p:grpSpPr>
              <a:xfrm>
                <a:off x="2034992" y="1928168"/>
                <a:ext cx="6533001" cy="2496850"/>
                <a:chOff x="5022723" y="3930853"/>
                <a:chExt cx="6533001" cy="2496850"/>
              </a:xfrm>
            </p:grpSpPr>
            <p:pic>
              <p:nvPicPr>
                <p:cNvPr id="4" name="图片 3">
                  <a:extLst>
                    <a:ext uri="{FF2B5EF4-FFF2-40B4-BE49-F238E27FC236}">
                      <a16:creationId xmlns:a16="http://schemas.microsoft.com/office/drawing/2014/main" id="{196E07C5-17DF-6FF3-83CA-87DF7FBC84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A5F41CC-A90F-2D08-9367-F6CDC5D0DFA8}"/>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5" name="文本框 4">
                      <a:extLst>
                        <a:ext uri="{FF2B5EF4-FFF2-40B4-BE49-F238E27FC236}">
                          <a16:creationId xmlns:a16="http://schemas.microsoft.com/office/drawing/2014/main" id="{4A5F41CC-A90F-2D08-9367-F6CDC5D0DFA8}"/>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3"/>
                      <a:stretch>
                        <a:fillRect l="-1905" r="-1905" b="-6522"/>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94001C11-2036-AF1B-4002-CCD868255359}"/>
                    </a:ext>
                  </a:extLst>
                </p:cNvPr>
                <p:cNvCxnSpPr>
                  <a:cxnSpLocks/>
                </p:cNvCxnSpPr>
                <p:nvPr/>
              </p:nvCxnSpPr>
              <p:spPr>
                <a:xfrm flipH="1">
                  <a:off x="7985657" y="4931504"/>
                  <a:ext cx="46086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连接符: 肘形 6">
                  <a:extLst>
                    <a:ext uri="{FF2B5EF4-FFF2-40B4-BE49-F238E27FC236}">
                      <a16:creationId xmlns:a16="http://schemas.microsoft.com/office/drawing/2014/main" id="{8177DC6C-A5EA-3799-B29D-F45E0472217B}"/>
                    </a:ext>
                  </a:extLst>
                </p:cNvPr>
                <p:cNvCxnSpPr>
                  <a:cxnSpLocks/>
                </p:cNvCxnSpPr>
                <p:nvPr/>
              </p:nvCxnSpPr>
              <p:spPr>
                <a:xfrm rot="10800000">
                  <a:off x="8269689" y="4931504"/>
                  <a:ext cx="1936619" cy="943836"/>
                </a:xfrm>
                <a:prstGeom prst="bentConnector3">
                  <a:avLst>
                    <a:gd name="adj1" fmla="val 99889"/>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23459C01-3D88-4489-7DB4-F5CF304B5CCB}"/>
                    </a:ext>
                  </a:extLst>
                </p:cNvPr>
                <p:cNvPicPr>
                  <a:picLocks noChangeAspect="1"/>
                </p:cNvPicPr>
                <p:nvPr/>
              </p:nvPicPr>
              <p:blipFill>
                <a:blip r:embed="rId4"/>
                <a:stretch>
                  <a:fillRect/>
                </a:stretch>
              </p:blipFill>
              <p:spPr>
                <a:xfrm>
                  <a:off x="8575487" y="4320849"/>
                  <a:ext cx="1233290" cy="1222312"/>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E917C9C-4AC7-DB58-3E3A-BAC6DA1A7A71}"/>
                        </a:ext>
                      </a:extLst>
                    </p:cNvPr>
                    <p:cNvSpPr txBox="1"/>
                    <p:nvPr/>
                  </p:nvSpPr>
                  <p:spPr>
                    <a:xfrm>
                      <a:off x="9048488" y="5529148"/>
                      <a:ext cx="3508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en-US" altLang="zh-CN" b="0" dirty="0"/>
                    </a:p>
                  </p:txBody>
                </p:sp>
              </mc:Choice>
              <mc:Fallback xmlns="">
                <p:sp>
                  <p:nvSpPr>
                    <p:cNvPr id="9" name="文本框 8">
                      <a:extLst>
                        <a:ext uri="{FF2B5EF4-FFF2-40B4-BE49-F238E27FC236}">
                          <a16:creationId xmlns:a16="http://schemas.microsoft.com/office/drawing/2014/main" id="{EE917C9C-4AC7-DB58-3E3A-BAC6DA1A7A71}"/>
                        </a:ext>
                      </a:extLst>
                    </p:cNvPr>
                    <p:cNvSpPr txBox="1">
                      <a:spLocks noRot="1" noChangeAspect="1" noMove="1" noResize="1" noEditPoints="1" noAdjustHandles="1" noChangeArrowheads="1" noChangeShapeType="1" noTextEdit="1"/>
                    </p:cNvSpPr>
                    <p:nvPr/>
                  </p:nvSpPr>
                  <p:spPr>
                    <a:xfrm>
                      <a:off x="9048488" y="5529148"/>
                      <a:ext cx="350808" cy="276999"/>
                    </a:xfrm>
                    <a:prstGeom prst="rect">
                      <a:avLst/>
                    </a:prstGeom>
                    <a:blipFill>
                      <a:blip r:embed="rId5"/>
                      <a:stretch>
                        <a:fillRect b="-15556"/>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88B06EE1-A2F8-B53A-6093-3B8ECCF05C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36524" y="4931504"/>
                  <a:ext cx="1219200" cy="1219200"/>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07D33EB-804E-4585-822E-E6C909E425C1}"/>
                        </a:ext>
                      </a:extLst>
                    </p:cNvPr>
                    <p:cNvSpPr txBox="1"/>
                    <p:nvPr/>
                  </p:nvSpPr>
                  <p:spPr>
                    <a:xfrm>
                      <a:off x="10336524" y="6150704"/>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11" name="文本框 10">
                      <a:extLst>
                        <a:ext uri="{FF2B5EF4-FFF2-40B4-BE49-F238E27FC236}">
                          <a16:creationId xmlns:a16="http://schemas.microsoft.com/office/drawing/2014/main" id="{907D33EB-804E-4585-822E-E6C909E425C1}"/>
                        </a:ext>
                      </a:extLst>
                    </p:cNvPr>
                    <p:cNvSpPr txBox="1">
                      <a:spLocks noRot="1" noChangeAspect="1" noMove="1" noResize="1" noEditPoints="1" noAdjustHandles="1" noChangeArrowheads="1" noChangeShapeType="1" noTextEdit="1"/>
                    </p:cNvSpPr>
                    <p:nvPr/>
                  </p:nvSpPr>
                  <p:spPr>
                    <a:xfrm>
                      <a:off x="10336524" y="6150704"/>
                      <a:ext cx="1219200" cy="276999"/>
                    </a:xfrm>
                    <a:prstGeom prst="rect">
                      <a:avLst/>
                    </a:prstGeom>
                    <a:blipFill>
                      <a:blip r:embed="rId7"/>
                      <a:stretch>
                        <a:fillRect b="-8889"/>
                      </a:stretch>
                    </a:blipFill>
                  </p:spPr>
                  <p:txBody>
                    <a:bodyPr/>
                    <a:lstStyle/>
                    <a:p>
                      <a:r>
                        <a:rPr lang="zh-CN" altLang="en-US">
                          <a:noFill/>
                        </a:rPr>
                        <a:t> </a:t>
                      </a:r>
                    </a:p>
                  </p:txBody>
                </p:sp>
              </mc:Fallback>
            </mc:AlternateContent>
          </p:grpSp>
          <p:cxnSp>
            <p:nvCxnSpPr>
              <p:cNvPr id="21" name="直接箭头连接符 20">
                <a:extLst>
                  <a:ext uri="{FF2B5EF4-FFF2-40B4-BE49-F238E27FC236}">
                    <a16:creationId xmlns:a16="http://schemas.microsoft.com/office/drawing/2014/main" id="{0BCF5C3F-0172-37B8-B717-C1BDA7E2E3C5}"/>
                  </a:ext>
                </a:extLst>
              </p:cNvPr>
              <p:cNvCxnSpPr>
                <a:cxnSpLocks/>
              </p:cNvCxnSpPr>
              <p:nvPr/>
            </p:nvCxnSpPr>
            <p:spPr>
              <a:xfrm flipH="1">
                <a:off x="1441817" y="2928818"/>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3" name="矩形: 圆角 22">
              <a:extLst>
                <a:ext uri="{FF2B5EF4-FFF2-40B4-BE49-F238E27FC236}">
                  <a16:creationId xmlns:a16="http://schemas.microsoft.com/office/drawing/2014/main" id="{1F10F22E-E35E-F34F-2240-DA1381CBE011}"/>
                </a:ext>
              </a:extLst>
            </p:cNvPr>
            <p:cNvSpPr/>
            <p:nvPr/>
          </p:nvSpPr>
          <p:spPr>
            <a:xfrm>
              <a:off x="154358" y="1775321"/>
              <a:ext cx="7419634" cy="2561263"/>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a:extLst>
              <a:ext uri="{FF2B5EF4-FFF2-40B4-BE49-F238E27FC236}">
                <a16:creationId xmlns:a16="http://schemas.microsoft.com/office/drawing/2014/main" id="{3D20869E-F68B-999A-9581-555C68EC822F}"/>
              </a:ext>
            </a:extLst>
          </p:cNvPr>
          <p:cNvGrpSpPr/>
          <p:nvPr/>
        </p:nvGrpSpPr>
        <p:grpSpPr>
          <a:xfrm>
            <a:off x="326868" y="4013568"/>
            <a:ext cx="7620935" cy="2677140"/>
            <a:chOff x="292362" y="3959449"/>
            <a:chExt cx="7620935" cy="2677140"/>
          </a:xfrm>
        </p:grpSpPr>
        <p:grpSp>
          <p:nvGrpSpPr>
            <p:cNvPr id="48" name="组合 47">
              <a:extLst>
                <a:ext uri="{FF2B5EF4-FFF2-40B4-BE49-F238E27FC236}">
                  <a16:creationId xmlns:a16="http://schemas.microsoft.com/office/drawing/2014/main" id="{BB22B1A7-6CBF-76BA-6BD6-E39C585819EE}"/>
                </a:ext>
              </a:extLst>
            </p:cNvPr>
            <p:cNvGrpSpPr/>
            <p:nvPr/>
          </p:nvGrpSpPr>
          <p:grpSpPr>
            <a:xfrm>
              <a:off x="409190" y="4013568"/>
              <a:ext cx="7163058" cy="2507144"/>
              <a:chOff x="4348587" y="4320359"/>
              <a:chExt cx="7163058" cy="2507144"/>
            </a:xfrm>
          </p:grpSpPr>
          <p:grpSp>
            <p:nvGrpSpPr>
              <p:cNvPr id="20" name="组合 19">
                <a:extLst>
                  <a:ext uri="{FF2B5EF4-FFF2-40B4-BE49-F238E27FC236}">
                    <a16:creationId xmlns:a16="http://schemas.microsoft.com/office/drawing/2014/main" id="{1F08326D-4AD0-8130-0508-8AFC00D59595}"/>
                  </a:ext>
                </a:extLst>
              </p:cNvPr>
              <p:cNvGrpSpPr/>
              <p:nvPr/>
            </p:nvGrpSpPr>
            <p:grpSpPr>
              <a:xfrm>
                <a:off x="4978644" y="4320359"/>
                <a:ext cx="6533001" cy="2507144"/>
                <a:chOff x="5022723" y="3930853"/>
                <a:chExt cx="6533001" cy="2507144"/>
              </a:xfrm>
            </p:grpSpPr>
            <p:pic>
              <p:nvPicPr>
                <p:cNvPr id="19" name="图片 18">
                  <a:extLst>
                    <a:ext uri="{FF2B5EF4-FFF2-40B4-BE49-F238E27FC236}">
                      <a16:creationId xmlns:a16="http://schemas.microsoft.com/office/drawing/2014/main" id="{80BCDAAF-DE67-957B-2126-EE153199D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pic>
              <p:nvPicPr>
                <p:cNvPr id="13" name="图片 12">
                  <a:extLst>
                    <a:ext uri="{FF2B5EF4-FFF2-40B4-BE49-F238E27FC236}">
                      <a16:creationId xmlns:a16="http://schemas.microsoft.com/office/drawing/2014/main" id="{4E05624C-B823-F306-C328-235A8FAD6FCC}"/>
                    </a:ext>
                  </a:extLst>
                </p:cNvPr>
                <p:cNvPicPr>
                  <a:picLocks noChangeAspect="1"/>
                </p:cNvPicPr>
                <p:nvPr/>
              </p:nvPicPr>
              <p:blipFill>
                <a:blip r:embed="rId4"/>
                <a:stretch>
                  <a:fillRect/>
                </a:stretch>
              </p:blipFill>
              <p:spPr>
                <a:xfrm>
                  <a:off x="8575487" y="4238538"/>
                  <a:ext cx="1233290" cy="1222312"/>
                </a:xfrm>
                <a:prstGeom prst="rect">
                  <a:avLst/>
                </a:prstGeom>
              </p:spPr>
            </p:pic>
            <p:pic>
              <p:nvPicPr>
                <p:cNvPr id="14" name="图片 13">
                  <a:extLst>
                    <a:ext uri="{FF2B5EF4-FFF2-40B4-BE49-F238E27FC236}">
                      <a16:creationId xmlns:a16="http://schemas.microsoft.com/office/drawing/2014/main" id="{F1C85DD6-6456-3CB3-185B-3DE45897C1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36524" y="4941798"/>
                  <a:ext cx="1219200" cy="121920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6433403-FFC6-32C8-8F19-5EB667F6580C}"/>
                        </a:ext>
                      </a:extLst>
                    </p:cNvPr>
                    <p:cNvSpPr txBox="1"/>
                    <p:nvPr/>
                  </p:nvSpPr>
                  <p:spPr>
                    <a:xfrm>
                      <a:off x="10336524" y="6160998"/>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15" name="文本框 14">
                      <a:extLst>
                        <a:ext uri="{FF2B5EF4-FFF2-40B4-BE49-F238E27FC236}">
                          <a16:creationId xmlns:a16="http://schemas.microsoft.com/office/drawing/2014/main" id="{66433403-FFC6-32C8-8F19-5EB667F6580C}"/>
                        </a:ext>
                      </a:extLst>
                    </p:cNvPr>
                    <p:cNvSpPr txBox="1">
                      <a:spLocks noRot="1" noChangeAspect="1" noMove="1" noResize="1" noEditPoints="1" noAdjustHandles="1" noChangeArrowheads="1" noChangeShapeType="1" noTextEdit="1"/>
                    </p:cNvSpPr>
                    <p:nvPr/>
                  </p:nvSpPr>
                  <p:spPr>
                    <a:xfrm>
                      <a:off x="10336524" y="6160998"/>
                      <a:ext cx="1219200" cy="276999"/>
                    </a:xfrm>
                    <a:prstGeom prst="rect">
                      <a:avLst/>
                    </a:prstGeom>
                    <a:blipFill>
                      <a:blip r:embed="rId8"/>
                      <a:stretch>
                        <a:fillRect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3433C7D-A883-145F-67BD-4FBA2C3CF2CE}"/>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16" name="文本框 15">
                      <a:extLst>
                        <a:ext uri="{FF2B5EF4-FFF2-40B4-BE49-F238E27FC236}">
                          <a16:creationId xmlns:a16="http://schemas.microsoft.com/office/drawing/2014/main" id="{43433C7D-A883-145F-67BD-4FBA2C3CF2CE}"/>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9"/>
                      <a:stretch>
                        <a:fillRect l="-952" r="-2857" b="-8889"/>
                      </a:stretch>
                    </a:blipFill>
                  </p:spPr>
                  <p:txBody>
                    <a:bodyPr/>
                    <a:lstStyle/>
                    <a:p>
                      <a:r>
                        <a:rPr lang="zh-CN" altLang="en-US">
                          <a:noFill/>
                        </a:rPr>
                        <a:t> </a:t>
                      </a:r>
                    </a:p>
                  </p:txBody>
                </p:sp>
              </mc:Fallback>
            </mc:AlternateContent>
            <p:cxnSp>
              <p:nvCxnSpPr>
                <p:cNvPr id="17" name="直接箭头连接符 16">
                  <a:extLst>
                    <a:ext uri="{FF2B5EF4-FFF2-40B4-BE49-F238E27FC236}">
                      <a16:creationId xmlns:a16="http://schemas.microsoft.com/office/drawing/2014/main" id="{71C2998E-C13B-1855-F48A-8CC864715A79}"/>
                    </a:ext>
                  </a:extLst>
                </p:cNvPr>
                <p:cNvCxnSpPr>
                  <a:cxnSpLocks/>
                </p:cNvCxnSpPr>
                <p:nvPr/>
              </p:nvCxnSpPr>
              <p:spPr>
                <a:xfrm flipH="1">
                  <a:off x="7985657" y="4865928"/>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44FDEC25-2EB4-ABCC-52D1-35A366B581D0}"/>
                    </a:ext>
                  </a:extLst>
                </p:cNvPr>
                <p:cNvCxnSpPr>
                  <a:cxnSpLocks/>
                </p:cNvCxnSpPr>
                <p:nvPr/>
              </p:nvCxnSpPr>
              <p:spPr>
                <a:xfrm rot="10800000">
                  <a:off x="7985657" y="5234544"/>
                  <a:ext cx="2220650" cy="651091"/>
                </a:xfrm>
                <a:prstGeom prst="bentConnector3">
                  <a:avLst>
                    <a:gd name="adj1" fmla="val 82942"/>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6" name="连接符: 肘形 45">
                <a:extLst>
                  <a:ext uri="{FF2B5EF4-FFF2-40B4-BE49-F238E27FC236}">
                    <a16:creationId xmlns:a16="http://schemas.microsoft.com/office/drawing/2014/main" id="{FBF5D9ED-BDA5-37A9-3721-8019C51B8432}"/>
                  </a:ext>
                </a:extLst>
              </p:cNvPr>
              <p:cNvCxnSpPr>
                <a:cxnSpLocks/>
              </p:cNvCxnSpPr>
              <p:nvPr/>
            </p:nvCxnSpPr>
            <p:spPr>
              <a:xfrm rot="16200000" flipV="1">
                <a:off x="4591077" y="5292830"/>
                <a:ext cx="358024" cy="283232"/>
              </a:xfrm>
              <a:prstGeom prst="bentConnector3">
                <a:avLst>
                  <a:gd name="adj1" fmla="val 663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0A4B4F5-CA82-6373-893C-C103448CFEAD}"/>
                  </a:ext>
                </a:extLst>
              </p:cNvPr>
              <p:cNvCxnSpPr>
                <a:cxnSpLocks/>
              </p:cNvCxnSpPr>
              <p:nvPr/>
            </p:nvCxnSpPr>
            <p:spPr>
              <a:xfrm flipH="1">
                <a:off x="4348587" y="5228609"/>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矩形: 圆角 61">
              <a:extLst>
                <a:ext uri="{FF2B5EF4-FFF2-40B4-BE49-F238E27FC236}">
                  <a16:creationId xmlns:a16="http://schemas.microsoft.com/office/drawing/2014/main" id="{95D6F9AC-76E6-763F-69AF-51157DBAE080}"/>
                </a:ext>
              </a:extLst>
            </p:cNvPr>
            <p:cNvSpPr/>
            <p:nvPr/>
          </p:nvSpPr>
          <p:spPr>
            <a:xfrm>
              <a:off x="292362" y="3959449"/>
              <a:ext cx="7620935" cy="2677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文本框 64">
            <a:extLst>
              <a:ext uri="{FF2B5EF4-FFF2-40B4-BE49-F238E27FC236}">
                <a16:creationId xmlns:a16="http://schemas.microsoft.com/office/drawing/2014/main" id="{55FAA686-2C59-0128-F1E8-7A67B7217F26}"/>
              </a:ext>
            </a:extLst>
          </p:cNvPr>
          <p:cNvSpPr txBox="1"/>
          <p:nvPr/>
        </p:nvSpPr>
        <p:spPr>
          <a:xfrm>
            <a:off x="321018" y="2934401"/>
            <a:ext cx="3969307" cy="961097"/>
          </a:xfrm>
          <a:prstGeom prst="rect">
            <a:avLst/>
          </a:prstGeom>
          <a:noFill/>
        </p:spPr>
        <p:txBody>
          <a:bodyPr wrap="square" rtlCol="0">
            <a:spAutoFit/>
          </a:bodyPr>
          <a:lstStyle/>
          <a:p>
            <a:pPr>
              <a:lnSpc>
                <a:spcPct val="150000"/>
              </a:lnSpc>
            </a:pPr>
            <a:r>
              <a:rPr lang="en-US" altLang="zh-CN" sz="2000" dirty="0" err="1">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Unet</a:t>
            </a:r>
            <a:r>
              <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单独处理条件信息，从而提升条件对逆扩散去噪的指导效果</a:t>
            </a: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869CE442-4946-3BF2-A9EA-AD4F5F2CCC32}"/>
                  </a:ext>
                </a:extLst>
              </p:cNvPr>
              <p:cNvSpPr txBox="1"/>
              <p:nvPr/>
            </p:nvSpPr>
            <p:spPr>
              <a:xfrm>
                <a:off x="8250990" y="4054824"/>
                <a:ext cx="3638047" cy="2438424"/>
              </a:xfrm>
              <a:prstGeom prst="rect">
                <a:avLst/>
              </a:prstGeom>
              <a:noFill/>
            </p:spPr>
            <p:txBody>
              <a:bodyPr wrap="square">
                <a:spAutoFit/>
              </a:bodyPr>
              <a:lstStyle/>
              <a:p>
                <a:pPr algn="ctr">
                  <a:lnSpc>
                    <a:spcPct val="150000"/>
                  </a:lnSpc>
                </a:pPr>
                <a:r>
                  <a:rPr lang="zh-CN" altLang="en-US" sz="2400" b="1" dirty="0">
                    <a:solidFill>
                      <a:schemeClr val="accent1">
                        <a:lumMod val="50000"/>
                      </a:schemeClr>
                    </a:solidFill>
                    <a:ea typeface="微软雅黑" panose="020B0503020204020204" pitchFamily="34" charset="-122"/>
                    <a:cs typeface="Times New Roman" panose="02020603050405020304" pitchFamily="18" charset="0"/>
                  </a:rPr>
                  <a:t>去噪图像</a:t>
                </a:r>
                <a14:m>
                  <m:oMath xmlns:m="http://schemas.openxmlformats.org/officeDocument/2006/math">
                    <m:sSub>
                      <m:sSubPr>
                        <m:ctrlPr>
                          <a:rPr lang="en-US" altLang="zh-CN" sz="2400" b="1" i="1">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2400" b="1">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𝒕</m:t>
                        </m:r>
                      </m:sub>
                    </m:sSub>
                  </m:oMath>
                </a14:m>
                <a:r>
                  <a:rPr lang="en-US" altLang="zh-CN" sz="2400" b="1" baseline="-250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condition</a:t>
                </a:r>
                <a:endPar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SR3</a:t>
                </a:r>
              </a:p>
              <a:p>
                <a:pPr>
                  <a:lnSpc>
                    <a:spcPct val="150000"/>
                  </a:lnSpc>
                </a:pP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先拼接，后一起传入 </a:t>
                </a:r>
                <a:r>
                  <a:rPr lang="en-US" altLang="zh-CN" sz="2000" dirty="0" err="1">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Unet</a:t>
                </a:r>
                <a:r>
                  <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网络</a:t>
                </a:r>
                <a:endPar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优化</a:t>
                </a:r>
                <a:endPar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先分别传入 </a:t>
                </a:r>
                <a:r>
                  <a:rPr lang="en-US" altLang="zh-CN" sz="2000" dirty="0" err="1">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Unet</a:t>
                </a:r>
                <a:r>
                  <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网络，后拼接</a:t>
                </a:r>
              </a:p>
            </p:txBody>
          </p:sp>
        </mc:Choice>
        <mc:Fallback xmlns="">
          <p:sp>
            <p:nvSpPr>
              <p:cNvPr id="68" name="文本框 67">
                <a:extLst>
                  <a:ext uri="{FF2B5EF4-FFF2-40B4-BE49-F238E27FC236}">
                    <a16:creationId xmlns:a16="http://schemas.microsoft.com/office/drawing/2014/main" id="{869CE442-4946-3BF2-A9EA-AD4F5F2CCC32}"/>
                  </a:ext>
                </a:extLst>
              </p:cNvPr>
              <p:cNvSpPr txBox="1">
                <a:spLocks noRot="1" noChangeAspect="1" noMove="1" noResize="1" noEditPoints="1" noAdjustHandles="1" noChangeArrowheads="1" noChangeShapeType="1" noTextEdit="1"/>
              </p:cNvSpPr>
              <p:nvPr/>
            </p:nvSpPr>
            <p:spPr>
              <a:xfrm>
                <a:off x="8250990" y="4054824"/>
                <a:ext cx="3638047" cy="2438424"/>
              </a:xfrm>
              <a:prstGeom prst="rect">
                <a:avLst/>
              </a:prstGeom>
              <a:blipFill>
                <a:blip r:embed="rId10"/>
                <a:stretch>
                  <a:fillRect l="-1846" r="-1007" b="-3500"/>
                </a:stretch>
              </a:blipFill>
            </p:spPr>
            <p:txBody>
              <a:bodyPr/>
              <a:lstStyle/>
              <a:p>
                <a:r>
                  <a:rPr lang="zh-CN" altLang="en-US">
                    <a:noFill/>
                  </a:rPr>
                  <a:t> </a:t>
                </a:r>
              </a:p>
            </p:txBody>
          </p:sp>
        </mc:Fallback>
      </mc:AlternateContent>
      <p:sp>
        <p:nvSpPr>
          <p:cNvPr id="69" name="矩形 68">
            <a:extLst>
              <a:ext uri="{FF2B5EF4-FFF2-40B4-BE49-F238E27FC236}">
                <a16:creationId xmlns:a16="http://schemas.microsoft.com/office/drawing/2014/main" id="{FC82C14B-CE57-855B-D787-162EABA1AB0D}"/>
              </a:ext>
            </a:extLst>
          </p:cNvPr>
          <p:cNvSpPr/>
          <p:nvPr/>
        </p:nvSpPr>
        <p:spPr>
          <a:xfrm>
            <a:off x="455202" y="1782885"/>
            <a:ext cx="3528151" cy="1168077"/>
          </a:xfrm>
          <a:prstGeom prst="rect">
            <a:avLst/>
          </a:prstGeom>
          <a:solidFill>
            <a:schemeClr val="accent1">
              <a:lumMod val="60000"/>
              <a:lumOff val="40000"/>
            </a:schemeClr>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修改条件拼接方式</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(changing conditional concatenation pattern)</a:t>
            </a:r>
          </a:p>
        </p:txBody>
      </p:sp>
    </p:spTree>
    <p:extLst>
      <p:ext uri="{BB962C8B-B14F-4D97-AF65-F5344CB8AC3E}">
        <p14:creationId xmlns:p14="http://schemas.microsoft.com/office/powerpoint/2010/main" val="1335879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C326-3437-D6C6-F4BB-2629154F15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E924D9-8068-30F8-03B7-A72DE5D7E90C}"/>
              </a:ext>
            </a:extLst>
          </p:cNvPr>
          <p:cNvSpPr>
            <a:spLocks noGrp="1"/>
          </p:cNvSpPr>
          <p:nvPr>
            <p:ph type="title"/>
          </p:nvPr>
        </p:nvSpPr>
        <p:spPr/>
        <p:txBody>
          <a:bodyPr/>
          <a:lstStyle/>
          <a:p>
            <a:r>
              <a:rPr lang="zh-CN" altLang="en-US" dirty="0"/>
              <a:t>研究方法 </a:t>
            </a:r>
            <a:r>
              <a:rPr lang="en-US" altLang="zh-CN" dirty="0"/>
              <a:t>-- SR3</a:t>
            </a:r>
            <a:r>
              <a:rPr lang="zh-CN" altLang="en-US" dirty="0"/>
              <a:t>模型优化</a:t>
            </a:r>
          </a:p>
        </p:txBody>
      </p:sp>
      <p:sp>
        <p:nvSpPr>
          <p:cNvPr id="3" name="矩形 2">
            <a:extLst>
              <a:ext uri="{FF2B5EF4-FFF2-40B4-BE49-F238E27FC236}">
                <a16:creationId xmlns:a16="http://schemas.microsoft.com/office/drawing/2014/main" id="{14657162-4B67-4730-7B9E-EE8D16AADBFF}"/>
              </a:ext>
            </a:extLst>
          </p:cNvPr>
          <p:cNvSpPr/>
          <p:nvPr/>
        </p:nvSpPr>
        <p:spPr>
          <a:xfrm>
            <a:off x="445036" y="1337302"/>
            <a:ext cx="3528151" cy="429413"/>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模型细节微调</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2</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(Refinement)</a:t>
            </a:r>
          </a:p>
        </p:txBody>
      </p:sp>
      <p:sp>
        <p:nvSpPr>
          <p:cNvPr id="65" name="文本框 64">
            <a:extLst>
              <a:ext uri="{FF2B5EF4-FFF2-40B4-BE49-F238E27FC236}">
                <a16:creationId xmlns:a16="http://schemas.microsoft.com/office/drawing/2014/main" id="{D5393E08-B5BD-437E-B7EE-CC8328B672D8}"/>
              </a:ext>
            </a:extLst>
          </p:cNvPr>
          <p:cNvSpPr txBox="1"/>
          <p:nvPr/>
        </p:nvSpPr>
        <p:spPr>
          <a:xfrm>
            <a:off x="334536" y="2858790"/>
            <a:ext cx="3969307" cy="961097"/>
          </a:xfrm>
          <a:prstGeom prst="rect">
            <a:avLst/>
          </a:prstGeom>
          <a:noFill/>
        </p:spPr>
        <p:txBody>
          <a:bodyPr wrap="square" rtlCol="0">
            <a:spAutoFit/>
          </a:bodyPr>
          <a:lstStyle/>
          <a:p>
            <a:pPr>
              <a:lnSpc>
                <a:spcPct val="150000"/>
              </a:lnSpc>
            </a:pPr>
            <a:r>
              <a:rPr lang="en-US" altLang="zh-CN" sz="2000" dirty="0" err="1">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Unet</a:t>
            </a:r>
            <a:r>
              <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单独处理条件信息，从而提升条件对逆扩散去噪的指导效果</a:t>
            </a: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1526426-D0B4-25B7-4004-2F22063ED7D4}"/>
                  </a:ext>
                </a:extLst>
              </p:cNvPr>
              <p:cNvSpPr txBox="1"/>
              <p:nvPr/>
            </p:nvSpPr>
            <p:spPr>
              <a:xfrm>
                <a:off x="8244368" y="3819887"/>
                <a:ext cx="3785958" cy="2901435"/>
              </a:xfrm>
              <a:prstGeom prst="rect">
                <a:avLst/>
              </a:prstGeom>
              <a:noFill/>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24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m:t>噪声</m:t>
                      </m:r>
                      <m:sSub>
                        <m:sSubPr>
                          <m:ctrlP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2400" b="1" i="1" smtClean="0">
                              <a:solidFill>
                                <a:schemeClr val="accent1">
                                  <a:lumMod val="50000"/>
                                </a:schemeClr>
                              </a:solidFill>
                              <a:latin typeface="Cambria Math" panose="02040503050406030204" pitchFamily="18" charset="0"/>
                              <a:ea typeface="微软雅黑" panose="020B0503020204020204" pitchFamily="34" charset="-122"/>
                              <a:cs typeface="Times New Roman" panose="02020603050405020304" pitchFamily="18" charset="0"/>
                            </a:rPr>
                            <m:t>𝒕</m:t>
                          </m:r>
                        </m:sub>
                      </m:sSub>
                    </m:oMath>
                  </m:oMathPara>
                </a14:m>
                <a:endPar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SR3</a:t>
                </a:r>
              </a:p>
              <a:p>
                <a:pPr>
                  <a:lnSpc>
                    <a:spcPct val="150000"/>
                  </a:lnSpc>
                </a:pP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纯噪声采样具有随机性</a:t>
                </a:r>
                <a:endPar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优化</a:t>
                </a:r>
                <a:endParaRPr lang="en-US" altLang="zh-CN" sz="20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由条件加噪得到，包含条件信息，超分结果更加稳定</a:t>
                </a:r>
              </a:p>
            </p:txBody>
          </p:sp>
        </mc:Choice>
        <mc:Fallback xmlns="">
          <p:sp>
            <p:nvSpPr>
              <p:cNvPr id="68" name="文本框 67">
                <a:extLst>
                  <a:ext uri="{FF2B5EF4-FFF2-40B4-BE49-F238E27FC236}">
                    <a16:creationId xmlns:a16="http://schemas.microsoft.com/office/drawing/2014/main" id="{31526426-D0B4-25B7-4004-2F22063ED7D4}"/>
                  </a:ext>
                </a:extLst>
              </p:cNvPr>
              <p:cNvSpPr txBox="1">
                <a:spLocks noRot="1" noChangeAspect="1" noMove="1" noResize="1" noEditPoints="1" noAdjustHandles="1" noChangeArrowheads="1" noChangeShapeType="1" noTextEdit="1"/>
              </p:cNvSpPr>
              <p:nvPr/>
            </p:nvSpPr>
            <p:spPr>
              <a:xfrm>
                <a:off x="8244368" y="3819887"/>
                <a:ext cx="3785958" cy="2901435"/>
              </a:xfrm>
              <a:prstGeom prst="rect">
                <a:avLst/>
              </a:prstGeom>
              <a:blipFill>
                <a:blip r:embed="rId2"/>
                <a:stretch>
                  <a:fillRect l="-1610" r="-7246" b="-2731"/>
                </a:stretch>
              </a:blipFill>
            </p:spPr>
            <p:txBody>
              <a:bodyPr/>
              <a:lstStyle/>
              <a:p>
                <a:r>
                  <a:rPr lang="zh-CN" altLang="en-US">
                    <a:noFill/>
                  </a:rPr>
                  <a:t> </a:t>
                </a:r>
              </a:p>
            </p:txBody>
          </p:sp>
        </mc:Fallback>
      </mc:AlternateContent>
      <p:sp>
        <p:nvSpPr>
          <p:cNvPr id="69" name="矩形 68">
            <a:extLst>
              <a:ext uri="{FF2B5EF4-FFF2-40B4-BE49-F238E27FC236}">
                <a16:creationId xmlns:a16="http://schemas.microsoft.com/office/drawing/2014/main" id="{F1ECB2B6-E5C2-3AB9-3AC2-A2B78903C381}"/>
              </a:ext>
            </a:extLst>
          </p:cNvPr>
          <p:cNvSpPr/>
          <p:nvPr/>
        </p:nvSpPr>
        <p:spPr>
          <a:xfrm>
            <a:off x="445035" y="1900691"/>
            <a:ext cx="3528151" cy="798745"/>
          </a:xfrm>
          <a:prstGeom prst="rect">
            <a:avLst/>
          </a:prstGeom>
          <a:solidFill>
            <a:schemeClr val="accent1">
              <a:lumMod val="60000"/>
              <a:lumOff val="40000"/>
            </a:schemeClr>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“条件反加噪”策略</a:t>
            </a:r>
            <a:endPar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(condition noise)</a:t>
            </a:r>
          </a:p>
        </p:txBody>
      </p:sp>
      <p:grpSp>
        <p:nvGrpSpPr>
          <p:cNvPr id="25" name="组合 24">
            <a:extLst>
              <a:ext uri="{FF2B5EF4-FFF2-40B4-BE49-F238E27FC236}">
                <a16:creationId xmlns:a16="http://schemas.microsoft.com/office/drawing/2014/main" id="{BB120E01-0A7A-3CAC-124A-A248584B19DF}"/>
              </a:ext>
            </a:extLst>
          </p:cNvPr>
          <p:cNvGrpSpPr/>
          <p:nvPr/>
        </p:nvGrpSpPr>
        <p:grpSpPr>
          <a:xfrm>
            <a:off x="4268102" y="1129471"/>
            <a:ext cx="7620935" cy="2677140"/>
            <a:chOff x="292362" y="3959449"/>
            <a:chExt cx="7620935" cy="2677140"/>
          </a:xfrm>
        </p:grpSpPr>
        <p:grpSp>
          <p:nvGrpSpPr>
            <p:cNvPr id="26" name="组合 25">
              <a:extLst>
                <a:ext uri="{FF2B5EF4-FFF2-40B4-BE49-F238E27FC236}">
                  <a16:creationId xmlns:a16="http://schemas.microsoft.com/office/drawing/2014/main" id="{E5FD28C1-C9D9-A617-6948-915C7C5A0D06}"/>
                </a:ext>
              </a:extLst>
            </p:cNvPr>
            <p:cNvGrpSpPr/>
            <p:nvPr/>
          </p:nvGrpSpPr>
          <p:grpSpPr>
            <a:xfrm>
              <a:off x="409190" y="4013568"/>
              <a:ext cx="7163058" cy="2507144"/>
              <a:chOff x="4348587" y="4320359"/>
              <a:chExt cx="7163058" cy="2507144"/>
            </a:xfrm>
          </p:grpSpPr>
          <p:grpSp>
            <p:nvGrpSpPr>
              <p:cNvPr id="28" name="组合 27">
                <a:extLst>
                  <a:ext uri="{FF2B5EF4-FFF2-40B4-BE49-F238E27FC236}">
                    <a16:creationId xmlns:a16="http://schemas.microsoft.com/office/drawing/2014/main" id="{8F193AD6-37F4-6459-A934-66F3DC048332}"/>
                  </a:ext>
                </a:extLst>
              </p:cNvPr>
              <p:cNvGrpSpPr/>
              <p:nvPr/>
            </p:nvGrpSpPr>
            <p:grpSpPr>
              <a:xfrm>
                <a:off x="4978644" y="4320359"/>
                <a:ext cx="6533001" cy="2507144"/>
                <a:chOff x="5022723" y="3930853"/>
                <a:chExt cx="6533001" cy="2507144"/>
              </a:xfrm>
            </p:grpSpPr>
            <p:pic>
              <p:nvPicPr>
                <p:cNvPr id="31" name="图片 30">
                  <a:extLst>
                    <a:ext uri="{FF2B5EF4-FFF2-40B4-BE49-F238E27FC236}">
                      <a16:creationId xmlns:a16="http://schemas.microsoft.com/office/drawing/2014/main" id="{2260B788-633F-30E0-22A4-A79B1CF08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pic>
              <p:nvPicPr>
                <p:cNvPr id="32" name="图片 31">
                  <a:extLst>
                    <a:ext uri="{FF2B5EF4-FFF2-40B4-BE49-F238E27FC236}">
                      <a16:creationId xmlns:a16="http://schemas.microsoft.com/office/drawing/2014/main" id="{A22E34C6-BF7F-10E8-581A-2D730EB93CB3}"/>
                    </a:ext>
                  </a:extLst>
                </p:cNvPr>
                <p:cNvPicPr>
                  <a:picLocks noChangeAspect="1"/>
                </p:cNvPicPr>
                <p:nvPr/>
              </p:nvPicPr>
              <p:blipFill>
                <a:blip r:embed="rId4"/>
                <a:stretch>
                  <a:fillRect/>
                </a:stretch>
              </p:blipFill>
              <p:spPr>
                <a:xfrm>
                  <a:off x="8575487" y="4238538"/>
                  <a:ext cx="1233290" cy="1222312"/>
                </a:xfrm>
                <a:prstGeom prst="rect">
                  <a:avLst/>
                </a:prstGeom>
              </p:spPr>
            </p:pic>
            <p:pic>
              <p:nvPicPr>
                <p:cNvPr id="33" name="图片 32">
                  <a:extLst>
                    <a:ext uri="{FF2B5EF4-FFF2-40B4-BE49-F238E27FC236}">
                      <a16:creationId xmlns:a16="http://schemas.microsoft.com/office/drawing/2014/main" id="{8660CA85-FD1F-8E9C-22BA-EF8C935091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6524" y="4941798"/>
                  <a:ext cx="1219200" cy="1219200"/>
                </a:xfrm>
                <a:prstGeom prst="rect">
                  <a:avLst/>
                </a:prstGeom>
              </p:spPr>
            </p:pic>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77ECE99-6363-D108-95B3-1DB7118FDE3A}"/>
                        </a:ext>
                      </a:extLst>
                    </p:cNvPr>
                    <p:cNvSpPr txBox="1"/>
                    <p:nvPr/>
                  </p:nvSpPr>
                  <p:spPr>
                    <a:xfrm>
                      <a:off x="10336524" y="6160998"/>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34" name="文本框 33">
                      <a:extLst>
                        <a:ext uri="{FF2B5EF4-FFF2-40B4-BE49-F238E27FC236}">
                          <a16:creationId xmlns:a16="http://schemas.microsoft.com/office/drawing/2014/main" id="{677ECE99-6363-D108-95B3-1DB7118FDE3A}"/>
                        </a:ext>
                      </a:extLst>
                    </p:cNvPr>
                    <p:cNvSpPr txBox="1">
                      <a:spLocks noRot="1" noChangeAspect="1" noMove="1" noResize="1" noEditPoints="1" noAdjustHandles="1" noChangeArrowheads="1" noChangeShapeType="1" noTextEdit="1"/>
                    </p:cNvSpPr>
                    <p:nvPr/>
                  </p:nvSpPr>
                  <p:spPr>
                    <a:xfrm>
                      <a:off x="10336524" y="6160998"/>
                      <a:ext cx="1219200" cy="276999"/>
                    </a:xfrm>
                    <a:prstGeom prst="rect">
                      <a:avLst/>
                    </a:prstGeom>
                    <a:blipFill>
                      <a:blip r:embed="rId6"/>
                      <a:stretch>
                        <a:fillRect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54AAA4C-F43F-0E9B-6441-488AD584C58F}"/>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35" name="文本框 34">
                      <a:extLst>
                        <a:ext uri="{FF2B5EF4-FFF2-40B4-BE49-F238E27FC236}">
                          <a16:creationId xmlns:a16="http://schemas.microsoft.com/office/drawing/2014/main" id="{254AAA4C-F43F-0E9B-6441-488AD584C58F}"/>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7"/>
                      <a:stretch>
                        <a:fillRect l="-1905" r="-1905" b="-6667"/>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11DF1596-51FC-6874-DE26-D3B703376F98}"/>
                    </a:ext>
                  </a:extLst>
                </p:cNvPr>
                <p:cNvCxnSpPr>
                  <a:cxnSpLocks/>
                </p:cNvCxnSpPr>
                <p:nvPr/>
              </p:nvCxnSpPr>
              <p:spPr>
                <a:xfrm flipH="1">
                  <a:off x="7985657" y="4865928"/>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20051DBA-B2DA-4E25-B5D1-540BFB75ED2B}"/>
                    </a:ext>
                  </a:extLst>
                </p:cNvPr>
                <p:cNvCxnSpPr>
                  <a:cxnSpLocks/>
                </p:cNvCxnSpPr>
                <p:nvPr/>
              </p:nvCxnSpPr>
              <p:spPr>
                <a:xfrm rot="10800000">
                  <a:off x="7985657" y="5234544"/>
                  <a:ext cx="2220650" cy="651091"/>
                </a:xfrm>
                <a:prstGeom prst="bentConnector3">
                  <a:avLst>
                    <a:gd name="adj1" fmla="val 82942"/>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连接符: 肘形 28">
                <a:extLst>
                  <a:ext uri="{FF2B5EF4-FFF2-40B4-BE49-F238E27FC236}">
                    <a16:creationId xmlns:a16="http://schemas.microsoft.com/office/drawing/2014/main" id="{E7A985C5-26E1-EA6D-A219-574B9D774472}"/>
                  </a:ext>
                </a:extLst>
              </p:cNvPr>
              <p:cNvCxnSpPr>
                <a:cxnSpLocks/>
              </p:cNvCxnSpPr>
              <p:nvPr/>
            </p:nvCxnSpPr>
            <p:spPr>
              <a:xfrm rot="16200000" flipV="1">
                <a:off x="4591077" y="5292830"/>
                <a:ext cx="358024" cy="283232"/>
              </a:xfrm>
              <a:prstGeom prst="bentConnector3">
                <a:avLst>
                  <a:gd name="adj1" fmla="val 6630"/>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51FBEF03-223B-5F96-A3AA-8C815CEFB44D}"/>
                  </a:ext>
                </a:extLst>
              </p:cNvPr>
              <p:cNvCxnSpPr>
                <a:cxnSpLocks/>
              </p:cNvCxnSpPr>
              <p:nvPr/>
            </p:nvCxnSpPr>
            <p:spPr>
              <a:xfrm flipH="1">
                <a:off x="4348587" y="5228609"/>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矩形: 圆角 26">
              <a:extLst>
                <a:ext uri="{FF2B5EF4-FFF2-40B4-BE49-F238E27FC236}">
                  <a16:creationId xmlns:a16="http://schemas.microsoft.com/office/drawing/2014/main" id="{0079D263-B663-8149-B49F-4FEFB2E94A22}"/>
                </a:ext>
              </a:extLst>
            </p:cNvPr>
            <p:cNvSpPr/>
            <p:nvPr/>
          </p:nvSpPr>
          <p:spPr>
            <a:xfrm>
              <a:off x="292362" y="3959449"/>
              <a:ext cx="7620935" cy="2677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a:extLst>
              <a:ext uri="{FF2B5EF4-FFF2-40B4-BE49-F238E27FC236}">
                <a16:creationId xmlns:a16="http://schemas.microsoft.com/office/drawing/2014/main" id="{2E7E32FE-7A94-8EA8-E9DE-6F4CF313F142}"/>
              </a:ext>
            </a:extLst>
          </p:cNvPr>
          <p:cNvGrpSpPr/>
          <p:nvPr/>
        </p:nvGrpSpPr>
        <p:grpSpPr>
          <a:xfrm>
            <a:off x="310978" y="4006920"/>
            <a:ext cx="7620935" cy="2677140"/>
            <a:chOff x="292362" y="3959449"/>
            <a:chExt cx="7620935" cy="2677140"/>
          </a:xfrm>
        </p:grpSpPr>
        <p:grpSp>
          <p:nvGrpSpPr>
            <p:cNvPr id="39" name="组合 38">
              <a:extLst>
                <a:ext uri="{FF2B5EF4-FFF2-40B4-BE49-F238E27FC236}">
                  <a16:creationId xmlns:a16="http://schemas.microsoft.com/office/drawing/2014/main" id="{2E3AF8B7-E108-AB7E-6A14-5FFD77832932}"/>
                </a:ext>
              </a:extLst>
            </p:cNvPr>
            <p:cNvGrpSpPr/>
            <p:nvPr/>
          </p:nvGrpSpPr>
          <p:grpSpPr>
            <a:xfrm>
              <a:off x="409190" y="4013568"/>
              <a:ext cx="7163058" cy="2507144"/>
              <a:chOff x="4348587" y="4320359"/>
              <a:chExt cx="7163058" cy="2507144"/>
            </a:xfrm>
          </p:grpSpPr>
          <p:grpSp>
            <p:nvGrpSpPr>
              <p:cNvPr id="41" name="组合 40">
                <a:extLst>
                  <a:ext uri="{FF2B5EF4-FFF2-40B4-BE49-F238E27FC236}">
                    <a16:creationId xmlns:a16="http://schemas.microsoft.com/office/drawing/2014/main" id="{63C6F0E3-EA42-0339-1AE8-A467DBB87C75}"/>
                  </a:ext>
                </a:extLst>
              </p:cNvPr>
              <p:cNvGrpSpPr/>
              <p:nvPr/>
            </p:nvGrpSpPr>
            <p:grpSpPr>
              <a:xfrm>
                <a:off x="4978644" y="4320359"/>
                <a:ext cx="6533001" cy="2507144"/>
                <a:chOff x="5022723" y="3930853"/>
                <a:chExt cx="6533001" cy="2507144"/>
              </a:xfrm>
            </p:grpSpPr>
            <p:pic>
              <p:nvPicPr>
                <p:cNvPr id="44" name="图片 43">
                  <a:extLst>
                    <a:ext uri="{FF2B5EF4-FFF2-40B4-BE49-F238E27FC236}">
                      <a16:creationId xmlns:a16="http://schemas.microsoft.com/office/drawing/2014/main" id="{BFE9EF34-5453-8B10-AFB5-41A68322EF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2723" y="3930853"/>
                  <a:ext cx="2841620" cy="1834136"/>
                </a:xfrm>
                <a:prstGeom prst="rect">
                  <a:avLst/>
                </a:prstGeom>
              </p:spPr>
            </p:pic>
            <p:pic>
              <p:nvPicPr>
                <p:cNvPr id="45" name="图片 44">
                  <a:extLst>
                    <a:ext uri="{FF2B5EF4-FFF2-40B4-BE49-F238E27FC236}">
                      <a16:creationId xmlns:a16="http://schemas.microsoft.com/office/drawing/2014/main" id="{9866DF2A-BAB4-3110-5FA5-A3BB90411601}"/>
                    </a:ext>
                  </a:extLst>
                </p:cNvPr>
                <p:cNvPicPr>
                  <a:picLocks noChangeAspect="1"/>
                </p:cNvPicPr>
                <p:nvPr/>
              </p:nvPicPr>
              <p:blipFill>
                <a:blip r:embed="rId4"/>
                <a:stretch>
                  <a:fillRect/>
                </a:stretch>
              </p:blipFill>
              <p:spPr>
                <a:xfrm>
                  <a:off x="8575487" y="4238538"/>
                  <a:ext cx="1233290" cy="1222312"/>
                </a:xfrm>
                <a:prstGeom prst="rect">
                  <a:avLst/>
                </a:prstGeom>
              </p:spPr>
            </p:pic>
            <p:pic>
              <p:nvPicPr>
                <p:cNvPr id="49" name="图片 48">
                  <a:extLst>
                    <a:ext uri="{FF2B5EF4-FFF2-40B4-BE49-F238E27FC236}">
                      <a16:creationId xmlns:a16="http://schemas.microsoft.com/office/drawing/2014/main" id="{9D022FA6-E3AD-1103-6498-400DBF0163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6524" y="4941798"/>
                  <a:ext cx="1219200" cy="1219200"/>
                </a:xfrm>
                <a:prstGeom prst="rect">
                  <a:avLst/>
                </a:prstGeom>
              </p:spPr>
            </p:pic>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B37BBF0A-67E3-97D9-4051-D37A5C61EBF2}"/>
                        </a:ext>
                      </a:extLst>
                    </p:cNvPr>
                    <p:cNvSpPr txBox="1"/>
                    <p:nvPr/>
                  </p:nvSpPr>
                  <p:spPr>
                    <a:xfrm>
                      <a:off x="10336524" y="6160998"/>
                      <a:ext cx="1219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𝑐𝑜𝑛𝑑𝑖𝑡𝑖𝑜𝑛</m:t>
                            </m:r>
                          </m:oMath>
                        </m:oMathPara>
                      </a14:m>
                      <a:endParaRPr lang="en-US" altLang="zh-CN" b="0" dirty="0"/>
                    </a:p>
                  </p:txBody>
                </p:sp>
              </mc:Choice>
              <mc:Fallback xmlns="">
                <p:sp>
                  <p:nvSpPr>
                    <p:cNvPr id="50" name="文本框 49">
                      <a:extLst>
                        <a:ext uri="{FF2B5EF4-FFF2-40B4-BE49-F238E27FC236}">
                          <a16:creationId xmlns:a16="http://schemas.microsoft.com/office/drawing/2014/main" id="{B37BBF0A-67E3-97D9-4051-D37A5C61EBF2}"/>
                        </a:ext>
                      </a:extLst>
                    </p:cNvPr>
                    <p:cNvSpPr txBox="1">
                      <a:spLocks noRot="1" noChangeAspect="1" noMove="1" noResize="1" noEditPoints="1" noAdjustHandles="1" noChangeArrowheads="1" noChangeShapeType="1" noTextEdit="1"/>
                    </p:cNvSpPr>
                    <p:nvPr/>
                  </p:nvSpPr>
                  <p:spPr>
                    <a:xfrm>
                      <a:off x="10336524" y="6160998"/>
                      <a:ext cx="1219200" cy="276999"/>
                    </a:xfrm>
                    <a:prstGeom prst="rect">
                      <a:avLst/>
                    </a:prstGeom>
                    <a:blipFill>
                      <a:blip r:embed="rId8"/>
                      <a:stretch>
                        <a:fillRect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904DA39F-958E-648F-3D33-85AF51E3CA85}"/>
                        </a:ext>
                      </a:extLst>
                    </p:cNvPr>
                    <p:cNvSpPr txBox="1"/>
                    <p:nvPr/>
                  </p:nvSpPr>
                  <p:spPr>
                    <a:xfrm>
                      <a:off x="6094802" y="5624138"/>
                      <a:ext cx="64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𝑈𝑛𝑒𝑡</m:t>
                            </m:r>
                          </m:oMath>
                        </m:oMathPara>
                      </a14:m>
                      <a:endParaRPr lang="en-US" altLang="zh-CN" b="0" dirty="0"/>
                    </a:p>
                  </p:txBody>
                </p:sp>
              </mc:Choice>
              <mc:Fallback xmlns="">
                <p:sp>
                  <p:nvSpPr>
                    <p:cNvPr id="51" name="文本框 50">
                      <a:extLst>
                        <a:ext uri="{FF2B5EF4-FFF2-40B4-BE49-F238E27FC236}">
                          <a16:creationId xmlns:a16="http://schemas.microsoft.com/office/drawing/2014/main" id="{904DA39F-958E-648F-3D33-85AF51E3CA85}"/>
                        </a:ext>
                      </a:extLst>
                    </p:cNvPr>
                    <p:cNvSpPr txBox="1">
                      <a:spLocks noRot="1" noChangeAspect="1" noMove="1" noResize="1" noEditPoints="1" noAdjustHandles="1" noChangeArrowheads="1" noChangeShapeType="1" noTextEdit="1"/>
                    </p:cNvSpPr>
                    <p:nvPr/>
                  </p:nvSpPr>
                  <p:spPr>
                    <a:xfrm>
                      <a:off x="6094802" y="5624138"/>
                      <a:ext cx="641806" cy="276999"/>
                    </a:xfrm>
                    <a:prstGeom prst="rect">
                      <a:avLst/>
                    </a:prstGeom>
                    <a:blipFill>
                      <a:blip r:embed="rId9"/>
                      <a:stretch>
                        <a:fillRect l="-943" r="-1887" b="-6667"/>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21A6180A-8B4B-B074-D3DE-D011FF1CF1F9}"/>
                    </a:ext>
                  </a:extLst>
                </p:cNvPr>
                <p:cNvCxnSpPr>
                  <a:cxnSpLocks/>
                </p:cNvCxnSpPr>
                <p:nvPr/>
              </p:nvCxnSpPr>
              <p:spPr>
                <a:xfrm flipH="1">
                  <a:off x="7985657" y="4865928"/>
                  <a:ext cx="45595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FE11A309-9DA2-A8B7-9A89-FE2E42F8874A}"/>
                    </a:ext>
                  </a:extLst>
                </p:cNvPr>
                <p:cNvCxnSpPr>
                  <a:cxnSpLocks/>
                </p:cNvCxnSpPr>
                <p:nvPr/>
              </p:nvCxnSpPr>
              <p:spPr>
                <a:xfrm rot="10800000">
                  <a:off x="7985657" y="5234544"/>
                  <a:ext cx="2220650" cy="651091"/>
                </a:xfrm>
                <a:prstGeom prst="bentConnector3">
                  <a:avLst>
                    <a:gd name="adj1" fmla="val 82942"/>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2" name="连接符: 肘形 41">
                <a:extLst>
                  <a:ext uri="{FF2B5EF4-FFF2-40B4-BE49-F238E27FC236}">
                    <a16:creationId xmlns:a16="http://schemas.microsoft.com/office/drawing/2014/main" id="{C5C4020C-DFBB-9EE7-F43B-B493A7E8D132}"/>
                  </a:ext>
                </a:extLst>
              </p:cNvPr>
              <p:cNvCxnSpPr>
                <a:cxnSpLocks/>
              </p:cNvCxnSpPr>
              <p:nvPr/>
            </p:nvCxnSpPr>
            <p:spPr>
              <a:xfrm rot="16200000" flipV="1">
                <a:off x="4591077" y="5292830"/>
                <a:ext cx="358024" cy="283232"/>
              </a:xfrm>
              <a:prstGeom prst="bentConnector3">
                <a:avLst>
                  <a:gd name="adj1" fmla="val 6630"/>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40013EED-BD4A-D323-E14D-4067C33492F7}"/>
                  </a:ext>
                </a:extLst>
              </p:cNvPr>
              <p:cNvCxnSpPr>
                <a:cxnSpLocks/>
              </p:cNvCxnSpPr>
              <p:nvPr/>
            </p:nvCxnSpPr>
            <p:spPr>
              <a:xfrm flipH="1">
                <a:off x="4348587" y="5228609"/>
                <a:ext cx="559772"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矩形: 圆角 39">
              <a:extLst>
                <a:ext uri="{FF2B5EF4-FFF2-40B4-BE49-F238E27FC236}">
                  <a16:creationId xmlns:a16="http://schemas.microsoft.com/office/drawing/2014/main" id="{555D700E-AFF3-F5D0-D861-8DF0352C4A15}"/>
                </a:ext>
              </a:extLst>
            </p:cNvPr>
            <p:cNvSpPr/>
            <p:nvPr/>
          </p:nvSpPr>
          <p:spPr>
            <a:xfrm>
              <a:off x="292362" y="3959449"/>
              <a:ext cx="7620935" cy="2677140"/>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54" name="连接符: 肘形 53">
            <a:extLst>
              <a:ext uri="{FF2B5EF4-FFF2-40B4-BE49-F238E27FC236}">
                <a16:creationId xmlns:a16="http://schemas.microsoft.com/office/drawing/2014/main" id="{1709CE9A-20B9-73B0-31E7-296002FD6887}"/>
              </a:ext>
            </a:extLst>
          </p:cNvPr>
          <p:cNvCxnSpPr>
            <a:cxnSpLocks/>
          </p:cNvCxnSpPr>
          <p:nvPr/>
        </p:nvCxnSpPr>
        <p:spPr>
          <a:xfrm rot="10800000">
            <a:off x="5910737" y="4598091"/>
            <a:ext cx="1288648" cy="433113"/>
          </a:xfrm>
          <a:prstGeom prst="bentConnector3">
            <a:avLst>
              <a:gd name="adj1" fmla="val -22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98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83EDF-164C-E058-1754-9332712DE8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FE91DD-A4EF-6F3D-E912-983D7F7EC03A}"/>
              </a:ext>
            </a:extLst>
          </p:cNvPr>
          <p:cNvSpPr>
            <a:spLocks noGrp="1"/>
          </p:cNvSpPr>
          <p:nvPr>
            <p:ph type="title"/>
          </p:nvPr>
        </p:nvSpPr>
        <p:spPr/>
        <p:txBody>
          <a:bodyPr/>
          <a:lstStyle/>
          <a:p>
            <a:r>
              <a:rPr lang="zh-CN" altLang="en-US" dirty="0"/>
              <a:t>研究方法 </a:t>
            </a:r>
            <a:r>
              <a:rPr lang="en-US" altLang="zh-CN" dirty="0"/>
              <a:t>-- SR3</a:t>
            </a:r>
            <a:r>
              <a:rPr lang="zh-CN" altLang="en-US" dirty="0"/>
              <a:t>模型优化</a:t>
            </a:r>
          </a:p>
        </p:txBody>
      </p:sp>
      <p:sp>
        <p:nvSpPr>
          <p:cNvPr id="3" name="矩形 2">
            <a:extLst>
              <a:ext uri="{FF2B5EF4-FFF2-40B4-BE49-F238E27FC236}">
                <a16:creationId xmlns:a16="http://schemas.microsoft.com/office/drawing/2014/main" id="{E7FBAA8B-3636-122F-BEC4-FB84A069EB9D}"/>
              </a:ext>
            </a:extLst>
          </p:cNvPr>
          <p:cNvSpPr/>
          <p:nvPr/>
        </p:nvSpPr>
        <p:spPr>
          <a:xfrm>
            <a:off x="445036" y="1367582"/>
            <a:ext cx="3528151" cy="429413"/>
          </a:xfrm>
          <a:prstGeom prst="rect">
            <a:avLst/>
          </a:prstGeom>
          <a:solidFill>
            <a:srgbClr val="256090"/>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模型细节微调</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3</a:t>
            </a: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(Refinement)</a:t>
            </a:r>
          </a:p>
        </p:txBody>
      </p:sp>
      <p:sp>
        <p:nvSpPr>
          <p:cNvPr id="65" name="文本框 64">
            <a:extLst>
              <a:ext uri="{FF2B5EF4-FFF2-40B4-BE49-F238E27FC236}">
                <a16:creationId xmlns:a16="http://schemas.microsoft.com/office/drawing/2014/main" id="{7AE8E303-2392-F7F8-D18B-7B78997BB747}"/>
              </a:ext>
            </a:extLst>
          </p:cNvPr>
          <p:cNvSpPr txBox="1"/>
          <p:nvPr/>
        </p:nvSpPr>
        <p:spPr>
          <a:xfrm>
            <a:off x="497278" y="2467903"/>
            <a:ext cx="3528152" cy="961097"/>
          </a:xfrm>
          <a:prstGeom prst="rect">
            <a:avLst/>
          </a:prstGeom>
          <a:noFill/>
        </p:spPr>
        <p:txBody>
          <a:bodyPr wrap="square" rtlCol="0">
            <a:spAutoFit/>
          </a:bodyPr>
          <a:lstStyle/>
          <a:p>
            <a:pPr>
              <a:lnSpc>
                <a:spcPct val="150000"/>
              </a:lnSpc>
            </a:pP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集成均值的思想与机器学习中</a:t>
            </a:r>
            <a:r>
              <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Bagging</a:t>
            </a:r>
            <a:r>
              <a:rPr lang="zh-CN" altLang="en-US"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的集成学习算法相似</a:t>
            </a:r>
            <a:endParaRPr lang="en-US" altLang="zh-CN" sz="20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ADEF72B2-89C7-DADA-B39E-451E18FBDBBF}"/>
              </a:ext>
            </a:extLst>
          </p:cNvPr>
          <p:cNvGraphicFramePr>
            <a:graphicFrameLocks noChangeAspect="1"/>
          </p:cNvGraphicFramePr>
          <p:nvPr>
            <p:extLst>
              <p:ext uri="{D42A27DB-BD31-4B8C-83A1-F6EECF244321}">
                <p14:modId xmlns:p14="http://schemas.microsoft.com/office/powerpoint/2010/main" val="4283142571"/>
              </p:ext>
            </p:extLst>
          </p:nvPr>
        </p:nvGraphicFramePr>
        <p:xfrm>
          <a:off x="9121192" y="2147141"/>
          <a:ext cx="914400" cy="19843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4" name="对象 3">
                        <a:extLst>
                          <a:ext uri="{FF2B5EF4-FFF2-40B4-BE49-F238E27FC236}">
                            <a16:creationId xmlns:a16="http://schemas.microsoft.com/office/drawing/2014/main" id="{64F34763-E125-7B6F-6560-D7D9F7DC6B7C}"/>
                          </a:ext>
                        </a:extLst>
                      </p:cNvPr>
                      <p:cNvPicPr/>
                      <p:nvPr/>
                    </p:nvPicPr>
                    <p:blipFill>
                      <a:blip r:embed="rId3"/>
                      <a:stretch>
                        <a:fillRect/>
                      </a:stretch>
                    </p:blipFill>
                    <p:spPr>
                      <a:xfrm>
                        <a:off x="9121192" y="2147141"/>
                        <a:ext cx="914400" cy="198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9BA4A4A-77FF-86B6-2535-37014795C833}"/>
                  </a:ext>
                </a:extLst>
              </p:cNvPr>
              <p:cNvSpPr txBox="1"/>
              <p:nvPr/>
            </p:nvSpPr>
            <p:spPr>
              <a:xfrm>
                <a:off x="7684087" y="1505618"/>
                <a:ext cx="56073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𝑡</m:t>
                          </m:r>
                        </m:sub>
                      </m:sSub>
                    </m:oMath>
                  </m:oMathPara>
                </a14:m>
                <a:endParaRPr lang="zh-CN" altLang="en-US" sz="3600" dirty="0"/>
              </a:p>
            </p:txBody>
          </p:sp>
        </mc:Choice>
        <mc:Fallback xmlns="">
          <p:sp>
            <p:nvSpPr>
              <p:cNvPr id="5" name="文本框 4">
                <a:extLst>
                  <a:ext uri="{FF2B5EF4-FFF2-40B4-BE49-F238E27FC236}">
                    <a16:creationId xmlns:a16="http://schemas.microsoft.com/office/drawing/2014/main" id="{A9BA4A4A-77FF-86B6-2535-37014795C833}"/>
                  </a:ext>
                </a:extLst>
              </p:cNvPr>
              <p:cNvSpPr txBox="1">
                <a:spLocks noRot="1" noChangeAspect="1" noMove="1" noResize="1" noEditPoints="1" noAdjustHandles="1" noChangeArrowheads="1" noChangeShapeType="1" noTextEdit="1"/>
              </p:cNvSpPr>
              <p:nvPr/>
            </p:nvSpPr>
            <p:spPr>
              <a:xfrm>
                <a:off x="7684087" y="1505618"/>
                <a:ext cx="560730" cy="55399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9C7774B-1632-50AC-7D4A-06126EAE826A}"/>
                  </a:ext>
                </a:extLst>
              </p:cNvPr>
              <p:cNvSpPr txBox="1"/>
              <p:nvPr/>
            </p:nvSpPr>
            <p:spPr>
              <a:xfrm>
                <a:off x="11101579" y="1505619"/>
                <a:ext cx="59817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0</m:t>
                          </m:r>
                        </m:sub>
                      </m:sSub>
                    </m:oMath>
                  </m:oMathPara>
                </a14:m>
                <a:endParaRPr lang="zh-CN" altLang="en-US" sz="3600" dirty="0"/>
              </a:p>
            </p:txBody>
          </p:sp>
        </mc:Choice>
        <mc:Fallback xmlns="">
          <p:sp>
            <p:nvSpPr>
              <p:cNvPr id="6" name="文本框 5">
                <a:extLst>
                  <a:ext uri="{FF2B5EF4-FFF2-40B4-BE49-F238E27FC236}">
                    <a16:creationId xmlns:a16="http://schemas.microsoft.com/office/drawing/2014/main" id="{89C7774B-1632-50AC-7D4A-06126EAE826A}"/>
                  </a:ext>
                </a:extLst>
              </p:cNvPr>
              <p:cNvSpPr txBox="1">
                <a:spLocks noRot="1" noChangeAspect="1" noMove="1" noResize="1" noEditPoints="1" noAdjustHandles="1" noChangeArrowheads="1" noChangeShapeType="1" noTextEdit="1"/>
              </p:cNvSpPr>
              <p:nvPr/>
            </p:nvSpPr>
            <p:spPr>
              <a:xfrm>
                <a:off x="11101579" y="1505619"/>
                <a:ext cx="598176" cy="553998"/>
              </a:xfrm>
              <a:prstGeom prst="rect">
                <a:avLst/>
              </a:prstGeom>
              <a:blipFill>
                <a:blip r:embed="rId5"/>
                <a:stretch>
                  <a:fillRect/>
                </a:stretch>
              </a:blipFill>
            </p:spPr>
            <p:txBody>
              <a:bodyPr/>
              <a:lstStyle/>
              <a:p>
                <a:r>
                  <a:rPr lang="zh-CN" altLang="en-US">
                    <a:noFill/>
                  </a:rPr>
                  <a:t> </a:t>
                </a:r>
              </a:p>
            </p:txBody>
          </p:sp>
        </mc:Fallback>
      </mc:AlternateContent>
      <p:cxnSp>
        <p:nvCxnSpPr>
          <p:cNvPr id="7" name="直接箭头连接符 6">
            <a:extLst>
              <a:ext uri="{FF2B5EF4-FFF2-40B4-BE49-F238E27FC236}">
                <a16:creationId xmlns:a16="http://schemas.microsoft.com/office/drawing/2014/main" id="{63CB83DA-14B7-7CFD-20FD-01A53A7453C4}"/>
              </a:ext>
            </a:extLst>
          </p:cNvPr>
          <p:cNvCxnSpPr>
            <a:cxnSpLocks/>
          </p:cNvCxnSpPr>
          <p:nvPr/>
        </p:nvCxnSpPr>
        <p:spPr>
          <a:xfrm>
            <a:off x="8510098" y="1782618"/>
            <a:ext cx="2314575"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AB627F6E-2E86-6D79-3F28-AF5FAC829135}"/>
              </a:ext>
            </a:extLst>
          </p:cNvPr>
          <p:cNvSpPr txBox="1"/>
          <p:nvPr/>
        </p:nvSpPr>
        <p:spPr>
          <a:xfrm>
            <a:off x="4774966" y="1392630"/>
            <a:ext cx="2566290" cy="461665"/>
          </a:xfrm>
          <a:prstGeom prst="rect">
            <a:avLst/>
          </a:prstGeom>
          <a:noFill/>
        </p:spPr>
        <p:txBody>
          <a:bodyPr wrap="square">
            <a:spAutoFit/>
          </a:bodyPr>
          <a:lstStyle/>
          <a:p>
            <a:r>
              <a:rPr lang="en-US" altLang="zh-CN"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rPr>
              <a:t>Individual</a:t>
            </a:r>
            <a:r>
              <a:rPr lang="zh-CN" altLang="en-US"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rPr>
              <a:t>sample</a:t>
            </a:r>
            <a:endParaRPr lang="zh-CN" altLang="en-US"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E49475E-FB65-10B6-05F1-4C21E0EEF8EF}"/>
                  </a:ext>
                </a:extLst>
              </p:cNvPr>
              <p:cNvSpPr txBox="1"/>
              <p:nvPr/>
            </p:nvSpPr>
            <p:spPr>
              <a:xfrm>
                <a:off x="8875343" y="1227779"/>
                <a:ext cx="1467068" cy="369332"/>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𝑖𝑛𝑓𝑒𝑟𝑒𝑛𝑐𝑒</m:t>
                      </m:r>
                    </m:oMath>
                  </m:oMathPara>
                </a14:m>
                <a:endParaRPr lang="zh-CN" altLang="en-US" sz="2400" dirty="0"/>
              </a:p>
            </p:txBody>
          </p:sp>
        </mc:Choice>
        <mc:Fallback xmlns="">
          <p:sp>
            <p:nvSpPr>
              <p:cNvPr id="9" name="文本框 8">
                <a:extLst>
                  <a:ext uri="{FF2B5EF4-FFF2-40B4-BE49-F238E27FC236}">
                    <a16:creationId xmlns:a16="http://schemas.microsoft.com/office/drawing/2014/main" id="{5E49475E-FB65-10B6-05F1-4C21E0EEF8EF}"/>
                  </a:ext>
                </a:extLst>
              </p:cNvPr>
              <p:cNvSpPr txBox="1">
                <a:spLocks noRot="1" noChangeAspect="1" noMove="1" noResize="1" noEditPoints="1" noAdjustHandles="1" noChangeArrowheads="1" noChangeShapeType="1" noTextEdit="1"/>
              </p:cNvSpPr>
              <p:nvPr/>
            </p:nvSpPr>
            <p:spPr>
              <a:xfrm>
                <a:off x="8875343" y="1227779"/>
                <a:ext cx="1467068" cy="369332"/>
              </a:xfrm>
              <a:prstGeom prst="rect">
                <a:avLst/>
              </a:prstGeom>
              <a:blipFill>
                <a:blip r:embed="rId6"/>
                <a:stretch>
                  <a:fillRect l="-6224" r="-5809" b="-34426"/>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9D38008-07BA-F2AB-96E8-981A77B7C712}"/>
              </a:ext>
            </a:extLst>
          </p:cNvPr>
          <p:cNvSpPr txBox="1"/>
          <p:nvPr/>
        </p:nvSpPr>
        <p:spPr>
          <a:xfrm>
            <a:off x="4908720" y="3129671"/>
            <a:ext cx="2566290" cy="461665"/>
          </a:xfrm>
          <a:prstGeom prst="rect">
            <a:avLst/>
          </a:prstGeom>
          <a:noFill/>
        </p:spPr>
        <p:txBody>
          <a:bodyPr wrap="square">
            <a:spAutoFit/>
          </a:bodyPr>
          <a:lstStyle/>
          <a:p>
            <a:r>
              <a:rPr lang="en-US" altLang="zh-CN"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rPr>
              <a:t>Ensemble Mean</a:t>
            </a:r>
            <a:endParaRPr lang="zh-CN" altLang="en-US"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12F6AD6-C910-46B5-80FB-07C74A8335B5}"/>
                  </a:ext>
                </a:extLst>
              </p:cNvPr>
              <p:cNvSpPr txBox="1"/>
              <p:nvPr/>
            </p:nvSpPr>
            <p:spPr>
              <a:xfrm>
                <a:off x="7613463" y="3083505"/>
                <a:ext cx="56073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𝑡</m:t>
                          </m:r>
                        </m:sub>
                      </m:sSub>
                    </m:oMath>
                  </m:oMathPara>
                </a14:m>
                <a:endParaRPr lang="zh-CN" altLang="en-US" sz="3600" dirty="0"/>
              </a:p>
            </p:txBody>
          </p:sp>
        </mc:Choice>
        <mc:Fallback xmlns="">
          <p:sp>
            <p:nvSpPr>
              <p:cNvPr id="11" name="文本框 10">
                <a:extLst>
                  <a:ext uri="{FF2B5EF4-FFF2-40B4-BE49-F238E27FC236}">
                    <a16:creationId xmlns:a16="http://schemas.microsoft.com/office/drawing/2014/main" id="{E12F6AD6-C910-46B5-80FB-07C74A8335B5}"/>
                  </a:ext>
                </a:extLst>
              </p:cNvPr>
              <p:cNvSpPr txBox="1">
                <a:spLocks noRot="1" noChangeAspect="1" noMove="1" noResize="1" noEditPoints="1" noAdjustHandles="1" noChangeArrowheads="1" noChangeShapeType="1" noTextEdit="1"/>
              </p:cNvSpPr>
              <p:nvPr/>
            </p:nvSpPr>
            <p:spPr>
              <a:xfrm>
                <a:off x="7613463" y="3083505"/>
                <a:ext cx="560730" cy="553998"/>
              </a:xfrm>
              <a:prstGeom prst="rect">
                <a:avLst/>
              </a:prstGeom>
              <a:blipFill>
                <a:blip r:embed="rId7"/>
                <a:stretch>
                  <a:fillRect/>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7929DDAB-4574-BA89-6223-6387224B8535}"/>
              </a:ext>
            </a:extLst>
          </p:cNvPr>
          <p:cNvCxnSpPr>
            <a:cxnSpLocks/>
          </p:cNvCxnSpPr>
          <p:nvPr/>
        </p:nvCxnSpPr>
        <p:spPr>
          <a:xfrm flipV="1">
            <a:off x="8470118" y="2497359"/>
            <a:ext cx="486428" cy="90931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682B9BC-0147-A47A-6153-F1BB274F214A}"/>
              </a:ext>
            </a:extLst>
          </p:cNvPr>
          <p:cNvCxnSpPr>
            <a:cxnSpLocks/>
          </p:cNvCxnSpPr>
          <p:nvPr/>
        </p:nvCxnSpPr>
        <p:spPr>
          <a:xfrm>
            <a:off x="8470118" y="3406670"/>
            <a:ext cx="486428" cy="90724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0A4D272D-26EA-ABA8-8AC4-0F2BE3808B9C}"/>
              </a:ext>
            </a:extLst>
          </p:cNvPr>
          <p:cNvCxnSpPr>
            <a:cxnSpLocks/>
          </p:cNvCxnSpPr>
          <p:nvPr/>
        </p:nvCxnSpPr>
        <p:spPr>
          <a:xfrm>
            <a:off x="8470118" y="3406670"/>
            <a:ext cx="551742"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DF3FC67-32F6-5F95-1827-BB7B9A23F7F3}"/>
                  </a:ext>
                </a:extLst>
              </p:cNvPr>
              <p:cNvSpPr txBox="1"/>
              <p:nvPr/>
            </p:nvSpPr>
            <p:spPr>
              <a:xfrm>
                <a:off x="9332386" y="2203770"/>
                <a:ext cx="671787" cy="449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0,1</m:t>
                          </m:r>
                        </m:sub>
                      </m:sSub>
                    </m:oMath>
                  </m:oMathPara>
                </a14:m>
                <a:endParaRPr lang="zh-CN" altLang="en-US" sz="2800" dirty="0"/>
              </a:p>
            </p:txBody>
          </p:sp>
        </mc:Choice>
        <mc:Fallback xmlns="">
          <p:sp>
            <p:nvSpPr>
              <p:cNvPr id="15" name="文本框 14">
                <a:extLst>
                  <a:ext uri="{FF2B5EF4-FFF2-40B4-BE49-F238E27FC236}">
                    <a16:creationId xmlns:a16="http://schemas.microsoft.com/office/drawing/2014/main" id="{8DF3FC67-32F6-5F95-1827-BB7B9A23F7F3}"/>
                  </a:ext>
                </a:extLst>
              </p:cNvPr>
              <p:cNvSpPr txBox="1">
                <a:spLocks noRot="1" noChangeAspect="1" noMove="1" noResize="1" noEditPoints="1" noAdjustHandles="1" noChangeArrowheads="1" noChangeShapeType="1" noTextEdit="1"/>
              </p:cNvSpPr>
              <p:nvPr/>
            </p:nvSpPr>
            <p:spPr>
              <a:xfrm>
                <a:off x="9332386" y="2203770"/>
                <a:ext cx="671787" cy="44980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7857300-CEB5-FF85-FB4A-D67FCE40FD47}"/>
                  </a:ext>
                </a:extLst>
              </p:cNvPr>
              <p:cNvSpPr txBox="1"/>
              <p:nvPr/>
            </p:nvSpPr>
            <p:spPr>
              <a:xfrm>
                <a:off x="9278559" y="3951963"/>
                <a:ext cx="693908" cy="449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0,</m:t>
                          </m:r>
                          <m:r>
                            <a:rPr lang="en-US" altLang="zh-CN" sz="2800" b="0" i="1" smtClean="0">
                              <a:latin typeface="Cambria Math" panose="02040503050406030204" pitchFamily="18" charset="0"/>
                            </a:rPr>
                            <m:t>𝑛</m:t>
                          </m:r>
                        </m:sub>
                      </m:sSub>
                    </m:oMath>
                  </m:oMathPara>
                </a14:m>
                <a:endParaRPr lang="zh-CN" altLang="en-US" sz="2800" dirty="0"/>
              </a:p>
            </p:txBody>
          </p:sp>
        </mc:Choice>
        <mc:Fallback xmlns="">
          <p:sp>
            <p:nvSpPr>
              <p:cNvPr id="16" name="文本框 15">
                <a:extLst>
                  <a:ext uri="{FF2B5EF4-FFF2-40B4-BE49-F238E27FC236}">
                    <a16:creationId xmlns:a16="http://schemas.microsoft.com/office/drawing/2014/main" id="{27857300-CEB5-FF85-FB4A-D67FCE40FD47}"/>
                  </a:ext>
                </a:extLst>
              </p:cNvPr>
              <p:cNvSpPr txBox="1">
                <a:spLocks noRot="1" noChangeAspect="1" noMove="1" noResize="1" noEditPoints="1" noAdjustHandles="1" noChangeArrowheads="1" noChangeShapeType="1" noTextEdit="1"/>
              </p:cNvSpPr>
              <p:nvPr/>
            </p:nvSpPr>
            <p:spPr>
              <a:xfrm>
                <a:off x="9278559" y="3951963"/>
                <a:ext cx="693908" cy="44980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E9FF0C9-82DB-D8F7-6CAF-99D84C31F696}"/>
                  </a:ext>
                </a:extLst>
              </p:cNvPr>
              <p:cNvSpPr txBox="1"/>
              <p:nvPr/>
            </p:nvSpPr>
            <p:spPr>
              <a:xfrm>
                <a:off x="9388436" y="3092744"/>
                <a:ext cx="37991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xmlns="">
          <p:sp>
            <p:nvSpPr>
              <p:cNvPr id="17" name="文本框 16">
                <a:extLst>
                  <a:ext uri="{FF2B5EF4-FFF2-40B4-BE49-F238E27FC236}">
                    <a16:creationId xmlns:a16="http://schemas.microsoft.com/office/drawing/2014/main" id="{1E9FF0C9-82DB-D8F7-6CAF-99D84C31F696}"/>
                  </a:ext>
                </a:extLst>
              </p:cNvPr>
              <p:cNvSpPr txBox="1">
                <a:spLocks noRot="1" noChangeAspect="1" noMove="1" noResize="1" noEditPoints="1" noAdjustHandles="1" noChangeArrowheads="1" noChangeShapeType="1" noTextEdit="1"/>
              </p:cNvSpPr>
              <p:nvPr/>
            </p:nvSpPr>
            <p:spPr>
              <a:xfrm>
                <a:off x="9388436" y="3092744"/>
                <a:ext cx="379912" cy="430887"/>
              </a:xfrm>
              <a:prstGeom prst="rect">
                <a:avLst/>
              </a:prstGeom>
              <a:blipFill>
                <a:blip r:embed="rId10"/>
                <a:stretch>
                  <a:fillRect/>
                </a:stretch>
              </a:blipFill>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9C2A1317-8EF7-D883-C0C5-4435899C266E}"/>
              </a:ext>
            </a:extLst>
          </p:cNvPr>
          <p:cNvCxnSpPr>
            <a:cxnSpLocks/>
          </p:cNvCxnSpPr>
          <p:nvPr/>
        </p:nvCxnSpPr>
        <p:spPr>
          <a:xfrm>
            <a:off x="10324063" y="2497359"/>
            <a:ext cx="506186" cy="90931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6C376C5A-398D-6198-6EC5-B335800C8A96}"/>
              </a:ext>
            </a:extLst>
          </p:cNvPr>
          <p:cNvCxnSpPr>
            <a:cxnSpLocks/>
          </p:cNvCxnSpPr>
          <p:nvPr/>
        </p:nvCxnSpPr>
        <p:spPr>
          <a:xfrm>
            <a:off x="10278507" y="3402942"/>
            <a:ext cx="551742"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20EB423-7632-1391-1251-6655C21C71CD}"/>
              </a:ext>
            </a:extLst>
          </p:cNvPr>
          <p:cNvCxnSpPr>
            <a:cxnSpLocks/>
          </p:cNvCxnSpPr>
          <p:nvPr/>
        </p:nvCxnSpPr>
        <p:spPr>
          <a:xfrm flipV="1">
            <a:off x="10324063" y="3399215"/>
            <a:ext cx="517071" cy="914698"/>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640237F-7A5F-FABB-6E82-C32B9A80DCF5}"/>
                  </a:ext>
                </a:extLst>
              </p:cNvPr>
              <p:cNvSpPr txBox="1"/>
              <p:nvPr/>
            </p:nvSpPr>
            <p:spPr>
              <a:xfrm>
                <a:off x="11107155" y="3031188"/>
                <a:ext cx="59817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600" b="0" i="1" smtClean="0">
                              <a:latin typeface="Cambria Math" panose="02040503050406030204" pitchFamily="18" charset="0"/>
                            </a:rPr>
                          </m:ctrlPr>
                        </m:accPr>
                        <m:e>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0</m:t>
                              </m:r>
                            </m:sub>
                          </m:sSub>
                        </m:e>
                      </m:acc>
                    </m:oMath>
                  </m:oMathPara>
                </a14:m>
                <a:endParaRPr lang="en-US" altLang="zh-CN" sz="3600" b="0" dirty="0"/>
              </a:p>
            </p:txBody>
          </p:sp>
        </mc:Choice>
        <mc:Fallback xmlns="">
          <p:sp>
            <p:nvSpPr>
              <p:cNvPr id="21" name="文本框 20">
                <a:extLst>
                  <a:ext uri="{FF2B5EF4-FFF2-40B4-BE49-F238E27FC236}">
                    <a16:creationId xmlns:a16="http://schemas.microsoft.com/office/drawing/2014/main" id="{A640237F-7A5F-FABB-6E82-C32B9A80DCF5}"/>
                  </a:ext>
                </a:extLst>
              </p:cNvPr>
              <p:cNvSpPr txBox="1">
                <a:spLocks noRot="1" noChangeAspect="1" noMove="1" noResize="1" noEditPoints="1" noAdjustHandles="1" noChangeArrowheads="1" noChangeShapeType="1" noTextEdit="1"/>
              </p:cNvSpPr>
              <p:nvPr/>
            </p:nvSpPr>
            <p:spPr>
              <a:xfrm>
                <a:off x="11107155" y="3031188"/>
                <a:ext cx="598176" cy="55399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DB87CFE-BB7D-4766-F443-B2F3290FFB34}"/>
                  </a:ext>
                </a:extLst>
              </p:cNvPr>
              <p:cNvSpPr txBox="1"/>
              <p:nvPr/>
            </p:nvSpPr>
            <p:spPr>
              <a:xfrm>
                <a:off x="8891979" y="2850809"/>
                <a:ext cx="1467068" cy="369332"/>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𝑖𝑛𝑓𝑒𝑟𝑒𝑛𝑐𝑒</m:t>
                      </m:r>
                    </m:oMath>
                  </m:oMathPara>
                </a14:m>
                <a:endParaRPr lang="zh-CN" altLang="en-US" sz="2400" dirty="0"/>
              </a:p>
            </p:txBody>
          </p:sp>
        </mc:Choice>
        <mc:Fallback xmlns="">
          <p:sp>
            <p:nvSpPr>
              <p:cNvPr id="22" name="文本框 21">
                <a:extLst>
                  <a:ext uri="{FF2B5EF4-FFF2-40B4-BE49-F238E27FC236}">
                    <a16:creationId xmlns:a16="http://schemas.microsoft.com/office/drawing/2014/main" id="{6DB87CFE-BB7D-4766-F443-B2F3290FFB34}"/>
                  </a:ext>
                </a:extLst>
              </p:cNvPr>
              <p:cNvSpPr txBox="1">
                <a:spLocks noRot="1" noChangeAspect="1" noMove="1" noResize="1" noEditPoints="1" noAdjustHandles="1" noChangeArrowheads="1" noChangeShapeType="1" noTextEdit="1"/>
              </p:cNvSpPr>
              <p:nvPr/>
            </p:nvSpPr>
            <p:spPr>
              <a:xfrm>
                <a:off x="8891979" y="2850809"/>
                <a:ext cx="1467068" cy="369332"/>
              </a:xfrm>
              <a:prstGeom prst="rect">
                <a:avLst/>
              </a:prstGeom>
              <a:blipFill>
                <a:blip r:embed="rId12"/>
                <a:stretch>
                  <a:fillRect l="-6250" r="-6250" b="-35000"/>
                </a:stretch>
              </a:blipFill>
            </p:spPr>
            <p:txBody>
              <a:bodyPr/>
              <a:lstStyle/>
              <a:p>
                <a:r>
                  <a:rPr lang="zh-CN" altLang="en-US">
                    <a:noFill/>
                  </a:rPr>
                  <a:t> </a:t>
                </a:r>
              </a:p>
            </p:txBody>
          </p:sp>
        </mc:Fallback>
      </mc:AlternateContent>
      <p:sp>
        <p:nvSpPr>
          <p:cNvPr id="23" name="矩形: 圆角 22">
            <a:extLst>
              <a:ext uri="{FF2B5EF4-FFF2-40B4-BE49-F238E27FC236}">
                <a16:creationId xmlns:a16="http://schemas.microsoft.com/office/drawing/2014/main" id="{1B2D67FC-B8DB-484D-9984-534291A76288}"/>
              </a:ext>
            </a:extLst>
          </p:cNvPr>
          <p:cNvSpPr/>
          <p:nvPr/>
        </p:nvSpPr>
        <p:spPr>
          <a:xfrm>
            <a:off x="4310490" y="1094981"/>
            <a:ext cx="7620935" cy="1044558"/>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BFDD2515-6A53-4FC3-E8EC-E0F7A9E9528B}"/>
              </a:ext>
            </a:extLst>
          </p:cNvPr>
          <p:cNvSpPr/>
          <p:nvPr/>
        </p:nvSpPr>
        <p:spPr>
          <a:xfrm>
            <a:off x="4310490" y="2252634"/>
            <a:ext cx="7620935" cy="2194617"/>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C74D49E9-FDAF-7B90-01B0-1D5CFDFDA35A}"/>
              </a:ext>
            </a:extLst>
          </p:cNvPr>
          <p:cNvSpPr txBox="1"/>
          <p:nvPr/>
        </p:nvSpPr>
        <p:spPr>
          <a:xfrm>
            <a:off x="500166" y="3536691"/>
            <a:ext cx="3474790" cy="2951705"/>
          </a:xfrm>
          <a:prstGeom prst="rect">
            <a:avLst/>
          </a:prstGeom>
          <a:noFill/>
        </p:spPr>
        <p:txBody>
          <a:bodyPr wrap="square">
            <a:spAutoFit/>
          </a:bodyPr>
          <a:lstStyle/>
          <a:p>
            <a:pPr>
              <a:lnSpc>
                <a:spcPct val="150000"/>
              </a:lnSpc>
            </a:pPr>
            <a:r>
              <a:rPr lang="zh-CN" altLang="en-US"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单样本推断</a:t>
            </a:r>
            <a:endParaRPr lang="en-US" altLang="zh-CN" sz="18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推断每一步中均值方差采样具有随机性，推断得到的结果不稳定</a:t>
            </a:r>
            <a:endParaRPr lang="en-US" altLang="zh-CN" sz="18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集成均值推断</a:t>
            </a:r>
            <a:endParaRPr lang="en-US" altLang="zh-CN" sz="1800" b="1" dirty="0">
              <a:solidFill>
                <a:schemeClr val="accent5">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将推断得到的多张图像进行平均，或在每一步对采样的均值方差进行平均，使超分结果更稳健</a:t>
            </a:r>
            <a:endParaRPr lang="zh-CN" altLang="en-US" sz="18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8" name="对象 47">
            <a:extLst>
              <a:ext uri="{FF2B5EF4-FFF2-40B4-BE49-F238E27FC236}">
                <a16:creationId xmlns:a16="http://schemas.microsoft.com/office/drawing/2014/main" id="{680A41C1-B934-B21B-9036-632023E1E47C}"/>
              </a:ext>
            </a:extLst>
          </p:cNvPr>
          <p:cNvGraphicFramePr>
            <a:graphicFrameLocks noChangeAspect="1"/>
          </p:cNvGraphicFramePr>
          <p:nvPr>
            <p:extLst>
              <p:ext uri="{D42A27DB-BD31-4B8C-83A1-F6EECF244321}">
                <p14:modId xmlns:p14="http://schemas.microsoft.com/office/powerpoint/2010/main" val="1533428143"/>
              </p:ext>
            </p:extLst>
          </p:nvPr>
        </p:nvGraphicFramePr>
        <p:xfrm>
          <a:off x="9316928" y="4205109"/>
          <a:ext cx="914400" cy="198438"/>
        </p:xfrm>
        <a:graphic>
          <a:graphicData uri="http://schemas.openxmlformats.org/presentationml/2006/ole">
            <mc:AlternateContent xmlns:mc="http://schemas.openxmlformats.org/markup-compatibility/2006">
              <mc:Choice xmlns:v="urn:schemas-microsoft-com:vml" Requires="v">
                <p:oleObj name="Equation" r:id="rId13" imgW="914400" imgH="198720" progId="Equation.DSMT4">
                  <p:embed/>
                </p:oleObj>
              </mc:Choice>
              <mc:Fallback>
                <p:oleObj name="Equation" r:id="rId13" imgW="914400" imgH="198720" progId="Equation.DSMT4">
                  <p:embed/>
                  <p:pic>
                    <p:nvPicPr>
                      <p:cNvPr id="7" name="对象 6">
                        <a:extLst>
                          <a:ext uri="{FF2B5EF4-FFF2-40B4-BE49-F238E27FC236}">
                            <a16:creationId xmlns:a16="http://schemas.microsoft.com/office/drawing/2014/main" id="{265879F9-5234-D105-5321-14A0992ADF1D}"/>
                          </a:ext>
                        </a:extLst>
                      </p:cNvPr>
                      <p:cNvPicPr/>
                      <p:nvPr/>
                    </p:nvPicPr>
                    <p:blipFill>
                      <a:blip r:embed="rId3"/>
                      <a:stretch>
                        <a:fillRect/>
                      </a:stretch>
                    </p:blipFill>
                    <p:spPr>
                      <a:xfrm>
                        <a:off x="9316928" y="4205109"/>
                        <a:ext cx="914400" cy="198438"/>
                      </a:xfrm>
                      <a:prstGeom prst="rect">
                        <a:avLst/>
                      </a:prstGeom>
                    </p:spPr>
                  </p:pic>
                </p:oleObj>
              </mc:Fallback>
            </mc:AlternateContent>
          </a:graphicData>
        </a:graphic>
      </p:graphicFrame>
      <p:graphicFrame>
        <p:nvGraphicFramePr>
          <p:cNvPr id="72" name="对象 71">
            <a:extLst>
              <a:ext uri="{FF2B5EF4-FFF2-40B4-BE49-F238E27FC236}">
                <a16:creationId xmlns:a16="http://schemas.microsoft.com/office/drawing/2014/main" id="{201AC81B-7A37-B941-B2BA-1DEC65F82CA5}"/>
              </a:ext>
            </a:extLst>
          </p:cNvPr>
          <p:cNvGraphicFramePr>
            <a:graphicFrameLocks noChangeAspect="1"/>
          </p:cNvGraphicFramePr>
          <p:nvPr>
            <p:extLst>
              <p:ext uri="{D42A27DB-BD31-4B8C-83A1-F6EECF244321}">
                <p14:modId xmlns:p14="http://schemas.microsoft.com/office/powerpoint/2010/main" val="2405664586"/>
              </p:ext>
            </p:extLst>
          </p:nvPr>
        </p:nvGraphicFramePr>
        <p:xfrm>
          <a:off x="9115616" y="4600195"/>
          <a:ext cx="914400" cy="198438"/>
        </p:xfrm>
        <a:graphic>
          <a:graphicData uri="http://schemas.openxmlformats.org/presentationml/2006/ole">
            <mc:AlternateContent xmlns:mc="http://schemas.openxmlformats.org/markup-compatibility/2006">
              <mc:Choice xmlns:v="urn:schemas-microsoft-com:vml" Requires="v">
                <p:oleObj name="Equation" r:id="rId13" imgW="914400" imgH="198720" progId="Equation.DSMT4">
                  <p:embed/>
                </p:oleObj>
              </mc:Choice>
              <mc:Fallback>
                <p:oleObj name="Equation" r:id="rId13" imgW="914400" imgH="198720" progId="Equation.DSMT4">
                  <p:embed/>
                  <p:pic>
                    <p:nvPicPr>
                      <p:cNvPr id="7" name="对象 6">
                        <a:extLst>
                          <a:ext uri="{FF2B5EF4-FFF2-40B4-BE49-F238E27FC236}">
                            <a16:creationId xmlns:a16="http://schemas.microsoft.com/office/drawing/2014/main" id="{265879F9-5234-D105-5321-14A0992ADF1D}"/>
                          </a:ext>
                        </a:extLst>
                      </p:cNvPr>
                      <p:cNvPicPr/>
                      <p:nvPr/>
                    </p:nvPicPr>
                    <p:blipFill>
                      <a:blip r:embed="rId3"/>
                      <a:stretch>
                        <a:fillRect/>
                      </a:stretch>
                    </p:blipFill>
                    <p:spPr>
                      <a:xfrm>
                        <a:off x="9115616" y="4600195"/>
                        <a:ext cx="914400" cy="198438"/>
                      </a:xfrm>
                      <a:prstGeom prst="rect">
                        <a:avLst/>
                      </a:prstGeom>
                    </p:spPr>
                  </p:pic>
                </p:oleObj>
              </mc:Fallback>
            </mc:AlternateContent>
          </a:graphicData>
        </a:graphic>
      </p:graphicFrame>
      <p:sp>
        <p:nvSpPr>
          <p:cNvPr id="73" name="文本框 72">
            <a:extLst>
              <a:ext uri="{FF2B5EF4-FFF2-40B4-BE49-F238E27FC236}">
                <a16:creationId xmlns:a16="http://schemas.microsoft.com/office/drawing/2014/main" id="{0C9A1D5F-266C-3EAB-9DE0-83FAC9AFAADF}"/>
              </a:ext>
            </a:extLst>
          </p:cNvPr>
          <p:cNvSpPr txBox="1"/>
          <p:nvPr/>
        </p:nvSpPr>
        <p:spPr>
          <a:xfrm>
            <a:off x="4443771" y="5429461"/>
            <a:ext cx="3375805" cy="461665"/>
          </a:xfrm>
          <a:prstGeom prst="rect">
            <a:avLst/>
          </a:prstGeom>
          <a:noFill/>
        </p:spPr>
        <p:txBody>
          <a:bodyPr wrap="square">
            <a:spAutoFit/>
          </a:bodyPr>
          <a:lstStyle/>
          <a:p>
            <a:r>
              <a:rPr lang="en-US" altLang="zh-CN"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rPr>
              <a:t>Ensemble Mean By Step</a:t>
            </a:r>
            <a:endParaRPr lang="zh-CN" altLang="en-US" sz="2400" b="1" dirty="0">
              <a:solidFill>
                <a:schemeClr val="accent5">
                  <a:lumMod val="75000"/>
                </a:schemeClr>
              </a:solidFill>
              <a:latin typeface="Times New Roman" panose="02020603050405020304" pitchFamily="18" charset="0"/>
              <a:ea typeface="华文中宋"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5FC7D486-5222-08D6-AC8A-A67495F7060F}"/>
                  </a:ext>
                </a:extLst>
              </p:cNvPr>
              <p:cNvSpPr txBox="1"/>
              <p:nvPr/>
            </p:nvSpPr>
            <p:spPr>
              <a:xfrm>
                <a:off x="7792165" y="5383295"/>
                <a:ext cx="56073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𝑡</m:t>
                          </m:r>
                        </m:sub>
                      </m:sSub>
                    </m:oMath>
                  </m:oMathPara>
                </a14:m>
                <a:endParaRPr lang="zh-CN" altLang="en-US" sz="3600" dirty="0"/>
              </a:p>
            </p:txBody>
          </p:sp>
        </mc:Choice>
        <mc:Fallback xmlns="">
          <p:sp>
            <p:nvSpPr>
              <p:cNvPr id="74" name="文本框 73">
                <a:extLst>
                  <a:ext uri="{FF2B5EF4-FFF2-40B4-BE49-F238E27FC236}">
                    <a16:creationId xmlns:a16="http://schemas.microsoft.com/office/drawing/2014/main" id="{5FC7D486-5222-08D6-AC8A-A67495F7060F}"/>
                  </a:ext>
                </a:extLst>
              </p:cNvPr>
              <p:cNvSpPr txBox="1">
                <a:spLocks noRot="1" noChangeAspect="1" noMove="1" noResize="1" noEditPoints="1" noAdjustHandles="1" noChangeArrowheads="1" noChangeShapeType="1" noTextEdit="1"/>
              </p:cNvSpPr>
              <p:nvPr/>
            </p:nvSpPr>
            <p:spPr>
              <a:xfrm>
                <a:off x="7792165" y="5383295"/>
                <a:ext cx="560730" cy="553998"/>
              </a:xfrm>
              <a:prstGeom prst="rect">
                <a:avLst/>
              </a:prstGeom>
              <a:blipFill>
                <a:blip r:embed="rId14"/>
                <a:stretch>
                  <a:fillRect/>
                </a:stretch>
              </a:blipFill>
            </p:spPr>
            <p:txBody>
              <a:bodyPr/>
              <a:lstStyle/>
              <a:p>
                <a:r>
                  <a:rPr lang="zh-CN" altLang="en-US">
                    <a:noFill/>
                  </a:rPr>
                  <a:t> </a:t>
                </a:r>
              </a:p>
            </p:txBody>
          </p:sp>
        </mc:Fallback>
      </mc:AlternateContent>
      <p:cxnSp>
        <p:nvCxnSpPr>
          <p:cNvPr id="75" name="直接箭头连接符 74">
            <a:extLst>
              <a:ext uri="{FF2B5EF4-FFF2-40B4-BE49-F238E27FC236}">
                <a16:creationId xmlns:a16="http://schemas.microsoft.com/office/drawing/2014/main" id="{3B85CCC6-602B-98CA-FB90-C2E2D6B274C6}"/>
              </a:ext>
            </a:extLst>
          </p:cNvPr>
          <p:cNvCxnSpPr>
            <a:cxnSpLocks/>
          </p:cNvCxnSpPr>
          <p:nvPr/>
        </p:nvCxnSpPr>
        <p:spPr>
          <a:xfrm flipV="1">
            <a:off x="8459106" y="4849466"/>
            <a:ext cx="486428" cy="909311"/>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4D07FB85-1002-F9EB-3A5D-9992841887E3}"/>
              </a:ext>
            </a:extLst>
          </p:cNvPr>
          <p:cNvCxnSpPr>
            <a:cxnSpLocks/>
          </p:cNvCxnSpPr>
          <p:nvPr/>
        </p:nvCxnSpPr>
        <p:spPr>
          <a:xfrm>
            <a:off x="8459106" y="5758777"/>
            <a:ext cx="562754" cy="729619"/>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7736F387-4ADC-3DA5-0278-7381DA3B32C2}"/>
              </a:ext>
            </a:extLst>
          </p:cNvPr>
          <p:cNvCxnSpPr>
            <a:cxnSpLocks/>
          </p:cNvCxnSpPr>
          <p:nvPr/>
        </p:nvCxnSpPr>
        <p:spPr>
          <a:xfrm>
            <a:off x="8459106" y="5758777"/>
            <a:ext cx="551742" cy="0"/>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45FF073-BE8D-62A6-65A7-A3CE87271092}"/>
                  </a:ext>
                </a:extLst>
              </p:cNvPr>
              <p:cNvSpPr txBox="1"/>
              <p:nvPr/>
            </p:nvSpPr>
            <p:spPr>
              <a:xfrm>
                <a:off x="9136786" y="4593058"/>
                <a:ext cx="985013" cy="449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−1,1</m:t>
                          </m:r>
                        </m:sub>
                      </m:sSub>
                    </m:oMath>
                  </m:oMathPara>
                </a14:m>
                <a:endParaRPr lang="zh-CN" altLang="en-US" sz="2800" dirty="0"/>
              </a:p>
            </p:txBody>
          </p:sp>
        </mc:Choice>
        <mc:Fallback xmlns="">
          <p:sp>
            <p:nvSpPr>
              <p:cNvPr id="78" name="文本框 77">
                <a:extLst>
                  <a:ext uri="{FF2B5EF4-FFF2-40B4-BE49-F238E27FC236}">
                    <a16:creationId xmlns:a16="http://schemas.microsoft.com/office/drawing/2014/main" id="{545FF073-BE8D-62A6-65A7-A3CE87271092}"/>
                  </a:ext>
                </a:extLst>
              </p:cNvPr>
              <p:cNvSpPr txBox="1">
                <a:spLocks noRot="1" noChangeAspect="1" noMove="1" noResize="1" noEditPoints="1" noAdjustHandles="1" noChangeArrowheads="1" noChangeShapeType="1" noTextEdit="1"/>
              </p:cNvSpPr>
              <p:nvPr/>
            </p:nvSpPr>
            <p:spPr>
              <a:xfrm>
                <a:off x="9136786" y="4593058"/>
                <a:ext cx="985013" cy="449803"/>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21BB3779-FA68-99D4-D5D4-FB2688A9FBC8}"/>
                  </a:ext>
                </a:extLst>
              </p:cNvPr>
              <p:cNvSpPr txBox="1"/>
              <p:nvPr/>
            </p:nvSpPr>
            <p:spPr>
              <a:xfrm>
                <a:off x="9136786" y="6098428"/>
                <a:ext cx="1007135" cy="449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𝑛</m:t>
                          </m:r>
                        </m:sub>
                      </m:sSub>
                    </m:oMath>
                  </m:oMathPara>
                </a14:m>
                <a:endParaRPr lang="zh-CN" altLang="en-US" sz="2800" dirty="0"/>
              </a:p>
            </p:txBody>
          </p:sp>
        </mc:Choice>
        <mc:Fallback xmlns="">
          <p:sp>
            <p:nvSpPr>
              <p:cNvPr id="79" name="文本框 78">
                <a:extLst>
                  <a:ext uri="{FF2B5EF4-FFF2-40B4-BE49-F238E27FC236}">
                    <a16:creationId xmlns:a16="http://schemas.microsoft.com/office/drawing/2014/main" id="{21BB3779-FA68-99D4-D5D4-FB2688A9FBC8}"/>
                  </a:ext>
                </a:extLst>
              </p:cNvPr>
              <p:cNvSpPr txBox="1">
                <a:spLocks noRot="1" noChangeAspect="1" noMove="1" noResize="1" noEditPoints="1" noAdjustHandles="1" noChangeArrowheads="1" noChangeShapeType="1" noTextEdit="1"/>
              </p:cNvSpPr>
              <p:nvPr/>
            </p:nvSpPr>
            <p:spPr>
              <a:xfrm>
                <a:off x="9136786" y="6098428"/>
                <a:ext cx="1007135" cy="449803"/>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6D4196E6-17C0-3AD2-ADD4-3566A3B63D53}"/>
                  </a:ext>
                </a:extLst>
              </p:cNvPr>
              <p:cNvSpPr txBox="1"/>
              <p:nvPr/>
            </p:nvSpPr>
            <p:spPr>
              <a:xfrm>
                <a:off x="9377424" y="5444851"/>
                <a:ext cx="37991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xmlns="">
          <p:sp>
            <p:nvSpPr>
              <p:cNvPr id="80" name="文本框 79">
                <a:extLst>
                  <a:ext uri="{FF2B5EF4-FFF2-40B4-BE49-F238E27FC236}">
                    <a16:creationId xmlns:a16="http://schemas.microsoft.com/office/drawing/2014/main" id="{6D4196E6-17C0-3AD2-ADD4-3566A3B63D53}"/>
                  </a:ext>
                </a:extLst>
              </p:cNvPr>
              <p:cNvSpPr txBox="1">
                <a:spLocks noRot="1" noChangeAspect="1" noMove="1" noResize="1" noEditPoints="1" noAdjustHandles="1" noChangeArrowheads="1" noChangeShapeType="1" noTextEdit="1"/>
              </p:cNvSpPr>
              <p:nvPr/>
            </p:nvSpPr>
            <p:spPr>
              <a:xfrm>
                <a:off x="9377424" y="5444851"/>
                <a:ext cx="379912" cy="430887"/>
              </a:xfrm>
              <a:prstGeom prst="rect">
                <a:avLst/>
              </a:prstGeom>
              <a:blipFill>
                <a:blip r:embed="rId17"/>
                <a:stretch>
                  <a:fillRect/>
                </a:stretch>
              </a:blipFill>
            </p:spPr>
            <p:txBody>
              <a:bodyPr/>
              <a:lstStyle/>
              <a:p>
                <a:r>
                  <a:rPr lang="zh-CN" altLang="en-US">
                    <a:noFill/>
                  </a:rPr>
                  <a:t> </a:t>
                </a:r>
              </a:p>
            </p:txBody>
          </p:sp>
        </mc:Fallback>
      </mc:AlternateContent>
      <p:cxnSp>
        <p:nvCxnSpPr>
          <p:cNvPr id="81" name="直接箭头连接符 80">
            <a:extLst>
              <a:ext uri="{FF2B5EF4-FFF2-40B4-BE49-F238E27FC236}">
                <a16:creationId xmlns:a16="http://schemas.microsoft.com/office/drawing/2014/main" id="{4A271006-1264-BF90-7C4B-0D1B04736514}"/>
              </a:ext>
            </a:extLst>
          </p:cNvPr>
          <p:cNvCxnSpPr>
            <a:cxnSpLocks/>
          </p:cNvCxnSpPr>
          <p:nvPr/>
        </p:nvCxnSpPr>
        <p:spPr>
          <a:xfrm>
            <a:off x="10383369" y="5012543"/>
            <a:ext cx="435868" cy="746234"/>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F48D7435-2342-CBBF-F948-7A1EA8E689B5}"/>
              </a:ext>
            </a:extLst>
          </p:cNvPr>
          <p:cNvCxnSpPr>
            <a:cxnSpLocks/>
          </p:cNvCxnSpPr>
          <p:nvPr/>
        </p:nvCxnSpPr>
        <p:spPr>
          <a:xfrm>
            <a:off x="10267495" y="5755049"/>
            <a:ext cx="551742" cy="0"/>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5C833D6C-572C-8EB9-C35F-5B96BD34F195}"/>
              </a:ext>
            </a:extLst>
          </p:cNvPr>
          <p:cNvCxnSpPr>
            <a:cxnSpLocks/>
          </p:cNvCxnSpPr>
          <p:nvPr/>
        </p:nvCxnSpPr>
        <p:spPr>
          <a:xfrm flipV="1">
            <a:off x="10324063" y="5751322"/>
            <a:ext cx="506059" cy="737074"/>
          </a:xfrm>
          <a:prstGeom prst="straightConnector1">
            <a:avLst/>
          </a:prstGeom>
          <a:ln w="571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835FAE62-97B3-3E40-8A82-B7CE12E84D4A}"/>
                  </a:ext>
                </a:extLst>
              </p:cNvPr>
              <p:cNvSpPr txBox="1"/>
              <p:nvPr/>
            </p:nvSpPr>
            <p:spPr>
              <a:xfrm>
                <a:off x="10906266" y="5444851"/>
                <a:ext cx="100155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600" b="0" i="1" smtClean="0">
                              <a:latin typeface="Cambria Math" panose="02040503050406030204" pitchFamily="18" charset="0"/>
                            </a:rPr>
                          </m:ctrlPr>
                        </m:accPr>
                        <m:e>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b="0" i="1" smtClean="0">
                                  <a:latin typeface="Cambria Math" panose="02040503050406030204" pitchFamily="18" charset="0"/>
                                </a:rPr>
                                <m:t>𝑡</m:t>
                              </m:r>
                              <m:r>
                                <a:rPr lang="en-US" altLang="zh-CN" sz="3600" b="0" i="1" smtClean="0">
                                  <a:latin typeface="Cambria Math" panose="02040503050406030204" pitchFamily="18" charset="0"/>
                                </a:rPr>
                                <m:t>−1</m:t>
                              </m:r>
                            </m:sub>
                          </m:sSub>
                        </m:e>
                      </m:acc>
                    </m:oMath>
                  </m:oMathPara>
                </a14:m>
                <a:endParaRPr lang="en-US" altLang="zh-CN" sz="3600" b="0" dirty="0"/>
              </a:p>
            </p:txBody>
          </p:sp>
        </mc:Choice>
        <mc:Fallback xmlns="">
          <p:sp>
            <p:nvSpPr>
              <p:cNvPr id="84" name="文本框 83">
                <a:extLst>
                  <a:ext uri="{FF2B5EF4-FFF2-40B4-BE49-F238E27FC236}">
                    <a16:creationId xmlns:a16="http://schemas.microsoft.com/office/drawing/2014/main" id="{835FAE62-97B3-3E40-8A82-B7CE12E84D4A}"/>
                  </a:ext>
                </a:extLst>
              </p:cNvPr>
              <p:cNvSpPr txBox="1">
                <a:spLocks noRot="1" noChangeAspect="1" noMove="1" noResize="1" noEditPoints="1" noAdjustHandles="1" noChangeArrowheads="1" noChangeShapeType="1" noTextEdit="1"/>
              </p:cNvSpPr>
              <p:nvPr/>
            </p:nvSpPr>
            <p:spPr>
              <a:xfrm>
                <a:off x="10906266" y="5444851"/>
                <a:ext cx="1001556" cy="553998"/>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29A7D9B7-91F4-95D8-C2B0-03519C736AC5}"/>
                  </a:ext>
                </a:extLst>
              </p:cNvPr>
              <p:cNvSpPr txBox="1"/>
              <p:nvPr/>
            </p:nvSpPr>
            <p:spPr>
              <a:xfrm>
                <a:off x="8906939" y="5236256"/>
                <a:ext cx="1476430" cy="369332"/>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oMath>
                  </m:oMathPara>
                </a14:m>
                <a:endParaRPr lang="zh-CN" altLang="en-US" sz="2400" dirty="0"/>
              </a:p>
            </p:txBody>
          </p:sp>
        </mc:Choice>
        <mc:Fallback xmlns="">
          <p:sp>
            <p:nvSpPr>
              <p:cNvPr id="85" name="文本框 84">
                <a:extLst>
                  <a:ext uri="{FF2B5EF4-FFF2-40B4-BE49-F238E27FC236}">
                    <a16:creationId xmlns:a16="http://schemas.microsoft.com/office/drawing/2014/main" id="{29A7D9B7-91F4-95D8-C2B0-03519C736AC5}"/>
                  </a:ext>
                </a:extLst>
              </p:cNvPr>
              <p:cNvSpPr txBox="1">
                <a:spLocks noRot="1" noChangeAspect="1" noMove="1" noResize="1" noEditPoints="1" noAdjustHandles="1" noChangeArrowheads="1" noChangeShapeType="1" noTextEdit="1"/>
              </p:cNvSpPr>
              <p:nvPr/>
            </p:nvSpPr>
            <p:spPr>
              <a:xfrm>
                <a:off x="8906939" y="5236256"/>
                <a:ext cx="1476430" cy="369332"/>
              </a:xfrm>
              <a:prstGeom prst="rect">
                <a:avLst/>
              </a:prstGeom>
              <a:blipFill>
                <a:blip r:embed="rId19"/>
                <a:stretch>
                  <a:fillRect l="-3719" r="-6612" b="-32787"/>
                </a:stretch>
              </a:blipFill>
            </p:spPr>
            <p:txBody>
              <a:bodyPr/>
              <a:lstStyle/>
              <a:p>
                <a:r>
                  <a:rPr lang="zh-CN" altLang="en-US">
                    <a:noFill/>
                  </a:rPr>
                  <a:t> </a:t>
                </a:r>
              </a:p>
            </p:txBody>
          </p:sp>
        </mc:Fallback>
      </mc:AlternateContent>
      <p:sp>
        <p:nvSpPr>
          <p:cNvPr id="86" name="矩形: 圆角 85">
            <a:extLst>
              <a:ext uri="{FF2B5EF4-FFF2-40B4-BE49-F238E27FC236}">
                <a16:creationId xmlns:a16="http://schemas.microsoft.com/office/drawing/2014/main" id="{68A31A7B-7B00-B405-F7B2-8D1674A99B9C}"/>
              </a:ext>
            </a:extLst>
          </p:cNvPr>
          <p:cNvSpPr/>
          <p:nvPr/>
        </p:nvSpPr>
        <p:spPr>
          <a:xfrm>
            <a:off x="4285665" y="4576304"/>
            <a:ext cx="7620935" cy="2194617"/>
          </a:xfrm>
          <a:prstGeom prst="round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9C268144-107F-FE9A-E9C6-46CDC47A0CAA}"/>
              </a:ext>
            </a:extLst>
          </p:cNvPr>
          <p:cNvSpPr/>
          <p:nvPr/>
        </p:nvSpPr>
        <p:spPr>
          <a:xfrm>
            <a:off x="443917" y="1936339"/>
            <a:ext cx="3528151" cy="430182"/>
          </a:xfrm>
          <a:prstGeom prst="rect">
            <a:avLst/>
          </a:prstGeom>
          <a:solidFill>
            <a:schemeClr val="accent1">
              <a:lumMod val="60000"/>
              <a:lumOff val="40000"/>
            </a:schemeClr>
          </a:solidFill>
        </p:spPr>
        <p:txBody>
          <a:bodyPr wrap="square" anchor="ctr" anchorCtr="0">
            <a:spAutoFit/>
          </a:bodyPr>
          <a:lstStyle/>
          <a:p>
            <a:pPr lvl="0" algn="ctr">
              <a:lnSpc>
                <a:spcPct val="120000"/>
              </a:lnSpc>
              <a:defRPr/>
            </a:pPr>
            <a:r>
              <a:rPr lang="zh-CN" altLang="en-US"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集成均值 </a:t>
            </a: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(Ensemble Mean)</a:t>
            </a:r>
          </a:p>
        </p:txBody>
      </p:sp>
    </p:spTree>
    <p:extLst>
      <p:ext uri="{BB962C8B-B14F-4D97-AF65-F5344CB8AC3E}">
        <p14:creationId xmlns:p14="http://schemas.microsoft.com/office/powerpoint/2010/main" val="1662184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45E07-AD79-40C8-F596-1C5554FFFCB9}"/>
              </a:ext>
            </a:extLst>
          </p:cNvPr>
          <p:cNvSpPr>
            <a:spLocks noGrp="1"/>
          </p:cNvSpPr>
          <p:nvPr>
            <p:ph type="title"/>
          </p:nvPr>
        </p:nvSpPr>
        <p:spPr/>
        <p:txBody>
          <a:bodyPr/>
          <a:lstStyle/>
          <a:p>
            <a:r>
              <a:rPr lang="zh-CN" altLang="en-US" dirty="0"/>
              <a:t>总结展望</a:t>
            </a:r>
          </a:p>
        </p:txBody>
      </p:sp>
      <p:pic>
        <p:nvPicPr>
          <p:cNvPr id="3" name="图片 2">
            <a:extLst>
              <a:ext uri="{FF2B5EF4-FFF2-40B4-BE49-F238E27FC236}">
                <a16:creationId xmlns:a16="http://schemas.microsoft.com/office/drawing/2014/main" id="{7A09DE0D-8D8C-F74A-1FE7-263A6BDF97C7}"/>
              </a:ext>
            </a:extLst>
          </p:cNvPr>
          <p:cNvPicPr>
            <a:picLocks noChangeAspect="1"/>
          </p:cNvPicPr>
          <p:nvPr/>
        </p:nvPicPr>
        <p:blipFill>
          <a:blip r:embed="rId2"/>
          <a:srcRect b="14545"/>
          <a:stretch/>
        </p:blipFill>
        <p:spPr>
          <a:xfrm>
            <a:off x="1783046" y="1540131"/>
            <a:ext cx="9131990" cy="3980775"/>
          </a:xfrm>
          <a:prstGeom prst="rect">
            <a:avLst/>
          </a:prstGeom>
        </p:spPr>
      </p:pic>
      <p:sp>
        <p:nvSpPr>
          <p:cNvPr id="4" name="矩形 3">
            <a:extLst>
              <a:ext uri="{FF2B5EF4-FFF2-40B4-BE49-F238E27FC236}">
                <a16:creationId xmlns:a16="http://schemas.microsoft.com/office/drawing/2014/main" id="{FAFF321F-EFCB-9E7F-39A8-62CBA132ADCD}"/>
              </a:ext>
            </a:extLst>
          </p:cNvPr>
          <p:cNvSpPr/>
          <p:nvPr/>
        </p:nvSpPr>
        <p:spPr>
          <a:xfrm>
            <a:off x="463003" y="1325425"/>
            <a:ext cx="4247020" cy="429413"/>
          </a:xfrm>
          <a:prstGeom prst="rect">
            <a:avLst/>
          </a:prstGeom>
          <a:solidFill>
            <a:srgbClr val="256090"/>
          </a:solidFill>
        </p:spPr>
        <p:txBody>
          <a:bodyPr wrap="square" anchor="ctr" anchorCtr="0">
            <a:spAutoFit/>
          </a:bodyPr>
          <a:lstStyle/>
          <a:p>
            <a:pPr lvl="0" algn="ctr">
              <a:lnSpc>
                <a:spcPct val="120000"/>
              </a:lnSpc>
              <a:defRPr/>
            </a:pPr>
            <a:r>
              <a:rPr lang="en-US" altLang="zh-CN" sz="2000" kern="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rPr>
              <a:t>VAE (Variational Auto-Encoder, 2013)</a:t>
            </a:r>
            <a:endParaRPr kumimoji="0" lang="en-US" altLang="zh-CN" sz="2000" b="0" i="0" u="none" strike="noStrike" kern="0" cap="none" spc="0" normalizeH="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华文细黑" panose="02010600040101010101" pitchFamily="2" charset="-122"/>
            </a:endParaRPr>
          </a:p>
        </p:txBody>
      </p:sp>
      <p:sp>
        <p:nvSpPr>
          <p:cNvPr id="5" name="文本框 4">
            <a:extLst>
              <a:ext uri="{FF2B5EF4-FFF2-40B4-BE49-F238E27FC236}">
                <a16:creationId xmlns:a16="http://schemas.microsoft.com/office/drawing/2014/main" id="{50230E8D-EDF1-40C3-531B-E67028744185}"/>
              </a:ext>
            </a:extLst>
          </p:cNvPr>
          <p:cNvSpPr txBox="1"/>
          <p:nvPr/>
        </p:nvSpPr>
        <p:spPr>
          <a:xfrm>
            <a:off x="365760" y="5372253"/>
            <a:ext cx="11425897" cy="1134862"/>
          </a:xfrm>
          <a:prstGeom prst="rect">
            <a:avLst/>
          </a:prstGeom>
          <a:noFill/>
        </p:spPr>
        <p:txBody>
          <a:bodyPr wrap="square" rtlCol="0">
            <a:spAutoFit/>
          </a:bodyPr>
          <a:lstStyle/>
          <a:p>
            <a:pPr>
              <a:lnSpc>
                <a:spcPct val="150000"/>
              </a:lnSpc>
            </a:pP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借鉴 </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Latent Diffusion Model (2022)</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 的思路，在扩散模型训练前通过</a:t>
            </a:r>
            <a:r>
              <a:rPr lang="en-US" altLang="zh-CN"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VAE</a:t>
            </a:r>
            <a:r>
              <a:rPr lang="zh-CN" altLang="en-US" sz="2400"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对高维图像进行降维传入网络，逆扩散推断完成后再进行重建，可以较好地缩短训练和推断时间</a:t>
            </a:r>
          </a:p>
        </p:txBody>
      </p:sp>
    </p:spTree>
    <p:extLst>
      <p:ext uri="{BB962C8B-B14F-4D97-AF65-F5344CB8AC3E}">
        <p14:creationId xmlns:p14="http://schemas.microsoft.com/office/powerpoint/2010/main" val="39036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1802</TotalTime>
  <Words>1991</Words>
  <Application>Microsoft Office PowerPoint</Application>
  <PresentationFormat>宽屏</PresentationFormat>
  <Paragraphs>396</Paragraphs>
  <Slides>30</Slides>
  <Notes>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2" baseType="lpstr">
      <vt:lpstr>等线</vt:lpstr>
      <vt:lpstr>等线 Light</vt:lpstr>
      <vt:lpstr>黑体</vt:lpstr>
      <vt:lpstr>华文细黑</vt:lpstr>
      <vt:lpstr>华文中宋</vt:lpstr>
      <vt:lpstr>微软雅黑</vt:lpstr>
      <vt:lpstr>Arial</vt:lpstr>
      <vt:lpstr>Cambria Math</vt:lpstr>
      <vt:lpstr>Times New Roman</vt:lpstr>
      <vt:lpstr>Wingdings</vt:lpstr>
      <vt:lpstr>Office 主题​​</vt:lpstr>
      <vt:lpstr>Equation</vt:lpstr>
      <vt:lpstr>PowerPoint 演示文稿</vt:lpstr>
      <vt:lpstr>PowerPoint 演示文稿</vt:lpstr>
      <vt:lpstr>问题与背景 -- SST数据</vt:lpstr>
      <vt:lpstr>问题与背景 -- SST数据</vt:lpstr>
      <vt:lpstr>问题与背景 -- SST数据</vt:lpstr>
      <vt:lpstr>问题与背景 -- SR3扩散模型</vt:lpstr>
      <vt:lpstr>问题与背景 -- 研究目标</vt:lpstr>
      <vt:lpstr>PowerPoint 演示文稿</vt:lpstr>
      <vt:lpstr>研究方法 -- 框架</vt:lpstr>
      <vt:lpstr>研究方法 -- 框架</vt:lpstr>
      <vt:lpstr>研究方法 -- SR3初始模型</vt:lpstr>
      <vt:lpstr>研究方法 -- SST-Diffusion</vt:lpstr>
      <vt:lpstr>研究方法 -- SST-Diffusion</vt:lpstr>
      <vt:lpstr>研究方法 -- SST-Diffusion</vt:lpstr>
      <vt:lpstr>研究方法 -- SST-Diffusion</vt:lpstr>
      <vt:lpstr>研究方法 -- SST-Diffusion</vt:lpstr>
      <vt:lpstr>PowerPoint 演示文稿</vt:lpstr>
      <vt:lpstr>结果分析 – 指标评估</vt:lpstr>
      <vt:lpstr>结果分析</vt:lpstr>
      <vt:lpstr>PowerPoint 演示文稿</vt:lpstr>
      <vt:lpstr>总结展望</vt:lpstr>
      <vt:lpstr>总结展望 – 当前工作</vt:lpstr>
      <vt:lpstr>核心参考文献</vt:lpstr>
      <vt:lpstr>PowerPoint 演示文稿</vt:lpstr>
      <vt:lpstr>研究方法 -- SR3模型优化</vt:lpstr>
      <vt:lpstr>研究方法 -- SR3模型优化</vt:lpstr>
      <vt:lpstr>研究方法 -- SR3模型优化</vt:lpstr>
      <vt:lpstr>研究方法 -- SR3模型优化</vt:lpstr>
      <vt:lpstr>研究方法 -- SR3模型优化</vt:lpstr>
      <vt:lpstr>总结展望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Nash Knight</dc:creator>
  <cp:lastModifiedBy>Nash Knight</cp:lastModifiedBy>
  <cp:revision>576</cp:revision>
  <dcterms:created xsi:type="dcterms:W3CDTF">2024-10-29T08:36:38Z</dcterms:created>
  <dcterms:modified xsi:type="dcterms:W3CDTF">2024-11-16T17:22:21Z</dcterms:modified>
</cp:coreProperties>
</file>