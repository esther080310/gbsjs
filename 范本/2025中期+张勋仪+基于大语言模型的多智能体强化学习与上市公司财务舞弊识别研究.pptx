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12"/>
  </p:notesMasterIdLst>
  <p:handoutMasterIdLst>
    <p:handoutMasterId r:id="rId25"/>
  </p:handoutMasterIdLst>
  <p:sldIdLst>
    <p:sldId id="284" r:id="rId5"/>
    <p:sldId id="296" r:id="rId6"/>
    <p:sldId id="280" r:id="rId7"/>
    <p:sldId id="281" r:id="rId8"/>
    <p:sldId id="297" r:id="rId9"/>
    <p:sldId id="278" r:id="rId10"/>
    <p:sldId id="282" r:id="rId11"/>
    <p:sldId id="288" r:id="rId13"/>
    <p:sldId id="260" r:id="rId14"/>
    <p:sldId id="285" r:id="rId15"/>
    <p:sldId id="286" r:id="rId16"/>
    <p:sldId id="301" r:id="rId17"/>
    <p:sldId id="292" r:id="rId18"/>
    <p:sldId id="293" r:id="rId19"/>
    <p:sldId id="298" r:id="rId20"/>
    <p:sldId id="279" r:id="rId21"/>
    <p:sldId id="299" r:id="rId22"/>
    <p:sldId id="291" r:id="rId23"/>
    <p:sldId id="29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0" userDrawn="1">
          <p15:clr>
            <a:srgbClr val="A4A3A4"/>
          </p15:clr>
        </p15:guide>
        <p15:guide id="2" pos="37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p" initials="cx" lastIdx="0" clrIdx="0"/>
  <p:cmAuthor id="2" name="Fengxian WU" initials="F" lastIdx="0" clrIdx="1"/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89B"/>
    <a:srgbClr val="FDF3CD"/>
    <a:srgbClr val="DEACB8"/>
    <a:srgbClr val="5B9BD5"/>
    <a:srgbClr val="FFE8E8"/>
    <a:srgbClr val="FEC1C1"/>
    <a:srgbClr val="E7E6E6"/>
    <a:srgbClr val="FFFFFF"/>
    <a:srgbClr val="10418A"/>
    <a:srgbClr val="829C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9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344" y="40"/>
      </p:cViewPr>
      <p:guideLst>
        <p:guide orient="horz" pos="430"/>
        <p:guide pos="37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390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F1ED-2260-47E9-A520-720FC6F466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696DE-D046-4CAE-B89D-E6300096D6C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604BC-9517-4F41-BB19-C4C653BB9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54293-0E50-4377-85DA-E5452D7F9B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973E886-DE44-40B2-9298-ECBB239BA4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20067"/>
            <a:ext cx="12192000" cy="762970"/>
          </a:xfrm>
          <a:prstGeom prst="rect">
            <a:avLst/>
          </a:prstGeom>
          <a:solidFill>
            <a:schemeClr val="accent1"/>
          </a:solidFill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6FE46-3282-4FE5-A19D-DA485E7CACE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1" y="0"/>
            <a:ext cx="3453493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53078" y="240847"/>
            <a:ext cx="3147333" cy="637630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3FCE4-2DA6-457D-BA37-68BCE561034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785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8" b="5198"/>
          <a:stretch>
            <a:fillRect/>
          </a:stretch>
        </p:blipFill>
        <p:spPr>
          <a:xfrm>
            <a:off x="64656" y="1156"/>
            <a:ext cx="837717" cy="803563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1722813" y="6388700"/>
            <a:ext cx="469187" cy="46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DED40751-9FE2-4F1B-9189-005C4FB38AE8}" type="slidenum">
              <a:rPr lang="zh-CN" altLang="en-US" sz="140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4FF1-20AD-4FFA-80BE-15B41F6C55D2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A4C46-66D2-4D12-A5AE-966D77A87E9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6F79-A950-47CB-BAB9-41DABECD36FC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08882-A0CB-4515-A813-CDD57D0E29B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DD77-F247-4988-AAC1-3116286C42C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4038-09A8-4D68-ADB6-953C3996EFE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4D80-E918-445E-B3F0-4942A2195E5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C68F-8937-4B31-8034-26313EFFB16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5ADD-6BE2-4253-87C5-A9AF464AD18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63D04-B03C-480C-AA70-A3BDA32E106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50DA9-7DAE-4470-B04C-75D51F509C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tags" Target="../tags/tag10.xml"/><Relationship Id="rId7" Type="http://schemas.openxmlformats.org/officeDocument/2006/relationships/image" Target="../media/image34.png"/><Relationship Id="rId6" Type="http://schemas.openxmlformats.org/officeDocument/2006/relationships/tags" Target="../tags/tag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tags" Target="../tags/tag8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7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image" Target="../media/image36.png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381948" y="2106764"/>
            <a:ext cx="11279010" cy="1682750"/>
          </a:xfrm>
          <a:prstGeom prst="roundRect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5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基于大语言模型的多智能体强化学习与上市公司财务舞弊识别研究</a:t>
            </a:r>
            <a:endParaRPr lang="zh-CN" altLang="en-US" sz="5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-20068"/>
            <a:ext cx="12192000" cy="1232011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lang="en-US" altLang="zh-CN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年统计学院创新项目中期答辩</a:t>
            </a:r>
            <a:endParaRPr lang="en-US" altLang="zh-CN" sz="2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45155" y="5160645"/>
            <a:ext cx="575183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项目成员：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张勋仪、谢欣辰、朱施丽、徐正浩、万敏博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 flipV="1">
            <a:off x="-1" y="4352768"/>
            <a:ext cx="12191999" cy="104760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20000">
                <a:srgbClr val="EE3F17"/>
              </a:gs>
              <a:gs pos="88000">
                <a:srgbClr val="40B4C0"/>
              </a:gs>
              <a:gs pos="100000">
                <a:srgbClr val="004C97"/>
              </a:gs>
            </a:gsLst>
            <a:lin ang="0" scaled="1"/>
          </a:gradFill>
          <a:ln w="9525">
            <a:noFill/>
            <a:miter lim="800000"/>
          </a:ln>
        </p:spPr>
        <p:txBody>
          <a:bodyPr rot="10800000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zh-CN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93996" y="5721368"/>
            <a:ext cx="13004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10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2025.11.5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36523" y="2816012"/>
            <a:ext cx="2486514" cy="1164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ONE</a:t>
            </a:r>
            <a:endParaRPr lang="zh-CN" altLang="en-US" sz="2800" spc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15130" y="2226945"/>
            <a:ext cx="739584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kern="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项目目标与内容概述</a:t>
            </a:r>
            <a:endParaRPr lang="zh-CN" altLang="en-US" sz="5400" b="1" kern="0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5400" dirty="0"/>
          </a:p>
        </p:txBody>
      </p:sp>
      <p:sp>
        <p:nvSpPr>
          <p:cNvPr id="5" name="等腰三角形 4"/>
          <p:cNvSpPr/>
          <p:nvPr/>
        </p:nvSpPr>
        <p:spPr>
          <a:xfrm rot="5400000">
            <a:off x="5330696" y="3571872"/>
            <a:ext cx="191516" cy="1651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715000" y="3403600"/>
            <a:ext cx="2597150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pc="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项目背景与目标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0" y="3938905"/>
            <a:ext cx="2480310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项目内容概述</a:t>
            </a:r>
            <a:endParaRPr kumimoji="0" lang="zh-CN" altLang="en-US" sz="2400" b="1" i="0" u="none" strike="noStrike" kern="1200" cap="none" spc="200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等腰三角形 10"/>
          <p:cNvSpPr/>
          <p:nvPr>
            <p:custDataLst>
              <p:tags r:id="rId2"/>
            </p:custDataLst>
          </p:nvPr>
        </p:nvSpPr>
        <p:spPr>
          <a:xfrm rot="5400000">
            <a:off x="5330696" y="4116636"/>
            <a:ext cx="191516" cy="1651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项目背景与目标</a:t>
            </a:r>
            <a:endParaRPr lang="en-US" altLang="zh-CN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8060266" y="1630740"/>
            <a:ext cx="2666999" cy="5875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结构化财务数据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8060267" y="2384273"/>
            <a:ext cx="2666998" cy="5875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非结构化文本数据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7882466" y="1456267"/>
            <a:ext cx="2997200" cy="1701800"/>
          </a:xfrm>
          <a:prstGeom prst="round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/>
          <p:cNvSpPr/>
          <p:nvPr/>
        </p:nvSpPr>
        <p:spPr>
          <a:xfrm>
            <a:off x="9114366" y="3395133"/>
            <a:ext cx="533400" cy="1701800"/>
          </a:xfrm>
          <a:prstGeom prst="downArrow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561755" y="358356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767186" y="419372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同行效应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66865" y="3906336"/>
            <a:ext cx="1851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元学习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强化学习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箭头连接符 28"/>
          <p:cNvCxnSpPr>
            <a:stCxn id="23" idx="3"/>
          </p:cNvCxnSpPr>
          <p:nvPr/>
        </p:nvCxnSpPr>
        <p:spPr>
          <a:xfrm>
            <a:off x="8900583" y="3768230"/>
            <a:ext cx="213783" cy="5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6" idx="3"/>
          </p:cNvCxnSpPr>
          <p:nvPr/>
        </p:nvCxnSpPr>
        <p:spPr>
          <a:xfrm>
            <a:off x="8875182" y="4378393"/>
            <a:ext cx="239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7" idx="1"/>
          </p:cNvCxnSpPr>
          <p:nvPr/>
        </p:nvCxnSpPr>
        <p:spPr>
          <a:xfrm flipH="1">
            <a:off x="9639299" y="4090367"/>
            <a:ext cx="427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7532121" y="5368081"/>
            <a:ext cx="4133850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构建一套面向上市公司</a:t>
            </a:r>
            <a:r>
              <a:rPr lang="zh-CN" altLang="zh-CN" sz="2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财务舞弊的金融风险智能识别与预警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体系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45955" y="5506870"/>
            <a:ext cx="7027334" cy="92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财务造假存在显著的“滞后性”：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72.03%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的造假事件再至少一年后才被通报或处罚（梁功枭，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897" r="2286"/>
          <a:stretch>
            <a:fillRect/>
          </a:stretch>
        </p:blipFill>
        <p:spPr>
          <a:xfrm>
            <a:off x="441960" y="2684145"/>
            <a:ext cx="3844290" cy="26168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366" y="966470"/>
            <a:ext cx="3332065" cy="2616835"/>
          </a:xfrm>
          <a:prstGeom prst="rect">
            <a:avLst/>
          </a:prstGeom>
        </p:spPr>
      </p:pic>
      <p:pic>
        <p:nvPicPr>
          <p:cNvPr id="4" name="图片 3" descr="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535" y="966470"/>
            <a:ext cx="1275715" cy="126111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91820" y="1264920"/>
            <a:ext cx="2418715" cy="105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1875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东方集团启动强制退市程序，四年虚增营收</a:t>
            </a:r>
            <a:r>
              <a:rPr lang="en-US" altLang="zh-CN" b="1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161</a:t>
            </a:r>
            <a:r>
              <a:rPr lang="zh-CN" altLang="en-US" b="1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亿，十余万股民何去何从</a:t>
            </a:r>
            <a:endParaRPr lang="zh-CN" altLang="en-US" b="1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37075" y="3806825"/>
            <a:ext cx="2811145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0" i="0">
                <a:latin typeface="微软雅黑" panose="020B0503020204020204" pitchFamily="34" charset="-122"/>
                <a:ea typeface="微软雅黑" panose="020B0503020204020204" pitchFamily="34" charset="-122"/>
              </a:rPr>
              <a:t>一旦财务造假行为被揭露，不仅会造成</a:t>
            </a:r>
            <a:r>
              <a:rPr lang="zh-CN" altLang="en-US" b="1" i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投资者重大损失</a:t>
            </a:r>
            <a:r>
              <a:rPr lang="zh-CN" altLang="en-US" b="0" i="0">
                <a:latin typeface="微软雅黑" panose="020B0503020204020204" pitchFamily="34" charset="-122"/>
                <a:ea typeface="微软雅黑" panose="020B0503020204020204" pitchFamily="34" charset="-122"/>
              </a:rPr>
              <a:t>，也将对资本市场的</a:t>
            </a:r>
            <a:r>
              <a:rPr lang="zh-CN" altLang="en-US" b="1" i="0">
                <a:latin typeface="微软雅黑" panose="020B0503020204020204" pitchFamily="34" charset="-122"/>
                <a:ea typeface="微软雅黑" panose="020B0503020204020204" pitchFamily="34" charset="-122"/>
              </a:rPr>
              <a:t>稳定性与公信力</a:t>
            </a:r>
            <a:r>
              <a:rPr lang="zh-CN" altLang="en-US" b="0" i="0">
                <a:latin typeface="微软雅黑" panose="020B0503020204020204" pitchFamily="34" charset="-122"/>
                <a:ea typeface="微软雅黑" panose="020B0503020204020204" pitchFamily="34" charset="-122"/>
              </a:rPr>
              <a:t>产生深远的不利影响</a:t>
            </a:r>
            <a:endParaRPr lang="zh-CN" altLang="en-US" b="0" i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32195" y="2428875"/>
            <a:ext cx="1402080" cy="113792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项目内容概述</a:t>
            </a:r>
            <a:endParaRPr lang="en-US" altLang="zh-CN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714233" y="2090759"/>
            <a:ext cx="3033774" cy="762970"/>
          </a:xfrm>
          <a:prstGeom prst="roundRect">
            <a:avLst/>
          </a:prstGeom>
          <a:solidFill>
            <a:srgbClr val="E7E6E6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风险度量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8714232" y="3389907"/>
            <a:ext cx="3033774" cy="762970"/>
          </a:xfrm>
          <a:prstGeom prst="roundRect">
            <a:avLst/>
          </a:prstGeom>
          <a:solidFill>
            <a:srgbClr val="E7E6E6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数据与因子构建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8714231" y="4689055"/>
            <a:ext cx="3033774" cy="762970"/>
          </a:xfrm>
          <a:prstGeom prst="roundRect">
            <a:avLst/>
          </a:prstGeom>
          <a:solidFill>
            <a:srgbClr val="E7E6E6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模型构建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图片包含 图示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" t="1844" r="1437" b="2937"/>
          <a:stretch>
            <a:fillRect/>
          </a:stretch>
        </p:blipFill>
        <p:spPr>
          <a:xfrm>
            <a:off x="292607" y="1277366"/>
            <a:ext cx="7827255" cy="4988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0732" y="2816012"/>
            <a:ext cx="2538095" cy="1163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endParaRPr lang="en-US" altLang="zh-CN" sz="2800" spc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15130" y="2226945"/>
            <a:ext cx="739584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kern="0" spc="3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项目内容与成果展示</a:t>
            </a:r>
            <a:endParaRPr lang="zh-CN" altLang="en-US" sz="5400" dirty="0"/>
          </a:p>
        </p:txBody>
      </p:sp>
      <p:sp>
        <p:nvSpPr>
          <p:cNvPr id="5" name="等腰三角形 4"/>
          <p:cNvSpPr/>
          <p:nvPr/>
        </p:nvSpPr>
        <p:spPr>
          <a:xfrm rot="5400000">
            <a:off x="5330696" y="3571872"/>
            <a:ext cx="191516" cy="1651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715000" y="3403600"/>
            <a:ext cx="4886960" cy="130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spc="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FSFP</a:t>
            </a:r>
            <a:r>
              <a:rPr lang="zh-CN" altLang="en-US" sz="2400" b="1" spc="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的构建与经济价值</a:t>
            </a:r>
            <a:endParaRPr lang="en-US" altLang="zh-CN" sz="2400" b="1" spc="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b="1" spc="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2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0" y="3938905"/>
            <a:ext cx="3793490" cy="902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pc="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数据收集和因子构建</a:t>
            </a:r>
            <a:endParaRPr lang="en-US" altLang="zh-CN" sz="2400" b="1" spc="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200" normalizeH="0" baseline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1" name="等腰三角形 10"/>
          <p:cNvSpPr/>
          <p:nvPr>
            <p:custDataLst>
              <p:tags r:id="rId2"/>
            </p:custDataLst>
          </p:nvPr>
        </p:nvSpPr>
        <p:spPr>
          <a:xfrm rot="5400000">
            <a:off x="5330696" y="4116636"/>
            <a:ext cx="191516" cy="1651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/>
        </p:nvSpPr>
        <p:spPr>
          <a:xfrm rot="5400000">
            <a:off x="5330696" y="4661532"/>
            <a:ext cx="191516" cy="1651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15130" y="456120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 b="1" spc="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财务风险度量的预测</a:t>
            </a:r>
            <a:endParaRPr lang="en-US" altLang="zh-CN" sz="2400" b="1" spc="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FSFP</a:t>
            </a:r>
            <a:r>
              <a:rPr lang="zh-CN" altLang="en-US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的构建</a:t>
            </a:r>
            <a:endParaRPr lang="en-US" altLang="zh-CN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6592824" y="992370"/>
            <a:ext cx="5245134" cy="963429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反映尚未曝光但已经发生的“舞弊行为”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数值越高，表明企业当期被报道的舞弊风险越大</a:t>
            </a: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422266" y="992370"/>
            <a:ext cx="6170558" cy="963429"/>
          </a:xfrm>
          <a:prstGeom prst="roundRect">
            <a:avLst>
              <a:gd name="adj" fmla="val 1988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构建财务舞弊倾向指数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FSFP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Fan, 2025, MS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10976" y="2205266"/>
            <a:ext cx="4090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STEP1</a:t>
            </a:r>
            <a:r>
              <a:rPr lang="zh-CN" altLang="en-US" sz="2000" b="1" dirty="0">
                <a:solidFill>
                  <a:schemeClr val="accent1"/>
                </a:solidFill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b="1" dirty="0"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识别</a:t>
            </a:r>
            <a:r>
              <a:rPr lang="zh-CN" altLang="en-US" sz="2000" b="1" dirty="0"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2000" b="1" dirty="0"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财务舞弊相关报道</a:t>
            </a:r>
            <a:r>
              <a:rPr lang="en-US" altLang="zh-CN" sz="2000" b="1" dirty="0"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zh-CN" altLang="en-US" sz="2000" b="1" dirty="0">
              <a:highlight>
                <a:srgbClr val="E7E6E6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284" y="2775165"/>
            <a:ext cx="3716020" cy="2755265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文本框 25"/>
          <p:cNvSpPr txBox="1"/>
          <p:nvPr/>
        </p:nvSpPr>
        <p:spPr>
          <a:xfrm>
            <a:off x="1043692" y="5812813"/>
            <a:ext cx="4160113" cy="923330"/>
          </a:xfrm>
          <a:custGeom>
            <a:avLst/>
            <a:gdLst>
              <a:gd name="connsiteX0" fmla="*/ 0 w 4160113"/>
              <a:gd name="connsiteY0" fmla="*/ 0 h 923330"/>
              <a:gd name="connsiteX1" fmla="*/ 734953 w 4160113"/>
              <a:gd name="connsiteY1" fmla="*/ 0 h 923330"/>
              <a:gd name="connsiteX2" fmla="*/ 1345103 w 4160113"/>
              <a:gd name="connsiteY2" fmla="*/ 0 h 923330"/>
              <a:gd name="connsiteX3" fmla="*/ 1996854 w 4160113"/>
              <a:gd name="connsiteY3" fmla="*/ 0 h 923330"/>
              <a:gd name="connsiteX4" fmla="*/ 2690206 w 4160113"/>
              <a:gd name="connsiteY4" fmla="*/ 0 h 923330"/>
              <a:gd name="connsiteX5" fmla="*/ 3425160 w 4160113"/>
              <a:gd name="connsiteY5" fmla="*/ 0 h 923330"/>
              <a:gd name="connsiteX6" fmla="*/ 4160113 w 4160113"/>
              <a:gd name="connsiteY6" fmla="*/ 0 h 923330"/>
              <a:gd name="connsiteX7" fmla="*/ 4160113 w 4160113"/>
              <a:gd name="connsiteY7" fmla="*/ 461665 h 923330"/>
              <a:gd name="connsiteX8" fmla="*/ 4160113 w 4160113"/>
              <a:gd name="connsiteY8" fmla="*/ 923330 h 923330"/>
              <a:gd name="connsiteX9" fmla="*/ 3591564 w 4160113"/>
              <a:gd name="connsiteY9" fmla="*/ 923330 h 923330"/>
              <a:gd name="connsiteX10" fmla="*/ 2981414 w 4160113"/>
              <a:gd name="connsiteY10" fmla="*/ 923330 h 923330"/>
              <a:gd name="connsiteX11" fmla="*/ 2288062 w 4160113"/>
              <a:gd name="connsiteY11" fmla="*/ 923330 h 923330"/>
              <a:gd name="connsiteX12" fmla="*/ 1719513 w 4160113"/>
              <a:gd name="connsiteY12" fmla="*/ 923330 h 923330"/>
              <a:gd name="connsiteX13" fmla="*/ 942959 w 4160113"/>
              <a:gd name="connsiteY13" fmla="*/ 923330 h 923330"/>
              <a:gd name="connsiteX14" fmla="*/ 0 w 4160113"/>
              <a:gd name="connsiteY14" fmla="*/ 923330 h 923330"/>
              <a:gd name="connsiteX15" fmla="*/ 0 w 4160113"/>
              <a:gd name="connsiteY15" fmla="*/ 470898 h 923330"/>
              <a:gd name="connsiteX16" fmla="*/ 0 w 4160113"/>
              <a:gd name="connsiteY16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60113" h="923330" fill="none" extrusionOk="0">
                <a:moveTo>
                  <a:pt x="0" y="0"/>
                </a:moveTo>
                <a:cubicBezTo>
                  <a:pt x="360183" y="-7074"/>
                  <a:pt x="391935" y="-22301"/>
                  <a:pt x="734953" y="0"/>
                </a:cubicBezTo>
                <a:cubicBezTo>
                  <a:pt x="1077971" y="22301"/>
                  <a:pt x="1112919" y="-29022"/>
                  <a:pt x="1345103" y="0"/>
                </a:cubicBezTo>
                <a:cubicBezTo>
                  <a:pt x="1577287" y="29022"/>
                  <a:pt x="1796576" y="-24839"/>
                  <a:pt x="1996854" y="0"/>
                </a:cubicBezTo>
                <a:cubicBezTo>
                  <a:pt x="2197132" y="24839"/>
                  <a:pt x="2385728" y="-16969"/>
                  <a:pt x="2690206" y="0"/>
                </a:cubicBezTo>
                <a:cubicBezTo>
                  <a:pt x="2994684" y="16969"/>
                  <a:pt x="3077265" y="-31604"/>
                  <a:pt x="3425160" y="0"/>
                </a:cubicBezTo>
                <a:cubicBezTo>
                  <a:pt x="3773055" y="31604"/>
                  <a:pt x="3890134" y="-8528"/>
                  <a:pt x="4160113" y="0"/>
                </a:cubicBezTo>
                <a:cubicBezTo>
                  <a:pt x="4165428" y="143362"/>
                  <a:pt x="4145607" y="285251"/>
                  <a:pt x="4160113" y="461665"/>
                </a:cubicBezTo>
                <a:cubicBezTo>
                  <a:pt x="4174619" y="638079"/>
                  <a:pt x="4157741" y="816391"/>
                  <a:pt x="4160113" y="923330"/>
                </a:cubicBezTo>
                <a:cubicBezTo>
                  <a:pt x="3911125" y="947605"/>
                  <a:pt x="3713204" y="936202"/>
                  <a:pt x="3591564" y="923330"/>
                </a:cubicBezTo>
                <a:cubicBezTo>
                  <a:pt x="3469924" y="910458"/>
                  <a:pt x="3181583" y="898619"/>
                  <a:pt x="2981414" y="923330"/>
                </a:cubicBezTo>
                <a:cubicBezTo>
                  <a:pt x="2781245" y="948042"/>
                  <a:pt x="2494164" y="908793"/>
                  <a:pt x="2288062" y="923330"/>
                </a:cubicBezTo>
                <a:cubicBezTo>
                  <a:pt x="2081960" y="937867"/>
                  <a:pt x="1975469" y="939075"/>
                  <a:pt x="1719513" y="923330"/>
                </a:cubicBezTo>
                <a:cubicBezTo>
                  <a:pt x="1463557" y="907585"/>
                  <a:pt x="1116286" y="945168"/>
                  <a:pt x="942959" y="923330"/>
                </a:cubicBezTo>
                <a:cubicBezTo>
                  <a:pt x="769632" y="901492"/>
                  <a:pt x="257244" y="940924"/>
                  <a:pt x="0" y="923330"/>
                </a:cubicBezTo>
                <a:cubicBezTo>
                  <a:pt x="-5977" y="707546"/>
                  <a:pt x="4417" y="626204"/>
                  <a:pt x="0" y="470898"/>
                </a:cubicBezTo>
                <a:cubicBezTo>
                  <a:pt x="-4417" y="315592"/>
                  <a:pt x="17641" y="110359"/>
                  <a:pt x="0" y="0"/>
                </a:cubicBezTo>
                <a:close/>
              </a:path>
              <a:path w="4160113" h="923330" stroke="0" extrusionOk="0">
                <a:moveTo>
                  <a:pt x="0" y="0"/>
                </a:moveTo>
                <a:cubicBezTo>
                  <a:pt x="264593" y="-35865"/>
                  <a:pt x="449557" y="29987"/>
                  <a:pt x="776554" y="0"/>
                </a:cubicBezTo>
                <a:cubicBezTo>
                  <a:pt x="1103551" y="-29987"/>
                  <a:pt x="1275687" y="23380"/>
                  <a:pt x="1469907" y="0"/>
                </a:cubicBezTo>
                <a:cubicBezTo>
                  <a:pt x="1664127" y="-23380"/>
                  <a:pt x="1890839" y="8203"/>
                  <a:pt x="2080056" y="0"/>
                </a:cubicBezTo>
                <a:cubicBezTo>
                  <a:pt x="2269273" y="-8203"/>
                  <a:pt x="2521517" y="-14654"/>
                  <a:pt x="2773409" y="0"/>
                </a:cubicBezTo>
                <a:cubicBezTo>
                  <a:pt x="3025301" y="14654"/>
                  <a:pt x="3284171" y="26606"/>
                  <a:pt x="3549963" y="0"/>
                </a:cubicBezTo>
                <a:cubicBezTo>
                  <a:pt x="3815755" y="-26606"/>
                  <a:pt x="3950720" y="12621"/>
                  <a:pt x="4160113" y="0"/>
                </a:cubicBezTo>
                <a:cubicBezTo>
                  <a:pt x="4159911" y="124798"/>
                  <a:pt x="4164944" y="223428"/>
                  <a:pt x="4160113" y="433965"/>
                </a:cubicBezTo>
                <a:cubicBezTo>
                  <a:pt x="4155282" y="644503"/>
                  <a:pt x="4178407" y="804076"/>
                  <a:pt x="4160113" y="923330"/>
                </a:cubicBezTo>
                <a:cubicBezTo>
                  <a:pt x="3854017" y="942665"/>
                  <a:pt x="3654792" y="930798"/>
                  <a:pt x="3508362" y="923330"/>
                </a:cubicBezTo>
                <a:cubicBezTo>
                  <a:pt x="3361932" y="915862"/>
                  <a:pt x="3014917" y="937966"/>
                  <a:pt x="2856611" y="923330"/>
                </a:cubicBezTo>
                <a:cubicBezTo>
                  <a:pt x="2698305" y="908694"/>
                  <a:pt x="2383962" y="937014"/>
                  <a:pt x="2204860" y="923330"/>
                </a:cubicBezTo>
                <a:cubicBezTo>
                  <a:pt x="2025758" y="909646"/>
                  <a:pt x="1685566" y="942691"/>
                  <a:pt x="1469907" y="923330"/>
                </a:cubicBezTo>
                <a:cubicBezTo>
                  <a:pt x="1254248" y="903969"/>
                  <a:pt x="1010322" y="901256"/>
                  <a:pt x="859757" y="923330"/>
                </a:cubicBezTo>
                <a:cubicBezTo>
                  <a:pt x="709192" y="945405"/>
                  <a:pt x="417180" y="900738"/>
                  <a:pt x="0" y="923330"/>
                </a:cubicBezTo>
                <a:cubicBezTo>
                  <a:pt x="-9281" y="778743"/>
                  <a:pt x="-18107" y="554202"/>
                  <a:pt x="0" y="452432"/>
                </a:cubicBezTo>
                <a:cubicBezTo>
                  <a:pt x="18107" y="350662"/>
                  <a:pt x="-20212" y="98717"/>
                  <a:pt x="0" y="0"/>
                </a:cubicBezTo>
                <a:close/>
              </a:path>
            </a:pathLst>
          </a:cu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dirty="0"/>
              <a:t>同一段落同时出现</a:t>
            </a:r>
            <a:r>
              <a:rPr lang="zh-CN" altLang="en-US" b="1" dirty="0"/>
              <a:t>“财务”、“舞弊”</a:t>
            </a:r>
            <a:r>
              <a:rPr lang="zh-CN" altLang="en-US" dirty="0"/>
              <a:t>词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采用公司简称与全称双重检索方式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剔除非财务类欺诈</a:t>
            </a: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新闻</a:t>
            </a:r>
            <a:endParaRPr lang="zh-CN" altLang="en-US" dirty="0"/>
          </a:p>
        </p:txBody>
      </p:sp>
      <p:sp>
        <p:nvSpPr>
          <p:cNvPr id="27" name="箭头: 右 26"/>
          <p:cNvSpPr/>
          <p:nvPr/>
        </p:nvSpPr>
        <p:spPr>
          <a:xfrm>
            <a:off x="5816665" y="3853663"/>
            <a:ext cx="558669" cy="438912"/>
          </a:xfrm>
          <a:prstGeom prst="rightArrow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043928" y="2205266"/>
            <a:ext cx="4187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STEP2</a:t>
            </a:r>
            <a:r>
              <a:rPr lang="zh-CN" altLang="en-US" sz="2000" b="1" dirty="0">
                <a:solidFill>
                  <a:schemeClr val="accent1"/>
                </a:solidFill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ATF-IIF</a:t>
            </a:r>
            <a:r>
              <a:rPr lang="zh-CN" altLang="en-US" sz="2000" b="1" dirty="0">
                <a:effectLst/>
                <a:highlight>
                  <a:srgbClr val="E7E6E6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方法构建新闻权重</a:t>
            </a:r>
            <a:endParaRPr lang="zh-CN" altLang="en-US" sz="2000" b="1" dirty="0">
              <a:highlight>
                <a:srgbClr val="E7E6E6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7026161" y="2744416"/>
                <a:ext cx="4544568" cy="2267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800" b="1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𝑨𝑻𝑭</m:t>
                    </m:r>
                    <m:r>
                      <a:rPr lang="zh-CN" altLang="en-US" b="1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一篇新闻中舞弊相关词出现的总频次</a:t>
                </a:r>
                <a:endParaRPr lang="en-US" altLang="zh-CN" sz="18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800" b="1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𝑰𝑰𝑭</m:t>
                    </m:r>
                  </m:oMath>
                </a14:m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新闻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中提及企业数量的倒数</a:t>
                </a:r>
                <a:endParaRPr lang="en-US" altLang="zh-CN" sz="18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𝐴𝑇𝐹</m:t>
                      </m:r>
                      <m:r>
                        <a:rPr lang="en-US" altLang="zh-CN" sz="160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𝑇𝐹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sz="1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𝐼𝐼𝐹</m:t>
                      </m:r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#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𝑓𝑖𝑟𝑚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𝑡𝑗</m:t>
                              </m:r>
                            </m:sub>
                          </m:sSub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/#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𝑓𝑖𝑟𝑚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161" y="2744416"/>
                <a:ext cx="4544568" cy="2267031"/>
              </a:xfrm>
              <a:prstGeom prst="rect">
                <a:avLst/>
              </a:prstGeom>
              <a:blipFill rotWithShape="1">
                <a:blip r:embed="rId2"/>
                <a:stretch>
                  <a:fillRect l="-11" t="-26" r="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6083808" y="5118237"/>
                <a:ext cx="6108192" cy="912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𝑭𝑺𝑭𝑷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𝒊𝒕</m:t>
                          </m:r>
                        </m:sub>
                      </m:sSub>
                      <m:r>
                        <a:rPr lang="zh-CN" altLang="en-US" b="1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𝒊𝒕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1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𝒊𝒕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zh-CN" altLang="en-US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𝑨𝑻𝑭</m:t>
                                  </m:r>
                                  <m:r>
                                    <a:rPr lang="zh-CN" altLang="en-US" b="1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zh-CN" altLang="en-US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𝑰𝑰𝑭</m:t>
                                  </m:r>
                                </m:e>
                              </m:d>
                            </m:e>
                            <m:sub>
                              <m:r>
                                <a:rPr lang="zh-CN" alt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𝒊𝒕𝒋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808" y="5118237"/>
                <a:ext cx="6108192" cy="912173"/>
              </a:xfrm>
              <a:prstGeom prst="rect">
                <a:avLst/>
              </a:prstGeom>
              <a:blipFill rotWithShape="1">
                <a:blip r:embed="rId3"/>
                <a:stretch>
                  <a:fillRect l="-8" t="-15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FSFP</a:t>
            </a:r>
            <a:r>
              <a:rPr lang="zh-CN" altLang="en-US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的构建</a:t>
            </a:r>
            <a:endParaRPr lang="en-US" altLang="zh-CN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图表, 折线图, 直方图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6"/>
          <a:stretch>
            <a:fillRect/>
          </a:stretch>
        </p:blipFill>
        <p:spPr>
          <a:xfrm>
            <a:off x="5758231" y="1399032"/>
            <a:ext cx="6144209" cy="362102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199" y="5201823"/>
            <a:ext cx="6117912" cy="1408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矩形 7"/>
          <p:cNvSpPr/>
          <p:nvPr/>
        </p:nvSpPr>
        <p:spPr>
          <a:xfrm>
            <a:off x="10570464" y="1509110"/>
            <a:ext cx="713232" cy="30175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758231" y="924670"/>
            <a:ext cx="3188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例：睿创微纳（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688002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片包含 图示"/>
          <p:cNvPicPr>
            <a:picLocks noChangeAspect="1"/>
          </p:cNvPicPr>
          <p:nvPr/>
        </p:nvPicPr>
        <p:blipFill>
          <a:blip r:embed="rId3"/>
          <a:srcRect l="4321" t="7564" r="5536"/>
          <a:stretch>
            <a:fillRect/>
          </a:stretch>
        </p:blipFill>
        <p:spPr>
          <a:xfrm>
            <a:off x="218461" y="1197864"/>
            <a:ext cx="5439494" cy="446227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5190" y="5660135"/>
            <a:ext cx="5186035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风险值和收盘价随时间变化对比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（云南白药集团：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日被责令改正）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8125" y="2724593"/>
            <a:ext cx="6770249" cy="3709359"/>
          </a:xfrm>
          <a:prstGeom prst="rect">
            <a:avLst/>
          </a:prstGeom>
          <a:solidFill>
            <a:srgbClr val="FFFFFF"/>
          </a:solidFill>
          <a:ln w="1905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377078" y="2724593"/>
            <a:ext cx="4694694" cy="3709360"/>
          </a:xfrm>
          <a:prstGeom prst="rect">
            <a:avLst/>
          </a:prstGeom>
          <a:solidFill>
            <a:srgbClr val="FFFFFF"/>
          </a:solidFill>
          <a:ln w="1905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财务风险度量的经济价值</a:t>
            </a:r>
            <a:endParaRPr lang="zh-CN" altLang="en-US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68" y="2815781"/>
            <a:ext cx="6489561" cy="3526981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612326" y="3950890"/>
          <a:ext cx="429154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810"/>
                <a:gridCol w="1376175"/>
                <a:gridCol w="1498564"/>
              </a:tblGrid>
              <a:tr h="3368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指标</a:t>
                      </a:r>
                      <a:endParaRPr kumimoji="1" lang="zh-CN" altLang="en-US" sz="18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引入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FSFP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基准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861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年化收益率</a:t>
                      </a:r>
                      <a:endParaRPr kumimoji="1" lang="zh-CN" altLang="en-US" sz="18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0.0937</a:t>
                      </a:r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↑</a:t>
                      </a:r>
                      <a:endParaRPr kumimoji="1" lang="zh-CN" altLang="en-US" sz="18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0.0049</a:t>
                      </a:r>
                      <a:endParaRPr kumimoji="1" lang="zh-CN" altLang="en-US" sz="18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861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化波动率</a:t>
                      </a:r>
                      <a:endParaRPr kumimoji="1" lang="zh-CN" altLang="en-US" sz="18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0.1561</a:t>
                      </a:r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↓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0.1680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861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夏普比率</a:t>
                      </a:r>
                      <a:endParaRPr kumimoji="1" lang="zh-CN" altLang="en-US" sz="18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0.6033</a:t>
                      </a:r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↑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0.0970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8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最大回撤</a:t>
                      </a:r>
                      <a:endParaRPr kumimoji="1" lang="zh-CN" altLang="en-US" sz="1800" b="1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-0.1370</a:t>
                      </a:r>
                      <a:r>
                        <a:rPr kumimoji="1" lang="zh-CN" altLang="en-US" sz="1800" b="1" kern="12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↓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-0.3432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014486" y="3105834"/>
            <a:ext cx="341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FSFP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投资组合与基准绩效对比（近五年：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-2024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88125" y="1057138"/>
            <a:ext cx="11475898" cy="1421528"/>
          </a:xfrm>
          <a:prstGeom prst="roundRect">
            <a:avLst>
              <a:gd name="adj" fmla="val 0"/>
            </a:avLst>
          </a:prstGeom>
          <a:solidFill>
            <a:srgbClr val="F3F5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383351" y="1454313"/>
            <a:ext cx="1088095" cy="627183"/>
          </a:xfrm>
          <a:prstGeom prst="roundRect">
            <a:avLst/>
          </a:prstGeom>
          <a:solidFill>
            <a:srgbClr val="F3F5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回测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5"/>
          <p:cNvSpPr>
            <a:spLocks noEditPoints="1"/>
          </p:cNvSpPr>
          <p:nvPr/>
        </p:nvSpPr>
        <p:spPr bwMode="auto">
          <a:xfrm>
            <a:off x="1651426" y="1492773"/>
            <a:ext cx="743049" cy="481949"/>
          </a:xfrm>
          <a:custGeom>
            <a:avLst/>
            <a:gdLst/>
            <a:ahLst/>
            <a:cxnLst>
              <a:cxn ang="0">
                <a:pos x="204" y="242"/>
              </a:cxn>
              <a:cxn ang="0">
                <a:pos x="204" y="174"/>
              </a:cxn>
              <a:cxn ang="0">
                <a:pos x="136" y="174"/>
              </a:cxn>
              <a:cxn ang="0">
                <a:pos x="136" y="242"/>
              </a:cxn>
              <a:cxn ang="0">
                <a:pos x="204" y="242"/>
              </a:cxn>
              <a:cxn ang="0">
                <a:pos x="300" y="174"/>
              </a:cxn>
              <a:cxn ang="0">
                <a:pos x="231" y="174"/>
              </a:cxn>
              <a:cxn ang="0">
                <a:pos x="231" y="242"/>
              </a:cxn>
              <a:cxn ang="0">
                <a:pos x="300" y="242"/>
              </a:cxn>
              <a:cxn ang="0">
                <a:pos x="300" y="174"/>
              </a:cxn>
              <a:cxn ang="0">
                <a:pos x="300" y="266"/>
              </a:cxn>
              <a:cxn ang="0">
                <a:pos x="231" y="266"/>
              </a:cxn>
              <a:cxn ang="0">
                <a:pos x="231" y="334"/>
              </a:cxn>
              <a:cxn ang="0">
                <a:pos x="300" y="334"/>
              </a:cxn>
              <a:cxn ang="0">
                <a:pos x="300" y="266"/>
              </a:cxn>
              <a:cxn ang="0">
                <a:pos x="678" y="21"/>
              </a:cxn>
              <a:cxn ang="0">
                <a:pos x="681" y="22"/>
              </a:cxn>
              <a:cxn ang="0">
                <a:pos x="681" y="128"/>
              </a:cxn>
              <a:cxn ang="0">
                <a:pos x="366" y="128"/>
              </a:cxn>
              <a:cxn ang="0">
                <a:pos x="555" y="14"/>
              </a:cxn>
              <a:cxn ang="0">
                <a:pos x="555" y="87"/>
              </a:cxn>
              <a:cxn ang="0">
                <a:pos x="678" y="21"/>
              </a:cxn>
              <a:cxn ang="0">
                <a:pos x="332" y="21"/>
              </a:cxn>
              <a:cxn ang="0">
                <a:pos x="53" y="21"/>
              </a:cxn>
              <a:cxn ang="0">
                <a:pos x="53" y="0"/>
              </a:cxn>
              <a:cxn ang="0">
                <a:pos x="332" y="0"/>
              </a:cxn>
              <a:cxn ang="0">
                <a:pos x="332" y="21"/>
              </a:cxn>
              <a:cxn ang="0">
                <a:pos x="332" y="128"/>
              </a:cxn>
              <a:cxn ang="0">
                <a:pos x="53" y="128"/>
              </a:cxn>
              <a:cxn ang="0">
                <a:pos x="53" y="48"/>
              </a:cxn>
              <a:cxn ang="0">
                <a:pos x="332" y="48"/>
              </a:cxn>
              <a:cxn ang="0">
                <a:pos x="332" y="128"/>
              </a:cxn>
              <a:cxn ang="0">
                <a:pos x="204" y="334"/>
              </a:cxn>
              <a:cxn ang="0">
                <a:pos x="204" y="266"/>
              </a:cxn>
              <a:cxn ang="0">
                <a:pos x="136" y="266"/>
              </a:cxn>
              <a:cxn ang="0">
                <a:pos x="136" y="334"/>
              </a:cxn>
              <a:cxn ang="0">
                <a:pos x="204" y="334"/>
              </a:cxn>
              <a:cxn ang="0">
                <a:pos x="683" y="443"/>
              </a:cxn>
              <a:cxn ang="0">
                <a:pos x="0" y="443"/>
              </a:cxn>
              <a:cxn ang="0">
                <a:pos x="0" y="145"/>
              </a:cxn>
              <a:cxn ang="0">
                <a:pos x="683" y="145"/>
              </a:cxn>
              <a:cxn ang="0">
                <a:pos x="683" y="443"/>
              </a:cxn>
              <a:cxn ang="0">
                <a:pos x="39" y="174"/>
              </a:cxn>
              <a:cxn ang="0">
                <a:pos x="39" y="242"/>
              </a:cxn>
              <a:cxn ang="0">
                <a:pos x="107" y="242"/>
              </a:cxn>
              <a:cxn ang="0">
                <a:pos x="107" y="174"/>
              </a:cxn>
              <a:cxn ang="0">
                <a:pos x="39" y="174"/>
              </a:cxn>
              <a:cxn ang="0">
                <a:pos x="107" y="266"/>
              </a:cxn>
              <a:cxn ang="0">
                <a:pos x="39" y="266"/>
              </a:cxn>
              <a:cxn ang="0">
                <a:pos x="39" y="334"/>
              </a:cxn>
              <a:cxn ang="0">
                <a:pos x="107" y="334"/>
              </a:cxn>
              <a:cxn ang="0">
                <a:pos x="107" y="266"/>
              </a:cxn>
            </a:cxnLst>
            <a:rect l="0" t="0" r="r" b="b"/>
            <a:pathLst>
              <a:path w="683" h="443">
                <a:moveTo>
                  <a:pt x="204" y="242"/>
                </a:moveTo>
                <a:lnTo>
                  <a:pt x="204" y="174"/>
                </a:lnTo>
                <a:lnTo>
                  <a:pt x="136" y="174"/>
                </a:lnTo>
                <a:lnTo>
                  <a:pt x="136" y="242"/>
                </a:lnTo>
                <a:lnTo>
                  <a:pt x="204" y="242"/>
                </a:lnTo>
                <a:close/>
                <a:moveTo>
                  <a:pt x="300" y="174"/>
                </a:moveTo>
                <a:lnTo>
                  <a:pt x="231" y="174"/>
                </a:lnTo>
                <a:lnTo>
                  <a:pt x="231" y="242"/>
                </a:lnTo>
                <a:lnTo>
                  <a:pt x="300" y="242"/>
                </a:lnTo>
                <a:lnTo>
                  <a:pt x="300" y="174"/>
                </a:lnTo>
                <a:close/>
                <a:moveTo>
                  <a:pt x="300" y="266"/>
                </a:moveTo>
                <a:lnTo>
                  <a:pt x="231" y="266"/>
                </a:lnTo>
                <a:lnTo>
                  <a:pt x="231" y="334"/>
                </a:lnTo>
                <a:lnTo>
                  <a:pt x="300" y="334"/>
                </a:lnTo>
                <a:lnTo>
                  <a:pt x="300" y="266"/>
                </a:lnTo>
                <a:close/>
                <a:moveTo>
                  <a:pt x="678" y="21"/>
                </a:moveTo>
                <a:lnTo>
                  <a:pt x="681" y="22"/>
                </a:lnTo>
                <a:lnTo>
                  <a:pt x="681" y="128"/>
                </a:lnTo>
                <a:lnTo>
                  <a:pt x="366" y="128"/>
                </a:lnTo>
                <a:lnTo>
                  <a:pt x="555" y="14"/>
                </a:lnTo>
                <a:lnTo>
                  <a:pt x="555" y="87"/>
                </a:lnTo>
                <a:lnTo>
                  <a:pt x="678" y="21"/>
                </a:lnTo>
                <a:close/>
                <a:moveTo>
                  <a:pt x="332" y="21"/>
                </a:moveTo>
                <a:lnTo>
                  <a:pt x="53" y="21"/>
                </a:lnTo>
                <a:lnTo>
                  <a:pt x="53" y="0"/>
                </a:lnTo>
                <a:lnTo>
                  <a:pt x="332" y="0"/>
                </a:lnTo>
                <a:lnTo>
                  <a:pt x="332" y="21"/>
                </a:lnTo>
                <a:close/>
                <a:moveTo>
                  <a:pt x="332" y="128"/>
                </a:moveTo>
                <a:lnTo>
                  <a:pt x="53" y="128"/>
                </a:lnTo>
                <a:lnTo>
                  <a:pt x="53" y="48"/>
                </a:lnTo>
                <a:lnTo>
                  <a:pt x="332" y="48"/>
                </a:lnTo>
                <a:lnTo>
                  <a:pt x="332" y="128"/>
                </a:lnTo>
                <a:close/>
                <a:moveTo>
                  <a:pt x="204" y="334"/>
                </a:moveTo>
                <a:lnTo>
                  <a:pt x="204" y="266"/>
                </a:lnTo>
                <a:lnTo>
                  <a:pt x="136" y="266"/>
                </a:lnTo>
                <a:lnTo>
                  <a:pt x="136" y="334"/>
                </a:lnTo>
                <a:lnTo>
                  <a:pt x="204" y="334"/>
                </a:lnTo>
                <a:close/>
                <a:moveTo>
                  <a:pt x="683" y="443"/>
                </a:moveTo>
                <a:lnTo>
                  <a:pt x="0" y="443"/>
                </a:lnTo>
                <a:lnTo>
                  <a:pt x="0" y="145"/>
                </a:lnTo>
                <a:lnTo>
                  <a:pt x="683" y="145"/>
                </a:lnTo>
                <a:lnTo>
                  <a:pt x="683" y="443"/>
                </a:lnTo>
                <a:close/>
                <a:moveTo>
                  <a:pt x="39" y="174"/>
                </a:moveTo>
                <a:lnTo>
                  <a:pt x="39" y="242"/>
                </a:lnTo>
                <a:lnTo>
                  <a:pt x="107" y="242"/>
                </a:lnTo>
                <a:lnTo>
                  <a:pt x="107" y="174"/>
                </a:lnTo>
                <a:lnTo>
                  <a:pt x="39" y="174"/>
                </a:lnTo>
                <a:close/>
                <a:moveTo>
                  <a:pt x="107" y="266"/>
                </a:moveTo>
                <a:lnTo>
                  <a:pt x="39" y="266"/>
                </a:lnTo>
                <a:lnTo>
                  <a:pt x="39" y="334"/>
                </a:lnTo>
                <a:lnTo>
                  <a:pt x="107" y="334"/>
                </a:lnTo>
                <a:lnTo>
                  <a:pt x="107" y="266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65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矩形: 圆角 15"/>
          <p:cNvSpPr/>
          <p:nvPr/>
        </p:nvSpPr>
        <p:spPr>
          <a:xfrm>
            <a:off x="2644606" y="1478920"/>
            <a:ext cx="1460055" cy="577967"/>
          </a:xfrm>
          <a:prstGeom prst="roundRect">
            <a:avLst/>
          </a:prstGeom>
          <a:solidFill>
            <a:srgbClr val="F3F5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季度调仓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41"/>
          <p:cNvSpPr>
            <a:spLocks noEditPoints="1"/>
          </p:cNvSpPr>
          <p:nvPr/>
        </p:nvSpPr>
        <p:spPr bwMode="auto">
          <a:xfrm>
            <a:off x="4883621" y="1130496"/>
            <a:ext cx="488632" cy="479533"/>
          </a:xfrm>
          <a:custGeom>
            <a:avLst/>
            <a:gdLst/>
            <a:ahLst/>
            <a:cxnLst>
              <a:cxn ang="0">
                <a:pos x="660" y="562"/>
              </a:cxn>
              <a:cxn ang="0">
                <a:pos x="498" y="400"/>
              </a:cxn>
              <a:cxn ang="0">
                <a:pos x="630" y="268"/>
              </a:cxn>
              <a:cxn ang="0">
                <a:pos x="753" y="233"/>
              </a:cxn>
              <a:cxn ang="0">
                <a:pos x="784" y="98"/>
              </a:cxn>
              <a:cxn ang="0">
                <a:pos x="722" y="160"/>
              </a:cxn>
              <a:cxn ang="0">
                <a:pos x="641" y="158"/>
              </a:cxn>
              <a:cxn ang="0">
                <a:pos x="639" y="77"/>
              </a:cxn>
              <a:cxn ang="0">
                <a:pos x="701" y="15"/>
              </a:cxn>
              <a:cxn ang="0">
                <a:pos x="566" y="46"/>
              </a:cxn>
              <a:cxn ang="0">
                <a:pos x="532" y="169"/>
              </a:cxn>
              <a:cxn ang="0">
                <a:pos x="400" y="301"/>
              </a:cxn>
              <a:cxn ang="0">
                <a:pos x="268" y="169"/>
              </a:cxn>
              <a:cxn ang="0">
                <a:pos x="233" y="46"/>
              </a:cxn>
              <a:cxn ang="0">
                <a:pos x="98" y="15"/>
              </a:cxn>
              <a:cxn ang="0">
                <a:pos x="160" y="77"/>
              </a:cxn>
              <a:cxn ang="0">
                <a:pos x="158" y="158"/>
              </a:cxn>
              <a:cxn ang="0">
                <a:pos x="77" y="160"/>
              </a:cxn>
              <a:cxn ang="0">
                <a:pos x="15" y="98"/>
              </a:cxn>
              <a:cxn ang="0">
                <a:pos x="46" y="233"/>
              </a:cxn>
              <a:cxn ang="0">
                <a:pos x="170" y="268"/>
              </a:cxn>
              <a:cxn ang="0">
                <a:pos x="301" y="400"/>
              </a:cxn>
              <a:cxn ang="0">
                <a:pos x="139" y="562"/>
              </a:cxn>
              <a:cxn ang="0">
                <a:pos x="57" y="592"/>
              </a:cxn>
              <a:cxn ang="0">
                <a:pos x="57" y="743"/>
              </a:cxn>
              <a:cxn ang="0">
                <a:pos x="207" y="743"/>
              </a:cxn>
              <a:cxn ang="0">
                <a:pos x="237" y="660"/>
              </a:cxn>
              <a:cxn ang="0">
                <a:pos x="400" y="498"/>
              </a:cxn>
              <a:cxn ang="0">
                <a:pos x="562" y="660"/>
              </a:cxn>
              <a:cxn ang="0">
                <a:pos x="593" y="743"/>
              </a:cxn>
              <a:cxn ang="0">
                <a:pos x="743" y="743"/>
              </a:cxn>
              <a:cxn ang="0">
                <a:pos x="743" y="593"/>
              </a:cxn>
              <a:cxn ang="0">
                <a:pos x="660" y="562"/>
              </a:cxn>
              <a:cxn ang="0">
                <a:pos x="146" y="722"/>
              </a:cxn>
              <a:cxn ang="0">
                <a:pos x="92" y="707"/>
              </a:cxn>
              <a:cxn ang="0">
                <a:pos x="78" y="653"/>
              </a:cxn>
              <a:cxn ang="0">
                <a:pos x="117" y="614"/>
              </a:cxn>
              <a:cxn ang="0">
                <a:pos x="171" y="628"/>
              </a:cxn>
              <a:cxn ang="0">
                <a:pos x="186" y="682"/>
              </a:cxn>
              <a:cxn ang="0">
                <a:pos x="146" y="722"/>
              </a:cxn>
              <a:cxn ang="0">
                <a:pos x="707" y="707"/>
              </a:cxn>
              <a:cxn ang="0">
                <a:pos x="653" y="722"/>
              </a:cxn>
              <a:cxn ang="0">
                <a:pos x="614" y="682"/>
              </a:cxn>
              <a:cxn ang="0">
                <a:pos x="628" y="628"/>
              </a:cxn>
              <a:cxn ang="0">
                <a:pos x="682" y="614"/>
              </a:cxn>
              <a:cxn ang="0">
                <a:pos x="722" y="653"/>
              </a:cxn>
              <a:cxn ang="0">
                <a:pos x="707" y="707"/>
              </a:cxn>
              <a:cxn ang="0">
                <a:pos x="707" y="707"/>
              </a:cxn>
              <a:cxn ang="0">
                <a:pos x="707" y="707"/>
              </a:cxn>
            </a:cxnLst>
            <a:rect l="0" t="0" r="r" b="b"/>
            <a:pathLst>
              <a:path w="800" h="784">
                <a:moveTo>
                  <a:pt x="660" y="562"/>
                </a:moveTo>
                <a:cubicBezTo>
                  <a:pt x="498" y="400"/>
                  <a:pt x="498" y="400"/>
                  <a:pt x="498" y="400"/>
                </a:cubicBezTo>
                <a:cubicBezTo>
                  <a:pt x="630" y="268"/>
                  <a:pt x="630" y="268"/>
                  <a:pt x="630" y="268"/>
                </a:cubicBezTo>
                <a:cubicBezTo>
                  <a:pt x="673" y="278"/>
                  <a:pt x="720" y="266"/>
                  <a:pt x="753" y="233"/>
                </a:cubicBezTo>
                <a:cubicBezTo>
                  <a:pt x="790" y="196"/>
                  <a:pt x="800" y="144"/>
                  <a:pt x="784" y="98"/>
                </a:cubicBezTo>
                <a:cubicBezTo>
                  <a:pt x="722" y="160"/>
                  <a:pt x="722" y="160"/>
                  <a:pt x="722" y="160"/>
                </a:cubicBezTo>
                <a:cubicBezTo>
                  <a:pt x="700" y="182"/>
                  <a:pt x="664" y="181"/>
                  <a:pt x="641" y="158"/>
                </a:cubicBezTo>
                <a:cubicBezTo>
                  <a:pt x="618" y="135"/>
                  <a:pt x="617" y="99"/>
                  <a:pt x="639" y="77"/>
                </a:cubicBezTo>
                <a:cubicBezTo>
                  <a:pt x="701" y="15"/>
                  <a:pt x="701" y="15"/>
                  <a:pt x="701" y="15"/>
                </a:cubicBezTo>
                <a:cubicBezTo>
                  <a:pt x="656" y="0"/>
                  <a:pt x="603" y="10"/>
                  <a:pt x="566" y="46"/>
                </a:cubicBezTo>
                <a:cubicBezTo>
                  <a:pt x="533" y="80"/>
                  <a:pt x="522" y="126"/>
                  <a:pt x="532" y="169"/>
                </a:cubicBezTo>
                <a:cubicBezTo>
                  <a:pt x="400" y="301"/>
                  <a:pt x="400" y="301"/>
                  <a:pt x="400" y="301"/>
                </a:cubicBezTo>
                <a:cubicBezTo>
                  <a:pt x="268" y="169"/>
                  <a:pt x="268" y="169"/>
                  <a:pt x="268" y="169"/>
                </a:cubicBezTo>
                <a:cubicBezTo>
                  <a:pt x="278" y="127"/>
                  <a:pt x="266" y="80"/>
                  <a:pt x="233" y="46"/>
                </a:cubicBezTo>
                <a:cubicBezTo>
                  <a:pt x="196" y="10"/>
                  <a:pt x="144" y="0"/>
                  <a:pt x="98" y="15"/>
                </a:cubicBezTo>
                <a:cubicBezTo>
                  <a:pt x="160" y="77"/>
                  <a:pt x="160" y="77"/>
                  <a:pt x="160" y="77"/>
                </a:cubicBezTo>
                <a:cubicBezTo>
                  <a:pt x="182" y="99"/>
                  <a:pt x="181" y="135"/>
                  <a:pt x="158" y="158"/>
                </a:cubicBezTo>
                <a:cubicBezTo>
                  <a:pt x="135" y="181"/>
                  <a:pt x="99" y="182"/>
                  <a:pt x="77" y="160"/>
                </a:cubicBezTo>
                <a:cubicBezTo>
                  <a:pt x="15" y="98"/>
                  <a:pt x="15" y="98"/>
                  <a:pt x="15" y="98"/>
                </a:cubicBezTo>
                <a:cubicBezTo>
                  <a:pt x="0" y="144"/>
                  <a:pt x="10" y="196"/>
                  <a:pt x="46" y="233"/>
                </a:cubicBezTo>
                <a:cubicBezTo>
                  <a:pt x="80" y="266"/>
                  <a:pt x="127" y="278"/>
                  <a:pt x="170" y="268"/>
                </a:cubicBezTo>
                <a:cubicBezTo>
                  <a:pt x="301" y="400"/>
                  <a:pt x="301" y="400"/>
                  <a:pt x="301" y="400"/>
                </a:cubicBezTo>
                <a:cubicBezTo>
                  <a:pt x="139" y="562"/>
                  <a:pt x="139" y="562"/>
                  <a:pt x="139" y="562"/>
                </a:cubicBezTo>
                <a:cubicBezTo>
                  <a:pt x="109" y="560"/>
                  <a:pt x="79" y="570"/>
                  <a:pt x="57" y="592"/>
                </a:cubicBezTo>
                <a:cubicBezTo>
                  <a:pt x="15" y="634"/>
                  <a:pt x="15" y="701"/>
                  <a:pt x="57" y="743"/>
                </a:cubicBezTo>
                <a:cubicBezTo>
                  <a:pt x="98" y="784"/>
                  <a:pt x="165" y="784"/>
                  <a:pt x="207" y="743"/>
                </a:cubicBezTo>
                <a:cubicBezTo>
                  <a:pt x="229" y="720"/>
                  <a:pt x="239" y="690"/>
                  <a:pt x="237" y="660"/>
                </a:cubicBezTo>
                <a:cubicBezTo>
                  <a:pt x="400" y="498"/>
                  <a:pt x="400" y="498"/>
                  <a:pt x="400" y="498"/>
                </a:cubicBezTo>
                <a:cubicBezTo>
                  <a:pt x="562" y="660"/>
                  <a:pt x="562" y="660"/>
                  <a:pt x="562" y="660"/>
                </a:cubicBezTo>
                <a:cubicBezTo>
                  <a:pt x="560" y="690"/>
                  <a:pt x="570" y="720"/>
                  <a:pt x="593" y="743"/>
                </a:cubicBezTo>
                <a:cubicBezTo>
                  <a:pt x="634" y="784"/>
                  <a:pt x="701" y="784"/>
                  <a:pt x="743" y="743"/>
                </a:cubicBezTo>
                <a:cubicBezTo>
                  <a:pt x="784" y="701"/>
                  <a:pt x="784" y="634"/>
                  <a:pt x="743" y="593"/>
                </a:cubicBezTo>
                <a:cubicBezTo>
                  <a:pt x="720" y="570"/>
                  <a:pt x="690" y="560"/>
                  <a:pt x="660" y="562"/>
                </a:cubicBezTo>
                <a:close/>
                <a:moveTo>
                  <a:pt x="146" y="722"/>
                </a:moveTo>
                <a:cubicBezTo>
                  <a:pt x="92" y="707"/>
                  <a:pt x="92" y="707"/>
                  <a:pt x="92" y="707"/>
                </a:cubicBezTo>
                <a:cubicBezTo>
                  <a:pt x="78" y="653"/>
                  <a:pt x="78" y="653"/>
                  <a:pt x="78" y="653"/>
                </a:cubicBezTo>
                <a:cubicBezTo>
                  <a:pt x="117" y="614"/>
                  <a:pt x="117" y="614"/>
                  <a:pt x="117" y="614"/>
                </a:cubicBezTo>
                <a:cubicBezTo>
                  <a:pt x="171" y="628"/>
                  <a:pt x="171" y="628"/>
                  <a:pt x="171" y="628"/>
                </a:cubicBezTo>
                <a:cubicBezTo>
                  <a:pt x="186" y="682"/>
                  <a:pt x="186" y="682"/>
                  <a:pt x="186" y="682"/>
                </a:cubicBezTo>
                <a:lnTo>
                  <a:pt x="146" y="722"/>
                </a:lnTo>
                <a:close/>
                <a:moveTo>
                  <a:pt x="707" y="707"/>
                </a:moveTo>
                <a:cubicBezTo>
                  <a:pt x="653" y="722"/>
                  <a:pt x="653" y="722"/>
                  <a:pt x="653" y="722"/>
                </a:cubicBezTo>
                <a:cubicBezTo>
                  <a:pt x="614" y="682"/>
                  <a:pt x="614" y="682"/>
                  <a:pt x="614" y="682"/>
                </a:cubicBezTo>
                <a:cubicBezTo>
                  <a:pt x="628" y="628"/>
                  <a:pt x="628" y="628"/>
                  <a:pt x="628" y="628"/>
                </a:cubicBezTo>
                <a:cubicBezTo>
                  <a:pt x="682" y="614"/>
                  <a:pt x="682" y="614"/>
                  <a:pt x="682" y="614"/>
                </a:cubicBezTo>
                <a:cubicBezTo>
                  <a:pt x="722" y="653"/>
                  <a:pt x="722" y="653"/>
                  <a:pt x="722" y="653"/>
                </a:cubicBezTo>
                <a:lnTo>
                  <a:pt x="707" y="707"/>
                </a:lnTo>
                <a:close/>
                <a:moveTo>
                  <a:pt x="707" y="707"/>
                </a:moveTo>
                <a:cubicBezTo>
                  <a:pt x="707" y="707"/>
                  <a:pt x="707" y="707"/>
                  <a:pt x="707" y="707"/>
                </a:cubicBezTo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9" name="矩形: 圆角 18"/>
          <p:cNvSpPr/>
          <p:nvPr/>
        </p:nvSpPr>
        <p:spPr>
          <a:xfrm>
            <a:off x="6451403" y="1219284"/>
            <a:ext cx="1776110" cy="1138371"/>
          </a:xfrm>
          <a:prstGeom prst="roundRect">
            <a:avLst/>
          </a:prstGeom>
          <a:solidFill>
            <a:srgbClr val="F3F5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仅投资无风险股票，</a:t>
            </a:r>
            <a:endParaRPr kumimoji="1"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对该季度下</a:t>
            </a:r>
            <a:r>
              <a:rPr kumimoji="1"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FSFP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高于</a:t>
            </a:r>
            <a:r>
              <a:rPr kumimoji="1"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的风险股票选择不投资保留本金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箭头: 右 20"/>
          <p:cNvSpPr/>
          <p:nvPr/>
        </p:nvSpPr>
        <p:spPr>
          <a:xfrm>
            <a:off x="4234540" y="1643285"/>
            <a:ext cx="1861460" cy="273022"/>
          </a:xfrm>
          <a:prstGeom prst="rightArrow">
            <a:avLst/>
          </a:prstGeom>
          <a:solidFill>
            <a:srgbClr val="FFFFFF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/>
          <p:cNvSpPr/>
          <p:nvPr/>
        </p:nvSpPr>
        <p:spPr>
          <a:xfrm>
            <a:off x="8442742" y="1635245"/>
            <a:ext cx="917857" cy="286494"/>
          </a:xfrm>
          <a:prstGeom prst="rightArrow">
            <a:avLst/>
          </a:prstGeom>
          <a:solidFill>
            <a:srgbClr val="FFFFFF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/>
        </p:nvSpPr>
        <p:spPr>
          <a:xfrm>
            <a:off x="9591212" y="1478919"/>
            <a:ext cx="1776110" cy="577967"/>
          </a:xfrm>
          <a:prstGeom prst="roundRect">
            <a:avLst/>
          </a:prstGeom>
          <a:solidFill>
            <a:srgbClr val="F3F5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与基准收益进行比较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65594" y="1916307"/>
            <a:ext cx="1676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年第一季度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-2025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年第二季度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形 29" descr="统计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727" y="1141524"/>
            <a:ext cx="602119" cy="6021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4162044" y="1106425"/>
            <a:ext cx="3867912" cy="261518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TopHold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MHR IHR</a:t>
            </a:r>
            <a:endParaRPr lang="en-US" altLang="zh-CN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Board 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IndDrc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SOE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3yIAC 3yAFC Top4Aud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NSAO 3yMC 3yBC Dual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294132" y="1106425"/>
            <a:ext cx="3867912" cy="26151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 FCFR ROA ROE 2yLoss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NCFO 3yGrw RTR EIR RIR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FSR RR IR CAR FAT 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94132" y="3721606"/>
            <a:ext cx="3867912" cy="261517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MrkVal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PE 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AnnRet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Turnover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Vol Beta FF3 Liu3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162044" y="3721605"/>
            <a:ext cx="3867912" cy="26151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NewsSent</a:t>
            </a:r>
            <a:endParaRPr lang="en-US" altLang="zh-CN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GubaSent</a:t>
            </a:r>
            <a:endParaRPr lang="en-US" altLang="zh-CN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RepoSent</a:t>
            </a:r>
            <a:endParaRPr lang="en-US" altLang="zh-CN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数据收集和因子构建</a:t>
            </a:r>
            <a:endParaRPr lang="en-US" altLang="zh-CN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28088" y="3429217"/>
            <a:ext cx="356379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四大类、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09482" y="906370"/>
            <a:ext cx="2378204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Governance </a:t>
            </a:r>
            <a:r>
              <a:rPr lang="zh-CN" alt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治理</a:t>
            </a:r>
            <a:endParaRPr lang="zh-CN" altLang="en-US" sz="2000" b="1" dirty="0">
              <a:solidFill>
                <a:schemeClr val="accent1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99946" y="921322"/>
            <a:ext cx="203339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Financial </a:t>
            </a:r>
            <a:r>
              <a:rPr lang="zh-CN" alt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财务</a:t>
            </a:r>
            <a:endParaRPr lang="zh-CN" altLang="en-US" sz="2000" b="1" dirty="0">
              <a:solidFill>
                <a:schemeClr val="accent1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62265" y="6121777"/>
            <a:ext cx="1731645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Market </a:t>
            </a:r>
            <a:r>
              <a:rPr lang="zh-CN" alt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市场</a:t>
            </a:r>
            <a:endParaRPr lang="zh-CN" altLang="en-US" sz="2000" b="1" dirty="0">
              <a:solidFill>
                <a:schemeClr val="accent1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51869" y="6121777"/>
            <a:ext cx="2088261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Sentiment </a:t>
            </a:r>
            <a:r>
              <a:rPr lang="zh-CN" alt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情感</a:t>
            </a:r>
            <a:endParaRPr lang="zh-CN" altLang="en-US" sz="2000" b="1" dirty="0">
              <a:solidFill>
                <a:schemeClr val="accent1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8321801" y="1169588"/>
            <a:ext cx="3663822" cy="5108997"/>
          </a:xfrm>
          <a:prstGeom prst="roundRect">
            <a:avLst>
              <a:gd name="adj" fmla="val 5160"/>
            </a:avLst>
          </a:prstGeom>
          <a:solidFill>
            <a:schemeClr val="bg1">
              <a:alpha val="30196"/>
            </a:schemeClr>
          </a:solidFill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249113" y="1003866"/>
            <a:ext cx="17866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数据收集与处理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440024" y="1538920"/>
            <a:ext cx="3427373" cy="1514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结构化数据：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来源：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CSMAR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、万得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2001-2025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观测数据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时序性填补缺失值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40024" y="3345850"/>
            <a:ext cx="3427373" cy="822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非结构化文本数据：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“大模型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传统工具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相结合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6766560" y="4681728"/>
            <a:ext cx="1709928" cy="0"/>
          </a:xfrm>
          <a:prstGeom prst="line">
            <a:avLst/>
          </a:prstGeom>
          <a:ln w="28575"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766560" y="5099304"/>
            <a:ext cx="1709928" cy="0"/>
          </a:xfrm>
          <a:prstGeom prst="line">
            <a:avLst/>
          </a:prstGeom>
          <a:ln w="28575"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766560" y="5501640"/>
            <a:ext cx="1709928" cy="0"/>
          </a:xfrm>
          <a:prstGeom prst="line">
            <a:avLst/>
          </a:prstGeom>
          <a:ln w="28575"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8452703" y="4482889"/>
            <a:ext cx="352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CEND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相关新闻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通义千问大模型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452703" y="4904232"/>
            <a:ext cx="352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东方财富网股吧评论 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SnowNLP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452704" y="5316974"/>
            <a:ext cx="2322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分析师报告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4719967" y="1555116"/>
            <a:ext cx="3255757" cy="5145578"/>
          </a:xfrm>
          <a:prstGeom prst="rect">
            <a:avLst/>
          </a:prstGeom>
          <a:solidFill>
            <a:srgbClr val="FFFFFF"/>
          </a:solidFill>
          <a:ln w="1905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8198716" y="2882217"/>
            <a:ext cx="3928534" cy="2801390"/>
          </a:xfrm>
          <a:prstGeom prst="rect">
            <a:avLst/>
          </a:prstGeom>
          <a:solidFill>
            <a:srgbClr val="FFFFFF"/>
          </a:solidFill>
          <a:ln w="1905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同行因子构建</a:t>
            </a:r>
            <a:endParaRPr lang="zh-CN" altLang="en-US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71205" y="1754028"/>
            <a:ext cx="2644014" cy="735038"/>
          </a:xfrm>
          <a:prstGeom prst="rect">
            <a:avLst/>
          </a:prstGeom>
          <a:solidFill>
            <a:srgbClr val="FFB8B8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爬取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股市场上市公司业务摘要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71205" y="3241805"/>
            <a:ext cx="2644014" cy="605006"/>
          </a:xfrm>
          <a:prstGeom prst="rect">
            <a:avLst/>
          </a:prstGeom>
          <a:solidFill>
            <a:srgbClr val="FFB8B8"/>
          </a:solidFill>
          <a:ln w="19050">
            <a:solidFill>
              <a:srgbClr val="FF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训练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Doc2Vec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模型，计算公司间业务相似度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971205" y="4571373"/>
            <a:ext cx="2644013" cy="605006"/>
          </a:xfrm>
          <a:prstGeom prst="rect">
            <a:avLst/>
          </a:prstGeom>
          <a:solidFill>
            <a:srgbClr val="FFB8B8"/>
          </a:solidFill>
          <a:ln w="19050">
            <a:solidFill>
              <a:srgbClr val="FF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CNM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算法进行公司分组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8820803" y="3315229"/>
                <a:ext cx="2477673" cy="60025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rgbClr val="FFB8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同行影响因子</a:t>
                </a:r>
                <a14:m>
                  <m:oMath xmlns:m="http://schemas.openxmlformats.org/officeDocument/2006/math">
                    <m:r>
                      <a:rPr lang="zh-CN" altLang="en-US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：</m:t>
                    </m:r>
                    <m:acc>
                      <m:accPr>
                        <m:chr m:val="̅"/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𝐅𝐒𝐅𝐏</m:t>
                        </m:r>
                      </m:e>
                    </m:acc>
                  </m:oMath>
                </a14:m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0803" y="3315229"/>
                <a:ext cx="2477673" cy="600250"/>
              </a:xfrm>
              <a:prstGeom prst="rect">
                <a:avLst/>
              </a:prstGeom>
              <a:blipFill rotWithShape="1">
                <a:blip r:embed="rId1"/>
                <a:stretch>
                  <a:fillRect l="-385" t="-1675" r="-362" b="-1575"/>
                </a:stretch>
              </a:blipFill>
              <a:ln w="19050">
                <a:solidFill>
                  <a:srgbClr val="FFB8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8393295" y="4651921"/>
                <a:ext cx="3658081" cy="60025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rgbClr val="FFB8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同行比较因子：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𝑫</m:t>
                    </m:r>
                    <m:d>
                      <m:dPr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</m:e>
                    </m:acc>
                  </m:oMath>
                </a14:m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295" y="4651921"/>
                <a:ext cx="3658081" cy="600250"/>
              </a:xfrm>
              <a:prstGeom prst="rect">
                <a:avLst/>
              </a:prstGeom>
              <a:blipFill rotWithShape="1">
                <a:blip r:embed="rId2"/>
                <a:stretch>
                  <a:fillRect l="-274" t="-1678" r="-251" b="-1573"/>
                </a:stretch>
              </a:blipFill>
              <a:ln w="19050">
                <a:solidFill>
                  <a:srgbClr val="FFB8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/>
          <p:cNvSpPr/>
          <p:nvPr/>
        </p:nvSpPr>
        <p:spPr>
          <a:xfrm>
            <a:off x="4971206" y="5900941"/>
            <a:ext cx="2644012" cy="605006"/>
          </a:xfrm>
          <a:prstGeom prst="rect">
            <a:avLst/>
          </a:prstGeom>
          <a:solidFill>
            <a:srgbClr val="FFB8B8"/>
          </a:solidFill>
          <a:ln w="19050">
            <a:solidFill>
              <a:srgbClr val="FF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根据分组结果构建同行因子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箭头: 右 31"/>
          <p:cNvSpPr/>
          <p:nvPr/>
        </p:nvSpPr>
        <p:spPr>
          <a:xfrm>
            <a:off x="7565470" y="3774615"/>
            <a:ext cx="1138741" cy="706581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6210367" y="2585100"/>
            <a:ext cx="0" cy="53633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6210367" y="3942845"/>
            <a:ext cx="0" cy="53633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6221452" y="5281195"/>
            <a:ext cx="0" cy="53633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1687234" y="829709"/>
            <a:ext cx="84757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上市公司的财务舞弊行为不仅与其自身特征有关，还受到其他相关公司舞弊行为的影响。为了更好地捕捉到这种影响，项目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引入同行因子进行特征集扩充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40624" y="2882217"/>
            <a:ext cx="4404132" cy="3709839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6122"/>
          <a:stretch>
            <a:fillRect/>
          </a:stretch>
        </p:blipFill>
        <p:spPr>
          <a:xfrm>
            <a:off x="255614" y="2947668"/>
            <a:ext cx="4114969" cy="350786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箭头: 左弧形 5"/>
          <p:cNvSpPr/>
          <p:nvPr/>
        </p:nvSpPr>
        <p:spPr>
          <a:xfrm rot="6501443">
            <a:off x="3958209" y="1579859"/>
            <a:ext cx="638212" cy="1921064"/>
          </a:xfrm>
          <a:prstGeom prst="curved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61533" y="2355725"/>
            <a:ext cx="245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相似度描述性统计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4096893" y="2446829"/>
            <a:ext cx="8024908" cy="4317240"/>
          </a:xfrm>
          <a:prstGeom prst="roundRect">
            <a:avLst>
              <a:gd name="adj" fmla="val 1304"/>
            </a:avLst>
          </a:prstGeom>
          <a:solidFill>
            <a:schemeClr val="accent1">
              <a:alpha val="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781" y="-9905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同行因子构建</a:t>
            </a:r>
            <a:endParaRPr lang="zh-CN" altLang="en-US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571120" y="892216"/>
            <a:ext cx="2645599" cy="612000"/>
          </a:xfrm>
          <a:prstGeom prst="roundRect">
            <a:avLst>
              <a:gd name="adj" fmla="val 16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CNM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算法分组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199" y="1647795"/>
            <a:ext cx="3647442" cy="5116273"/>
          </a:xfrm>
          <a:prstGeom prst="rect">
            <a:avLst/>
          </a:prstGeom>
          <a:solidFill>
            <a:srgbClr val="FFFAE7"/>
          </a:solidFill>
          <a:ln w="28575"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74309" y="1842803"/>
            <a:ext cx="3063720" cy="398046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初始化：每个公司节点独立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1939705" y="2231282"/>
            <a:ext cx="0" cy="4536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92853" y="2684929"/>
            <a:ext cx="3045176" cy="829361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计算△矩阵：元素为每两组合并后的模块增量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971289" y="3539482"/>
            <a:ext cx="0" cy="4536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74309" y="4004404"/>
            <a:ext cx="3063720" cy="5723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r>
              <a:rPr lang="zh-CN" altLang="zh-CN" dirty="0">
                <a:solidFill>
                  <a:schemeClr val="tx1"/>
                </a:solidFill>
              </a:rPr>
              <a:t>取</a:t>
            </a:r>
            <a:r>
              <a:rPr lang="en-US" altLang="zh-CN" dirty="0">
                <a:solidFill>
                  <a:schemeClr val="tx1"/>
                </a:solidFill>
              </a:rPr>
              <a:t>δ∗ = max(</a:t>
            </a:r>
            <a:r>
              <a:rPr lang="zh-CN" altLang="zh-CN" dirty="0">
                <a:solidFill>
                  <a:schemeClr val="tx1"/>
                </a:solidFill>
              </a:rPr>
              <a:t>δ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zh-CN" dirty="0">
                <a:solidFill>
                  <a:schemeClr val="tx1"/>
                </a:solidFill>
              </a:rPr>
              <a:t>δ ∈ </a:t>
            </a:r>
            <a:r>
              <a:rPr lang="en-US" altLang="zh-CN" dirty="0">
                <a:solidFill>
                  <a:schemeClr val="tx1"/>
                </a:solidFill>
              </a:rPr>
              <a:t>∆)</a:t>
            </a:r>
            <a:r>
              <a:rPr lang="zh-CN" altLang="zh-CN" dirty="0">
                <a:solidFill>
                  <a:schemeClr val="tx1"/>
                </a:solidFill>
              </a:rPr>
              <a:t>，并合并该值所对应的两个组</a:t>
            </a:r>
            <a:endParaRPr lang="zh-CN" altLang="zh-CN" dirty="0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981383" y="4569835"/>
            <a:ext cx="0" cy="4924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392853" y="5062301"/>
            <a:ext cx="3063720" cy="590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r>
              <a:rPr lang="zh-CN" altLang="zh-CN" dirty="0">
                <a:solidFill>
                  <a:schemeClr val="tx1"/>
                </a:solidFill>
              </a:rPr>
              <a:t>更新合并后的模块</a:t>
            </a:r>
            <a:r>
              <a:rPr lang="en-US" altLang="zh-CN" dirty="0">
                <a:solidFill>
                  <a:schemeClr val="tx1"/>
                </a:solidFill>
              </a:rPr>
              <a:t>Qt</a:t>
            </a:r>
            <a:r>
              <a:rPr lang="zh-CN" altLang="zh-CN" dirty="0">
                <a:solidFill>
                  <a:schemeClr val="tx1"/>
                </a:solidFill>
              </a:rPr>
              <a:t>、△矩阵</a:t>
            </a:r>
            <a:endParaRPr lang="zh-CN" altLang="zh-CN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23" idx="2"/>
          </p:cNvCxnSpPr>
          <p:nvPr/>
        </p:nvCxnSpPr>
        <p:spPr>
          <a:xfrm>
            <a:off x="1924713" y="5652966"/>
            <a:ext cx="0" cy="485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07845" y="6124791"/>
            <a:ext cx="3063720" cy="5723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r>
              <a:rPr lang="zh-CN" altLang="zh-CN" dirty="0">
                <a:solidFill>
                  <a:schemeClr val="tx1"/>
                </a:solidFill>
              </a:rPr>
              <a:t>不断重复，直至</a:t>
            </a:r>
            <a:r>
              <a:rPr lang="zh-CN" altLang="en-US" dirty="0">
                <a:solidFill>
                  <a:schemeClr val="tx1"/>
                </a:solidFill>
              </a:rPr>
              <a:t>模块</a:t>
            </a:r>
            <a:r>
              <a:rPr lang="zh-CN" altLang="zh-CN" dirty="0">
                <a:solidFill>
                  <a:schemeClr val="tx1"/>
                </a:solidFill>
              </a:rPr>
              <a:t>达到最大值，即为最佳分组</a:t>
            </a:r>
            <a:endParaRPr lang="zh-CN" altLang="zh-C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1"/>
              <p:nvPr/>
            </p:nvSpPr>
            <p:spPr>
              <a:xfrm>
                <a:off x="8917854" y="1386812"/>
                <a:ext cx="3947512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𝐺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：在当前分组情况下的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𝐶𝑆</m:t>
                            </m:r>
                            <m:sSub>
                              <m:sSubPr>
                                <m:ctrlPr>
                                  <a:rPr lang="zh-CN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：相似度矩阵的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L1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范数</a:t>
                </a:r>
                <a:endPara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:t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时期总公司数量</a:t>
                </a:r>
                <a:endPara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当前组数</a:t>
                </a:r>
                <a:endPara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854" y="1386812"/>
                <a:ext cx="3947512" cy="1354217"/>
              </a:xfrm>
              <a:prstGeom prst="rect">
                <a:avLst/>
              </a:prstGeom>
              <a:blipFill rotWithShape="1">
                <a:blip r:embed="rId1"/>
                <a:stretch>
                  <a:fillRect l="-14" t="-45" r="7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3295413" y="1386812"/>
                <a:ext cx="6129866" cy="946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subSup"/>
                                      <m:sup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ⅈ,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nary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𝐶𝑆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supHide m:val="on"/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zh-CN" altLang="en-US" i="0">
                                                  <a:latin typeface="Cambria Math" panose="02040503050406030204" pitchFamily="18" charset="0"/>
                                                </a:rPr>
                                                <m:t>ⅈ∈</m:t>
                                              </m:r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sub>
                                            <m:sup/>
                                            <m:e>
                                              <m:nary>
                                                <m:naryPr>
                                                  <m:chr m:val="∑"/>
                                                  <m:limLoc m:val="subSup"/>
                                                  <m:ctrlP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zh-CN" altLang="en-US" i="0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zh-CN" altLang="en-US" i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𝑁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  <m:r>
                                                        <a:rPr lang="zh-CN" altLang="en-US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zh-CN" altLang="en-US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nary>
                                            </m:e>
                                          </m:nary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𝐶𝑆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𝑀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CN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zh-CN" altLang="en-US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413" y="1386812"/>
                <a:ext cx="6129866" cy="946606"/>
              </a:xfrm>
              <a:prstGeom prst="rect">
                <a:avLst/>
              </a:prstGeom>
              <a:blipFill rotWithShape="1">
                <a:blip r:embed="rId2"/>
                <a:stretch>
                  <a:fillRect l="-6" t="-64" r="10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本框 41"/>
          <p:cNvSpPr txBox="1"/>
          <p:nvPr/>
        </p:nvSpPr>
        <p:spPr>
          <a:xfrm>
            <a:off x="3276829" y="978106"/>
            <a:ext cx="891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算法是一种基于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思想的社团结构检测算法，主要用于网络中的社区发现。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754" y="4614493"/>
            <a:ext cx="2637354" cy="196153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425" y="4608306"/>
            <a:ext cx="2657329" cy="197638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395" y="2457373"/>
            <a:ext cx="2657328" cy="1976388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349370" y="6503395"/>
            <a:ext cx="2530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年业务网络图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0149436" y="6519720"/>
            <a:ext cx="2530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年业务网络图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281" y="2432722"/>
            <a:ext cx="2657328" cy="1976388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258" y="2446829"/>
            <a:ext cx="2657328" cy="197282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893" y="4603477"/>
            <a:ext cx="2657330" cy="197638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10099014" y="4330440"/>
            <a:ext cx="2530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年业务网络图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43753" y="4354727"/>
            <a:ext cx="2530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年业务网络图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334371" y="4369914"/>
            <a:ext cx="2530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年业务网络图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765586" y="6511587"/>
            <a:ext cx="2530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年业务网络图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40995" y="3873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财务风险度量的</a:t>
            </a:r>
            <a:r>
              <a:rPr lang="zh-CN" altLang="en-US" sz="3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预测</a:t>
            </a:r>
            <a:endParaRPr lang="zh-CN" altLang="en-US" sz="36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3365" y="845185"/>
          <a:ext cx="11628755" cy="56508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7600"/>
                <a:gridCol w="1968500"/>
                <a:gridCol w="2833370"/>
                <a:gridCol w="3361055"/>
                <a:gridCol w="2348230"/>
              </a:tblGrid>
              <a:tr h="323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>
                          <a:effectLst/>
                        </a:rPr>
                        <a:t>方法类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>
                          <a:effectLst/>
                        </a:rPr>
                        <a:t>具体模型</a:t>
                      </a:r>
                      <a:r>
                        <a:rPr lang="en-US" altLang="zh-CN" sz="1400" b="1" u="none" strike="noStrike">
                          <a:effectLst/>
                        </a:rPr>
                        <a:t>/</a:t>
                      </a:r>
                      <a:r>
                        <a:rPr lang="zh-CN" altLang="en-US" sz="1400" b="1" u="none" strike="noStrike">
                          <a:effectLst/>
                        </a:rPr>
                        <a:t>变体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>
                          <a:effectLst/>
                        </a:rPr>
                        <a:t>核心思路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 dirty="0">
                          <a:effectLst/>
                        </a:rPr>
                        <a:t>关键调参要点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折交叉训练平均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准确率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5111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线性基线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Logistic Regression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线性可分、可解释，基线强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C、正则项（L1/L2）、class_weight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52.5%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5111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单树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Decision Tree (CART)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规则分割、可解释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max_depth、min_samples_split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79.0%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5118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装袋集成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Random Forest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多棵随机子树投票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n_estimators、max_features、max_depth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81.7%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5118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装袋集成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Extra Trees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极端随机划分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n_estimators、max_depth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82.1%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5105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提升集成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Gradient Boosting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残差逐步拟合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n_estimators、learning_rate、max_depth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80.5%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646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提升集成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XGBoost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一阶</a:t>
                      </a:r>
                      <a:r>
                        <a:rPr lang="en-US" altLang="zh-CN" sz="1400" u="none" strike="noStrike">
                          <a:effectLst/>
                        </a:rPr>
                        <a:t>+</a:t>
                      </a:r>
                      <a:r>
                        <a:rPr lang="zh-CN" altLang="en-US" sz="1400" u="none" strike="noStrike">
                          <a:effectLst/>
                        </a:rPr>
                        <a:t>二阶信息、强正则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n_estimators、max_depth、eta、subsample、colsample_bytree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81.6%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644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提升集成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LightGBM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直方</a:t>
                      </a:r>
                      <a:r>
                        <a:rPr lang="en-US" altLang="zh-CN" sz="1400" u="none" strike="noStrike">
                          <a:effectLst/>
                        </a:rPr>
                        <a:t>/</a:t>
                      </a:r>
                      <a:r>
                        <a:rPr lang="zh-CN" altLang="en-US" sz="1400" u="none" strike="noStrike">
                          <a:effectLst/>
                        </a:rPr>
                        <a:t>叶子生长，高效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num_leaves、max_depth、learning_rate、lambda_l1/l2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sym typeface="+mn-ea"/>
                        </a:rPr>
                        <a:t>82.4%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sym typeface="+mn-ea"/>
                      </a:endParaRPr>
                    </a:p>
                  </a:txBody>
                  <a:tcPr marL="7793" marR="7793" marT="7793" marB="0" anchor="ctr"/>
                </a:tc>
              </a:tr>
              <a:tr h="5124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核方法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SVM（RBF）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间隔最大化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C、kernel、gamma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81.4%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3213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邻域法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KNN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多数表决</a:t>
                      </a:r>
                      <a:r>
                        <a:rPr lang="en-US" altLang="zh-CN" sz="1400" u="none" strike="noStrike">
                          <a:effectLst/>
                        </a:rPr>
                        <a:t>/</a:t>
                      </a:r>
                      <a:r>
                        <a:rPr lang="zh-CN" altLang="en-US" sz="1400" u="none" strike="noStrike">
                          <a:effectLst/>
                        </a:rPr>
                        <a:t>频率概率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n_neighbors、距离度量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78.6%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  <a:tr h="646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浅层神经网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MLPClassifier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多层感知机、非线性拟合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u="none" strike="noStrike">
                          <a:effectLst/>
                        </a:rPr>
                        <a:t>hidden_layer_sizes、alpha、max_iter</a:t>
                      </a:r>
                      <a:endParaRPr lang="zh-CN" altLang="en-US" sz="1400" b="0" i="0" u="none" strike="noStrike">
                        <a:effectLst/>
                      </a:endParaRPr>
                    </a:p>
                  </a:txBody>
                  <a:tcPr marL="7793" marR="7793" marT="7793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78.9%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793" marR="7793" marT="7793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1730"/>
          <p:cNvSpPr/>
          <p:nvPr/>
        </p:nvSpPr>
        <p:spPr>
          <a:xfrm>
            <a:off x="5958840" y="2747010"/>
            <a:ext cx="5938520" cy="3616325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731" name="矩形: 圆角 1730"/>
          <p:cNvSpPr/>
          <p:nvPr/>
        </p:nvSpPr>
        <p:spPr>
          <a:xfrm>
            <a:off x="2063115" y="2747010"/>
            <a:ext cx="3649980" cy="3616325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endParaRPr lang="en-US" altLang="zh-CN" sz="2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3405" y="925195"/>
            <a:ext cx="10800715" cy="1047750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 lIns="72000" tIns="36000" rIns="72000" bIns="72000" anchor="ctr">
            <a:noAutofit/>
          </a:bodyPr>
          <a:lstStyle/>
          <a:p>
            <a:pPr marL="0" marR="0" lvl="0" indent="0" algn="just" defTabSz="914400" eaLnBrk="1" fontAlgn="ctr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为应对金融数据分布随时间漂移的特点，本项目引入强化学习中的上下文多臂老虎机框架。其核心在于放弃对固定模式的依赖，转而根据每一笔最新数据及其反馈持续学习，从而确保模型判断能够跟随不断变化的金融数据同步演变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727" name="矩形: 圆角 1726"/>
          <p:cNvSpPr/>
          <p:nvPr/>
        </p:nvSpPr>
        <p:spPr>
          <a:xfrm>
            <a:off x="440690" y="2746375"/>
            <a:ext cx="1358900" cy="3616325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748" name="箭头: 下 22"/>
          <p:cNvSpPr/>
          <p:nvPr/>
        </p:nvSpPr>
        <p:spPr>
          <a:xfrm rot="16200000">
            <a:off x="3762499" y="4299246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9" name="矩形: 圆角 1748"/>
          <p:cNvSpPr/>
          <p:nvPr/>
        </p:nvSpPr>
        <p:spPr>
          <a:xfrm>
            <a:off x="9374928" y="3042455"/>
            <a:ext cx="684000" cy="360000"/>
          </a:xfrm>
          <a:prstGeom prst="roundRect">
            <a:avLst>
              <a:gd name="adj" fmla="val 16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奖励</a:t>
            </a:r>
            <a:endParaRPr kumimoji="1"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58" name="矩形: 圆角 1757"/>
          <p:cNvSpPr/>
          <p:nvPr/>
        </p:nvSpPr>
        <p:spPr>
          <a:xfrm>
            <a:off x="7202184" y="3042019"/>
            <a:ext cx="684000" cy="360000"/>
          </a:xfrm>
          <a:prstGeom prst="roundRect">
            <a:avLst>
              <a:gd name="adj" fmla="val 16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动作</a:t>
            </a:r>
            <a:endParaRPr kumimoji="1"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957820" y="4012565"/>
            <a:ext cx="670560" cy="563880"/>
            <a:chOff x="9619" y="6288"/>
            <a:chExt cx="1056" cy="888"/>
          </a:xfrm>
        </p:grpSpPr>
        <p:sp>
          <p:nvSpPr>
            <p:cNvPr id="1759" name="矩形: 圆角 1758"/>
            <p:cNvSpPr/>
            <p:nvPr/>
          </p:nvSpPr>
          <p:spPr>
            <a:xfrm>
              <a:off x="9619" y="6288"/>
              <a:ext cx="510" cy="51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0" name="矩形: 圆角 1759"/>
            <p:cNvSpPr/>
            <p:nvPr/>
          </p:nvSpPr>
          <p:spPr>
            <a:xfrm>
              <a:off x="9892" y="6477"/>
              <a:ext cx="510" cy="51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1" name="矩形: 圆角 1760"/>
            <p:cNvSpPr/>
            <p:nvPr/>
          </p:nvSpPr>
          <p:spPr>
            <a:xfrm>
              <a:off x="10165" y="6666"/>
              <a:ext cx="510" cy="51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64" name="箭头: 下 22"/>
          <p:cNvSpPr/>
          <p:nvPr/>
        </p:nvSpPr>
        <p:spPr>
          <a:xfrm rot="16200000">
            <a:off x="5710637" y="4299246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75" name="箭头: 下 22"/>
          <p:cNvSpPr/>
          <p:nvPr/>
        </p:nvSpPr>
        <p:spPr>
          <a:xfrm rot="16200000">
            <a:off x="3670867" y="5530011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286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21" name="图形 1820" descr="客户评价 纯色填充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43599" y="3129660"/>
            <a:ext cx="522714" cy="522714"/>
          </a:xfrm>
          <a:prstGeom prst="rect">
            <a:avLst/>
          </a:prstGeom>
        </p:spPr>
      </p:pic>
      <p:sp>
        <p:nvSpPr>
          <p:cNvPr id="2" name="矩形: 圆角 1743"/>
          <p:cNvSpPr/>
          <p:nvPr/>
        </p:nvSpPr>
        <p:spPr>
          <a:xfrm>
            <a:off x="573405" y="3652520"/>
            <a:ext cx="1162685" cy="3600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1744"/>
          <p:cNvSpPr/>
          <p:nvPr/>
        </p:nvSpPr>
        <p:spPr>
          <a:xfrm>
            <a:off x="543560" y="4262755"/>
            <a:ext cx="1162050" cy="3600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同行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1744"/>
          <p:cNvSpPr/>
          <p:nvPr/>
        </p:nvSpPr>
        <p:spPr>
          <a:xfrm>
            <a:off x="543560" y="4826000"/>
            <a:ext cx="1162050" cy="36004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趋势因子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748"/>
          <p:cNvSpPr/>
          <p:nvPr/>
        </p:nvSpPr>
        <p:spPr>
          <a:xfrm>
            <a:off x="774488" y="3042455"/>
            <a:ext cx="684000" cy="360000"/>
          </a:xfrm>
          <a:prstGeom prst="roundRect">
            <a:avLst>
              <a:gd name="adj" fmla="val 16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状态</a:t>
            </a:r>
            <a:endParaRPr kumimoji="1"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99110" y="5530215"/>
                <a:ext cx="1228090" cy="4292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50196"/>
                </a:schemeClr>
              </a:solidFill>
              <a:ln w="76200"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>
                <a:defPPr>
                  <a:defRPr lang="en-US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zh-CN" altLang="en-US" sz="1200" dirty="0">
                    <a:solidFill>
                      <a:schemeClr val="tx1"/>
                    </a:solidFill>
                    <a:sym typeface="Arial" panose="020B0604020202020204" pitchFamily="34" charset="0"/>
                  </a:rPr>
                  <a:t>共</a:t>
                </a:r>
                <a:r>
                  <a:rPr lang="en-US" altLang="zh-CN" sz="1200" dirty="0">
                    <a:solidFill>
                      <a:schemeClr val="tx1"/>
                    </a:solidFill>
                    <a:sym typeface="Arial" panose="020B0604020202020204" pitchFamily="34" charset="0"/>
                  </a:rPr>
                  <a:t>118</a:t>
                </a:r>
                <a:r>
                  <a:rPr lang="zh-CN" altLang="en-US" sz="1200" dirty="0">
                    <a:solidFill>
                      <a:schemeClr val="tx1"/>
                    </a:solidFill>
                    <a:sym typeface="Arial" panose="020B0604020202020204" pitchFamily="34" charset="0"/>
                  </a:rPr>
                  <a:t>个因子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𝒕</m:t>
                        </m:r>
                      </m:sub>
                    </m:sSub>
                  </m:oMath>
                </a14:m>
                <a:endParaRPr lang="zh-CN" altLang="en-US" sz="1200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5530215"/>
                <a:ext cx="1228090" cy="4292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76200"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头: 下 22"/>
          <p:cNvSpPr/>
          <p:nvPr/>
        </p:nvSpPr>
        <p:spPr>
          <a:xfrm rot="16200000">
            <a:off x="1814954" y="4334171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10" y="3750310"/>
            <a:ext cx="1521460" cy="11918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063115" y="5372100"/>
            <a:ext cx="1583690" cy="587375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神经网络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提取特征信息</a:t>
            </a:r>
            <a:endParaRPr lang="zh-CN" altLang="en-US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47160" y="5372100"/>
            <a:ext cx="1692910" cy="587375"/>
          </a:xfrm>
          <a:prstGeom prst="rect">
            <a:avLst/>
          </a:prstGeom>
          <a:solidFill>
            <a:schemeClr val="accent5">
              <a:lumMod val="40000"/>
              <a:lumOff val="60000"/>
              <a:alpha val="50196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贝叶斯线性回归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推断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参数后验分布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070600" y="3775075"/>
            <a:ext cx="1555945" cy="1273227"/>
            <a:chOff x="11482" y="8907"/>
            <a:chExt cx="2201" cy="1649"/>
          </a:xfrm>
        </p:grpSpPr>
        <p:sp>
          <p:nvSpPr>
            <p:cNvPr id="21" name="矩形: 圆角 1781"/>
            <p:cNvSpPr/>
            <p:nvPr/>
          </p:nvSpPr>
          <p:spPr>
            <a:xfrm>
              <a:off x="11482" y="8907"/>
              <a:ext cx="1706" cy="77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5B9BD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动作</a:t>
              </a:r>
              <a:r>
                <a:rPr lang="en-US" altLang="zh-CN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奖励分布</a:t>
              </a:r>
              <a:endParaRPr lang="zh-CN" altLang="en-US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: 圆角 1781"/>
            <p:cNvSpPr/>
            <p:nvPr/>
          </p:nvSpPr>
          <p:spPr>
            <a:xfrm>
              <a:off x="11682" y="9317"/>
              <a:ext cx="1706" cy="77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5B9BD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动作</a:t>
              </a:r>
              <a:r>
                <a:rPr lang="en-US" altLang="zh-CN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奖励分布</a:t>
              </a:r>
              <a:endParaRPr lang="zh-CN" altLang="en-US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: 圆角 1781"/>
            <p:cNvSpPr/>
            <p:nvPr/>
          </p:nvSpPr>
          <p:spPr>
            <a:xfrm>
              <a:off x="11886" y="9685"/>
              <a:ext cx="1797" cy="87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5B9BD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采样并计算动作</a:t>
              </a:r>
              <a:r>
                <a:rPr lang="en-US" altLang="zh-CN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4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</a:t>
              </a:r>
              <a:endParaRPr lang="zh-CN" altLang="en-US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105" y="3782060"/>
            <a:ext cx="1539240" cy="1167130"/>
          </a:xfrm>
          <a:prstGeom prst="rect">
            <a:avLst/>
          </a:prstGeom>
        </p:spPr>
      </p:pic>
      <p:sp>
        <p:nvSpPr>
          <p:cNvPr id="29" name="箭头: 下 22"/>
          <p:cNvSpPr/>
          <p:nvPr/>
        </p:nvSpPr>
        <p:spPr>
          <a:xfrm rot="16200000">
            <a:off x="7634052" y="4250986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9052560" y="3789045"/>
            <a:ext cx="1413510" cy="1160145"/>
            <a:chOff x="11182" y="6123"/>
            <a:chExt cx="1530" cy="1241"/>
          </a:xfrm>
        </p:grpSpPr>
        <p:sp>
          <p:nvSpPr>
            <p:cNvPr id="31" name="矩形: 圆角 1786"/>
            <p:cNvSpPr/>
            <p:nvPr/>
          </p:nvSpPr>
          <p:spPr>
            <a:xfrm>
              <a:off x="11182" y="6123"/>
              <a:ext cx="1531" cy="56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1-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真实标签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和动作一致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: 圆角 1787"/>
            <p:cNvSpPr/>
            <p:nvPr/>
          </p:nvSpPr>
          <p:spPr>
            <a:xfrm>
              <a:off x="11182" y="6798"/>
              <a:ext cx="1531" cy="56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0-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真实标签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和动作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不一致</a:t>
              </a:r>
              <a:endPara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箭头: 下 22"/>
          <p:cNvSpPr/>
          <p:nvPr/>
        </p:nvSpPr>
        <p:spPr>
          <a:xfrm rot="16200000">
            <a:off x="8731967" y="4263051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6356350" y="5372100"/>
                <a:ext cx="2237740" cy="5873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50196"/>
                </a:schemeClr>
              </a:solidFill>
              <a:ln w="76200"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>
                <a:defPPr>
                  <a:defRPr lang="en-US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  <a:sym typeface="+mn-ea"/>
                  </a:rPr>
                  <a:t>Thompson Sampling</a:t>
                </a:r>
                <a:endParaRPr lang="en-US" altLang="zh-CN" dirty="0">
                  <a:solidFill>
                    <a:schemeClr val="tx1"/>
                  </a:solidFill>
                  <a:sym typeface="+mn-ea"/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  <a:sym typeface="+mn-ea"/>
                  </a:rPr>
                  <a:t>选择最优动作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𝒂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𝒕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sym typeface="+mn-ea"/>
                </a:endParaRPr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50" y="5372100"/>
                <a:ext cx="2237740" cy="5873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76200"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箭头: 下 22"/>
          <p:cNvSpPr/>
          <p:nvPr/>
        </p:nvSpPr>
        <p:spPr>
          <a:xfrm rot="16200000">
            <a:off x="5713027" y="5539536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286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箭头: 下 22"/>
          <p:cNvSpPr/>
          <p:nvPr/>
        </p:nvSpPr>
        <p:spPr>
          <a:xfrm rot="16200000">
            <a:off x="8731817" y="5530011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286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9103995" y="5372100"/>
                <a:ext cx="1234440" cy="5365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50196"/>
                </a:schemeClr>
              </a:solidFill>
              <a:ln w="76200"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>
                <a:defPPr>
                  <a:defRPr lang="en-US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r>
                  <a:rPr lang="zh-CN" altLang="en-US" dirty="0">
                    <a:solidFill>
                      <a:schemeClr val="tx1"/>
                    </a:solidFill>
                    <a:sym typeface="+mn-ea"/>
                  </a:rPr>
                  <a:t>奖励反馈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𝒓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𝒕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sym typeface="+mn-ea"/>
                </a:endParaRPr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995" y="5372100"/>
                <a:ext cx="1234440" cy="5365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76200"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箭头: 下 22"/>
          <p:cNvSpPr/>
          <p:nvPr/>
        </p:nvSpPr>
        <p:spPr>
          <a:xfrm rot="16200000">
            <a:off x="10466787" y="4204631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流程图: 磁盘 40"/>
              <p:cNvSpPr/>
              <p:nvPr/>
            </p:nvSpPr>
            <p:spPr>
              <a:xfrm>
                <a:off x="10718800" y="3896995"/>
                <a:ext cx="1087755" cy="1045210"/>
              </a:xfrm>
              <a:prstGeom prst="flowChartMagneticDisk">
                <a:avLst/>
              </a:prstGeom>
              <a:solidFill>
                <a:srgbClr val="BDD7EE"/>
              </a:solidFill>
              <a:ln>
                <a:solidFill>
                  <a:srgbClr val="E7E6E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经验池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𝒙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𝒕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𝒂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𝒕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𝒓</m:t>
                        </m:r>
                      </m:e>
                      <m:sub>
                        <m:r>
                          <a:rPr lang="en-US" altLang="zh-CN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𝒕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1" name="流程图: 磁盘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800" y="3896995"/>
                <a:ext cx="1087755" cy="1045210"/>
              </a:xfrm>
              <a:prstGeom prst="flowChartMagneticDisk">
                <a:avLst/>
              </a:prstGeom>
              <a:blipFill rotWithShape="1">
                <a:blip r:embed="rId6"/>
                <a:stretch>
                  <a:fillRect l="-584" t="-668" r="-584" b="-608"/>
                </a:stretch>
              </a:blipFill>
              <a:ln>
                <a:solidFill>
                  <a:srgbClr val="E7E6E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直角上箭头 42"/>
          <p:cNvSpPr/>
          <p:nvPr/>
        </p:nvSpPr>
        <p:spPr>
          <a:xfrm flipH="1" flipV="1">
            <a:off x="2811145" y="2502535"/>
            <a:ext cx="8403590" cy="284480"/>
          </a:xfrm>
          <a:prstGeom prst="bent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 flipH="1">
            <a:off x="11214735" y="2502535"/>
            <a:ext cx="76200" cy="355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5801360" y="2063115"/>
            <a:ext cx="16694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批量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训练更新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矩形: 圆角 1727"/>
          <p:cNvSpPr/>
          <p:nvPr/>
        </p:nvSpPr>
        <p:spPr>
          <a:xfrm>
            <a:off x="3169920" y="3042285"/>
            <a:ext cx="1644650" cy="360680"/>
          </a:xfrm>
          <a:prstGeom prst="roundRect">
            <a:avLst>
              <a:gd name="adj" fmla="val 16000"/>
            </a:avLst>
          </a:prstGeom>
          <a:solidFill>
            <a:srgbClr val="FFE8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动作价值</a:t>
            </a: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评估</a:t>
            </a:r>
            <a:endParaRPr kumimoji="1"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40995" y="3873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财务风险度量的</a:t>
            </a:r>
            <a:r>
              <a:rPr lang="zh-CN" altLang="en-US" sz="3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预测</a:t>
            </a:r>
            <a:endParaRPr lang="zh-CN" altLang="en-US" sz="36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财务风险度量的预测</a:t>
            </a:r>
            <a:endParaRPr lang="zh-CN" altLang="en-US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428115" y="3001645"/>
          <a:ext cx="4411345" cy="548640"/>
        </p:xfrm>
        <a:graphic>
          <a:graphicData uri="http://schemas.openxmlformats.org/drawingml/2006/table">
            <a:tbl>
              <a:tblPr/>
              <a:tblGrid>
                <a:gridCol w="1101090"/>
                <a:gridCol w="735330"/>
                <a:gridCol w="0"/>
                <a:gridCol w="1470025"/>
                <a:gridCol w="0"/>
                <a:gridCol w="1104900"/>
              </a:tblGrid>
              <a:tr h="274320">
                <a:tc gridSpan="3">
                  <a:txBody>
                    <a:bodyPr/>
                    <a:p>
                      <a:pPr marL="68580" indent="0"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endParaRPr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p>
                      <a:pPr marL="68580" indent="0" algn="just"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/>
                  </a:txBody>
                  <a:tcPr marL="6858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/>
                  </a:txBody>
                  <a:tcPr marL="6858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just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000">
                          <a:latin typeface="等线 Light" panose="02010600030101010101" charset="-122"/>
                          <a:ea typeface="黑体" panose="02010609060101010101" charset="-122"/>
                        </a:rPr>
                        <a:t> </a:t>
                      </a:r>
                      <a:endParaRPr lang="en-US" altLang="zh-CN" sz="1000">
                        <a:latin typeface="等线 Light" panose="0201060003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p>
                      <a:pPr marL="6858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000">
                          <a:latin typeface="等线 Light" panose="02010600030101010101" charset="-122"/>
                          <a:ea typeface="黑体" panose="02010609060101010101" charset="-122"/>
                        </a:rPr>
                        <a:t> </a:t>
                      </a:r>
                      <a:endParaRPr lang="en-US" altLang="zh-CN" sz="1000">
                        <a:latin typeface="等线 Light" panose="0201060003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p>
                      <a:pPr marL="68580" indent="0" algn="just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000">
                          <a:latin typeface="等线 Light" panose="02010600030101010101" charset="-122"/>
                          <a:ea typeface="黑体" panose="02010609060101010101" charset="-122"/>
                        </a:rPr>
                        <a:t> </a:t>
                      </a:r>
                      <a:endParaRPr lang="en-US" altLang="zh-CN" sz="1000">
                        <a:latin typeface="等线 Light" panose="0201060003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矩形: 圆角 5"/>
          <p:cNvSpPr/>
          <p:nvPr>
            <p:custDataLst>
              <p:tags r:id="rId2"/>
            </p:custDataLst>
          </p:nvPr>
        </p:nvSpPr>
        <p:spPr>
          <a:xfrm>
            <a:off x="197485" y="1796415"/>
            <a:ext cx="8496935" cy="4711065"/>
          </a:xfrm>
          <a:prstGeom prst="roundRect">
            <a:avLst>
              <a:gd name="adj" fmla="val 1304"/>
            </a:avLst>
          </a:prstGeom>
          <a:solidFill>
            <a:schemeClr val="accent1">
              <a:alpha val="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935355" y="3677920"/>
            <a:ext cx="1802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fold1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训练奖励收敛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 descr="fold_1_reward_curve"/>
          <p:cNvPicPr>
            <a:picLocks noChangeAspect="1"/>
          </p:cNvPicPr>
          <p:nvPr/>
        </p:nvPicPr>
        <p:blipFill>
          <a:blip r:embed="rId4"/>
          <a:srcRect l="3952"/>
          <a:stretch>
            <a:fillRect/>
          </a:stretch>
        </p:blipFill>
        <p:spPr>
          <a:xfrm>
            <a:off x="288925" y="1879600"/>
            <a:ext cx="2762250" cy="1798320"/>
          </a:xfrm>
          <a:prstGeom prst="rect">
            <a:avLst/>
          </a:prstGeom>
        </p:spPr>
      </p:pic>
      <p:pic>
        <p:nvPicPr>
          <p:cNvPr id="16" name="图片 15" descr="fold_2_reward_curve"/>
          <p:cNvPicPr>
            <a:picLocks noChangeAspect="1"/>
          </p:cNvPicPr>
          <p:nvPr/>
        </p:nvPicPr>
        <p:blipFill>
          <a:blip r:embed="rId5"/>
          <a:srcRect l="3524"/>
          <a:stretch>
            <a:fillRect/>
          </a:stretch>
        </p:blipFill>
        <p:spPr>
          <a:xfrm>
            <a:off x="3051175" y="1879600"/>
            <a:ext cx="2788920" cy="18072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3541395" y="3686810"/>
            <a:ext cx="1802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fold2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训练奖励收敛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 descr="fold_3_reward_curve"/>
          <p:cNvPicPr>
            <a:picLocks noChangeAspect="1"/>
          </p:cNvPicPr>
          <p:nvPr/>
        </p:nvPicPr>
        <p:blipFill>
          <a:blip r:embed="rId7"/>
          <a:srcRect l="3958"/>
          <a:stretch>
            <a:fillRect/>
          </a:stretch>
        </p:blipFill>
        <p:spPr>
          <a:xfrm>
            <a:off x="5840095" y="1889125"/>
            <a:ext cx="2762250" cy="179768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6428105" y="3686810"/>
            <a:ext cx="1802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fold3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训练奖励收敛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 descr="fold_4_reward_curv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" y="3953510"/>
            <a:ext cx="3644265" cy="2278380"/>
          </a:xfrm>
          <a:prstGeom prst="rect">
            <a:avLst/>
          </a:prstGeom>
        </p:spPr>
      </p:pic>
      <p:pic>
        <p:nvPicPr>
          <p:cNvPr id="25" name="图片 24" descr="fold_5_reward_curv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07535" y="3953510"/>
            <a:ext cx="3648710" cy="228028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1739265" y="6231890"/>
            <a:ext cx="1802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fold4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训练奖励收敛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5494020" y="6233795"/>
            <a:ext cx="1802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fold5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训练奖励收敛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74700" y="1016000"/>
            <a:ext cx="10802620" cy="6477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 lIns="72000" tIns="36000" rIns="72000" bIns="72000" anchor="ctr">
            <a:noAutofit/>
          </a:bodyPr>
          <a:lstStyle/>
          <a:p>
            <a:pPr marL="0" marR="0" lvl="0" indent="0" algn="just" defTabSz="914400" eaLnBrk="1" fontAlgn="ctr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我们采用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5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折时间序列交叉验证进行实验，并在每折训练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250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个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epoch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，模型的总奖励函数逐渐收敛。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8974455" y="2207895"/>
            <a:ext cx="2952115" cy="995045"/>
            <a:chOff x="14133" y="3477"/>
            <a:chExt cx="4649" cy="1567"/>
          </a:xfrm>
        </p:grpSpPr>
        <p:sp>
          <p:nvSpPr>
            <p:cNvPr id="37" name="矩形: 圆角 2"/>
            <p:cNvSpPr/>
            <p:nvPr>
              <p:custDataLst>
                <p:tags r:id="rId13"/>
              </p:custDataLst>
            </p:nvPr>
          </p:nvSpPr>
          <p:spPr>
            <a:xfrm>
              <a:off x="14133" y="3477"/>
              <a:ext cx="4546" cy="1567"/>
            </a:xfrm>
            <a:prstGeom prst="roundRect">
              <a:avLst>
                <a:gd name="adj" fmla="val 4162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: 圆角 10"/>
            <p:cNvSpPr/>
            <p:nvPr>
              <p:custDataLst>
                <p:tags r:id="rId14"/>
              </p:custDataLst>
            </p:nvPr>
          </p:nvSpPr>
          <p:spPr>
            <a:xfrm>
              <a:off x="14221" y="3643"/>
              <a:ext cx="1247" cy="1235"/>
            </a:xfrm>
            <a:prstGeom prst="round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分析结果</a:t>
              </a: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5"/>
              </p:custDataLst>
            </p:nvPr>
          </p:nvSpPr>
          <p:spPr>
            <a:xfrm>
              <a:off x="15610" y="3721"/>
              <a:ext cx="3172" cy="1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五折交叉验证平均准确率</a:t>
              </a:r>
              <a:r>
                <a:rPr lang="en-US" altLang="zh-CN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77.34%</a:t>
              </a:r>
              <a:endPara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2" name="矩形: 圆角 2"/>
            <p:cNvSpPr/>
            <p:nvPr>
              <p:custDataLst>
                <p:tags r:id="rId16"/>
              </p:custDataLst>
            </p:nvPr>
          </p:nvSpPr>
          <p:spPr>
            <a:xfrm>
              <a:off x="14133" y="3477"/>
              <a:ext cx="1571" cy="1567"/>
            </a:xfrm>
            <a:custGeom>
              <a:avLst/>
              <a:gdLst>
                <a:gd name="adj" fmla="val 4162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48" h="1693">
                  <a:moveTo>
                    <a:pt x="122" y="54"/>
                  </a:moveTo>
                  <a:cubicBezTo>
                    <a:pt x="88" y="54"/>
                    <a:pt x="60" y="82"/>
                    <a:pt x="60" y="116"/>
                  </a:cubicBezTo>
                  <a:lnTo>
                    <a:pt x="60" y="1569"/>
                  </a:lnTo>
                  <a:cubicBezTo>
                    <a:pt x="60" y="1603"/>
                    <a:pt x="88" y="1631"/>
                    <a:pt x="122" y="1631"/>
                  </a:cubicBezTo>
                  <a:lnTo>
                    <a:pt x="1488" y="1631"/>
                  </a:lnTo>
                  <a:cubicBezTo>
                    <a:pt x="1502" y="1631"/>
                    <a:pt x="1514" y="1627"/>
                    <a:pt x="1524" y="1621"/>
                  </a:cubicBezTo>
                  <a:lnTo>
                    <a:pt x="1527" y="1618"/>
                  </a:lnTo>
                  <a:lnTo>
                    <a:pt x="1534" y="1618"/>
                  </a:lnTo>
                  <a:lnTo>
                    <a:pt x="1540" y="1605"/>
                  </a:lnTo>
                  <a:lnTo>
                    <a:pt x="1541" y="1604"/>
                  </a:lnTo>
                  <a:cubicBezTo>
                    <a:pt x="1544" y="1597"/>
                    <a:pt x="1548" y="1589"/>
                    <a:pt x="1550" y="1582"/>
                  </a:cubicBezTo>
                  <a:lnTo>
                    <a:pt x="1874" y="839"/>
                  </a:lnTo>
                  <a:lnTo>
                    <a:pt x="1534" y="61"/>
                  </a:lnTo>
                  <a:lnTo>
                    <a:pt x="1516" y="61"/>
                  </a:lnTo>
                  <a:lnTo>
                    <a:pt x="1513" y="59"/>
                  </a:lnTo>
                  <a:cubicBezTo>
                    <a:pt x="1505" y="56"/>
                    <a:pt x="1498" y="54"/>
                    <a:pt x="1488" y="54"/>
                  </a:cubicBezTo>
                  <a:lnTo>
                    <a:pt x="122" y="54"/>
                  </a:lnTo>
                  <a:close/>
                  <a:moveTo>
                    <a:pt x="67" y="0"/>
                  </a:moveTo>
                  <a:lnTo>
                    <a:pt x="1534" y="0"/>
                  </a:lnTo>
                  <a:cubicBezTo>
                    <a:pt x="1544" y="0"/>
                    <a:pt x="1552" y="2"/>
                    <a:pt x="1560" y="5"/>
                  </a:cubicBezTo>
                  <a:lnTo>
                    <a:pt x="1564" y="7"/>
                  </a:lnTo>
                  <a:lnTo>
                    <a:pt x="1583" y="7"/>
                  </a:lnTo>
                  <a:lnTo>
                    <a:pt x="1948" y="843"/>
                  </a:lnTo>
                  <a:lnTo>
                    <a:pt x="1600" y="1640"/>
                  </a:lnTo>
                  <a:lnTo>
                    <a:pt x="1600" y="1640"/>
                  </a:lnTo>
                  <a:cubicBezTo>
                    <a:pt x="1598" y="1648"/>
                    <a:pt x="1594" y="1657"/>
                    <a:pt x="1590" y="1664"/>
                  </a:cubicBezTo>
                  <a:lnTo>
                    <a:pt x="1589" y="1665"/>
                  </a:lnTo>
                  <a:lnTo>
                    <a:pt x="1583" y="1679"/>
                  </a:lnTo>
                  <a:lnTo>
                    <a:pt x="1575" y="1679"/>
                  </a:lnTo>
                  <a:lnTo>
                    <a:pt x="1572" y="1682"/>
                  </a:lnTo>
                  <a:cubicBezTo>
                    <a:pt x="1561" y="1689"/>
                    <a:pt x="1548" y="1693"/>
                    <a:pt x="1534" y="1693"/>
                  </a:cubicBezTo>
                  <a:lnTo>
                    <a:pt x="67" y="1693"/>
                  </a:lnTo>
                  <a:cubicBezTo>
                    <a:pt x="30" y="1693"/>
                    <a:pt x="0" y="1663"/>
                    <a:pt x="0" y="1626"/>
                  </a:cubicBezTo>
                  <a:lnTo>
                    <a:pt x="0" y="67"/>
                  </a:lnTo>
                  <a:cubicBezTo>
                    <a:pt x="0" y="30"/>
                    <a:pt x="30" y="0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961120" y="3499485"/>
            <a:ext cx="3114675" cy="2903855"/>
            <a:chOff x="14133" y="3310"/>
            <a:chExt cx="4905" cy="4573"/>
          </a:xfrm>
        </p:grpSpPr>
        <p:sp>
          <p:nvSpPr>
            <p:cNvPr id="47" name="矩形: 圆角 2"/>
            <p:cNvSpPr/>
            <p:nvPr>
              <p:custDataLst>
                <p:tags r:id="rId17"/>
              </p:custDataLst>
            </p:nvPr>
          </p:nvSpPr>
          <p:spPr>
            <a:xfrm>
              <a:off x="14133" y="3310"/>
              <a:ext cx="4851" cy="4573"/>
            </a:xfrm>
            <a:prstGeom prst="roundRect">
              <a:avLst>
                <a:gd name="adj" fmla="val 4162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>
              <p:custDataLst>
                <p:tags r:id="rId18"/>
              </p:custDataLst>
            </p:nvPr>
          </p:nvSpPr>
          <p:spPr>
            <a:xfrm>
              <a:off x="14242" y="3561"/>
              <a:ext cx="4796" cy="407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训练集</a:t>
              </a:r>
              <a:r>
                <a:rPr lang="en-US" altLang="zh-CN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2001Q1–2023Q4</a:t>
              </a:r>
              <a:r>
                <a:rPr lang="zh-CN" altLang="en-US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、测试集</a:t>
              </a:r>
              <a:r>
                <a:rPr lang="en-US" altLang="zh-CN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2024Q1–2024Q4</a:t>
              </a:r>
              <a:r>
                <a:rPr lang="zh-CN" altLang="en-US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时，训练集准确率达</a:t>
              </a:r>
              <a:r>
                <a:rPr lang="en-US" altLang="zh-CN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87.66%</a:t>
              </a:r>
              <a:r>
                <a:rPr lang="zh-CN" altLang="en-US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，测试集准确率为</a:t>
              </a:r>
              <a:r>
                <a:rPr lang="en-US" altLang="zh-CN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86.77%</a:t>
              </a:r>
              <a:r>
                <a:rPr lang="zh-CN" altLang="en-US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  <a:endPara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zh-CN" altLang="en-US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在交叉验证前期，模型准确率相对较低，可能由于样本规模较小，使得上下文多臂老虎机模型难以充分捕捉潜在特征模式。</a:t>
              </a:r>
              <a:endPara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66575" y="2816012"/>
            <a:ext cx="3026410" cy="1163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endParaRPr lang="en-US" altLang="zh-CN" sz="2800" spc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8820" y="2936875"/>
            <a:ext cx="739584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kern="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项目创新</a:t>
            </a:r>
            <a:r>
              <a:rPr lang="zh-CN" altLang="en-US" sz="5400" b="1" kern="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</a:t>
            </a:r>
            <a:endParaRPr lang="zh-CN" altLang="en-US" sz="5400" b="1" kern="0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项目创新点</a:t>
            </a:r>
            <a:endParaRPr lang="en-US" altLang="zh-CN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6306458" y="1540237"/>
            <a:ext cx="5496479" cy="2487502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22266" y="1023665"/>
            <a:ext cx="1068396" cy="509425"/>
          </a:xfrm>
          <a:prstGeom prst="roundRect">
            <a:avLst>
              <a:gd name="adj" fmla="val 1988"/>
            </a:avLst>
          </a:prstGeom>
          <a:solidFill>
            <a:schemeClr val="accent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22265" y="1540237"/>
            <a:ext cx="5496479" cy="2487502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490662" y="1030811"/>
            <a:ext cx="4428082" cy="509425"/>
          </a:xfrm>
          <a:prstGeom prst="roundRect">
            <a:avLst>
              <a:gd name="adj" fmla="val 198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大模型知识灌注标注情感因子</a:t>
            </a:r>
            <a:endParaRPr lang="en-US" altLang="zh-CN" sz="1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306459" y="1023665"/>
            <a:ext cx="1068396" cy="509425"/>
          </a:xfrm>
          <a:prstGeom prst="roundRect">
            <a:avLst>
              <a:gd name="adj" fmla="val 1988"/>
            </a:avLst>
          </a:prstGeom>
          <a:solidFill>
            <a:schemeClr val="accent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7374853" y="1030811"/>
            <a:ext cx="4428083" cy="509425"/>
          </a:xfrm>
          <a:prstGeom prst="roundRect">
            <a:avLst>
              <a:gd name="adj" fmla="val 198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en-US" altLang="zh-CN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FSFP</a:t>
            </a:r>
            <a:r>
              <a:rPr lang="zh-CN" altLang="en-US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投资回测验证经济效应</a:t>
            </a:r>
            <a:endParaRPr lang="zh-CN" altLang="en-US" sz="1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22266" y="4437187"/>
            <a:ext cx="1068396" cy="488606"/>
          </a:xfrm>
          <a:prstGeom prst="roundRect">
            <a:avLst>
              <a:gd name="adj" fmla="val 1988"/>
            </a:avLst>
          </a:prstGeom>
          <a:solidFill>
            <a:schemeClr val="accent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22264" y="4925086"/>
            <a:ext cx="11380672" cy="1567154"/>
          </a:xfrm>
          <a:prstGeom prst="roundRect">
            <a:avLst>
              <a:gd name="adj" fmla="val 0"/>
            </a:avLst>
          </a:prstGeom>
          <a:solidFill>
            <a:srgbClr val="F3F5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altLang="zh-CN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1490664" y="4441878"/>
            <a:ext cx="10312274" cy="483208"/>
          </a:xfrm>
          <a:prstGeom prst="roundRect">
            <a:avLst>
              <a:gd name="adj" fmla="val 198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引入上下文多臂老虎机实现动态自适应预测</a:t>
            </a:r>
            <a:endParaRPr lang="en-US" altLang="zh-CN" sz="1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677687" y="5335241"/>
            <a:ext cx="1625950" cy="728185"/>
          </a:xfrm>
          <a:prstGeom prst="roundRect">
            <a:avLst/>
          </a:prstGeom>
          <a:solidFill>
            <a:srgbClr val="F3F5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即时奖励信号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2528580" y="5510361"/>
            <a:ext cx="488632" cy="377944"/>
          </a:xfrm>
          <a:prstGeom prst="rightArrow">
            <a:avLst/>
          </a:prstGeom>
          <a:solidFill>
            <a:srgbClr val="FFFFFF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/>
        </p:nvSpPr>
        <p:spPr>
          <a:xfrm>
            <a:off x="3170504" y="5344570"/>
            <a:ext cx="1625950" cy="728185"/>
          </a:xfrm>
          <a:prstGeom prst="roundRect">
            <a:avLst/>
          </a:prstGeom>
          <a:solidFill>
            <a:srgbClr val="F3F5F9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动态更新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模型参数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276088" y="5162910"/>
            <a:ext cx="6336792" cy="1104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无需长期回报建模即可实现自适应决策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使模型能在季度滚动的金融环境中持续学习与快速收敛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有效提升对结构性突变与风险模式迁移的响应能力</a:t>
            </a:r>
            <a:endParaRPr lang="zh-CN" altLang="en-US" dirty="0"/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98" y="1770914"/>
            <a:ext cx="5179612" cy="910313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580698" y="2895981"/>
            <a:ext cx="517961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调用通义千问大语言模型（</a:t>
            </a:r>
            <a:r>
              <a:rPr lang="en-US" altLang="zh-CN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Qwen3-32B</a:t>
            </a:r>
            <a:r>
              <a:rPr lang="zh-CN" altLang="en-US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API</a:t>
            </a:r>
            <a:r>
              <a:rPr lang="zh-CN" altLang="zh-CN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，基于</a:t>
            </a:r>
            <a:r>
              <a:rPr lang="zh-CN" altLang="zh-CN" sz="2000" b="1" dirty="0">
                <a:solidFill>
                  <a:schemeClr val="accent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提示词工程</a:t>
            </a:r>
            <a:r>
              <a:rPr lang="zh-CN" altLang="zh-CN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设计 “财务舞弊相关情感判断” 任务</a:t>
            </a:r>
            <a:r>
              <a:rPr lang="zh-CN" altLang="en-US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，突破通用语义理解的局限</a:t>
            </a:r>
            <a:endParaRPr lang="zh-CN" altLang="en-US" dirty="0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801" y="1585516"/>
            <a:ext cx="4892888" cy="24368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03417" y="2816012"/>
            <a:ext cx="2752725" cy="1163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US" altLang="zh-CN" sz="2800" spc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endParaRPr lang="en-US" altLang="zh-CN" sz="2800" spc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52315" y="2816225"/>
            <a:ext cx="739584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kern="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项目后续计划</a:t>
            </a:r>
            <a:endParaRPr lang="zh-CN" altLang="en-US" sz="5400" b="1" kern="0" spc="3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5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6096635" y="1525270"/>
            <a:ext cx="5973445" cy="4965700"/>
          </a:xfrm>
          <a:prstGeom prst="rect">
            <a:avLst/>
          </a:prstGeom>
          <a:solidFill>
            <a:srgbClr val="FFFFFF"/>
          </a:solidFill>
          <a:ln w="1905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-20067"/>
            <a:ext cx="12192000" cy="762970"/>
          </a:xfrm>
          <a:prstGeom prst="rect">
            <a:avLst/>
          </a:prstGeom>
          <a:noFill/>
        </p:spPr>
        <p:txBody>
          <a:bodyPr wrap="square" lIns="216000" anchor="ctr" anchorCtr="0">
            <a:noAutofit/>
          </a:bodyPr>
          <a:lstStyle/>
          <a:p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</a:t>
            </a:r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研究计划</a:t>
            </a:r>
            <a:endParaRPr lang="zh-CN" altLang="en-US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11504" y="809021"/>
            <a:ext cx="3535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kumimoji="1"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扩充企业数量及数据频率</a:t>
            </a:r>
            <a:endParaRPr lang="zh-CN" altLang="en-US" sz="2400" b="1" dirty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" name="任意形状 27"/>
          <p:cNvSpPr/>
          <p:nvPr/>
        </p:nvSpPr>
        <p:spPr>
          <a:xfrm>
            <a:off x="272415" y="1651000"/>
            <a:ext cx="5607685" cy="1958975"/>
          </a:xfrm>
          <a:custGeom>
            <a:avLst/>
            <a:gdLst>
              <a:gd name="connsiteX0" fmla="*/ 0 w 1712933"/>
              <a:gd name="connsiteY0" fmla="*/ 0 h 614510"/>
              <a:gd name="connsiteX1" fmla="*/ 1712933 w 1712933"/>
              <a:gd name="connsiteY1" fmla="*/ 0 h 614510"/>
              <a:gd name="connsiteX2" fmla="*/ 1712933 w 1712933"/>
              <a:gd name="connsiteY2" fmla="*/ 614511 h 614510"/>
              <a:gd name="connsiteX3" fmla="*/ 0 w 1712933"/>
              <a:gd name="connsiteY3" fmla="*/ 614511 h 614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2933" h="614510">
                <a:moveTo>
                  <a:pt x="0" y="0"/>
                </a:moveTo>
                <a:lnTo>
                  <a:pt x="1712933" y="0"/>
                </a:lnTo>
                <a:lnTo>
                  <a:pt x="1712933" y="614511"/>
                </a:lnTo>
                <a:lnTo>
                  <a:pt x="0" y="614511"/>
                </a:lnTo>
                <a:close/>
              </a:path>
            </a:pathLst>
          </a:custGeom>
          <a:solidFill>
            <a:schemeClr val="bg2"/>
          </a:solidFill>
          <a:ln w="10419" cap="flat">
            <a:noFill/>
            <a:prstDash val="solid"/>
            <a:miter/>
          </a:ln>
        </p:spPr>
        <p:txBody>
          <a:bodyPr rtlCol="0" anchor="ctr"/>
          <a:lstStyle/>
          <a:p>
            <a:pPr>
              <a:spcAft>
                <a:spcPts val="500"/>
              </a:spcAft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Aft>
                <a:spcPts val="500"/>
              </a:spcAft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Aft>
                <a:spcPts val="500"/>
              </a:spcAft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Aft>
                <a:spcPts val="500"/>
              </a:spcAft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Aft>
                <a:spcPts val="500"/>
              </a:spcAft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 800*24*4                          5000*24*365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8" name="任意形状 29"/>
          <p:cNvSpPr/>
          <p:nvPr/>
        </p:nvSpPr>
        <p:spPr>
          <a:xfrm rot="10800000">
            <a:off x="272415" y="4591685"/>
            <a:ext cx="5607685" cy="1784350"/>
          </a:xfrm>
          <a:custGeom>
            <a:avLst/>
            <a:gdLst>
              <a:gd name="connsiteX0" fmla="*/ 0 w 1712933"/>
              <a:gd name="connsiteY0" fmla="*/ 0 h 614510"/>
              <a:gd name="connsiteX1" fmla="*/ 1712934 w 1712933"/>
              <a:gd name="connsiteY1" fmla="*/ 0 h 614510"/>
              <a:gd name="connsiteX2" fmla="*/ 1712934 w 1712933"/>
              <a:gd name="connsiteY2" fmla="*/ 614511 h 614510"/>
              <a:gd name="connsiteX3" fmla="*/ 0 w 1712933"/>
              <a:gd name="connsiteY3" fmla="*/ 614511 h 614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2933" h="614510">
                <a:moveTo>
                  <a:pt x="0" y="0"/>
                </a:moveTo>
                <a:lnTo>
                  <a:pt x="1712934" y="0"/>
                </a:lnTo>
                <a:lnTo>
                  <a:pt x="1712934" y="614511"/>
                </a:lnTo>
                <a:lnTo>
                  <a:pt x="0" y="614511"/>
                </a:lnTo>
                <a:close/>
              </a:path>
            </a:pathLst>
          </a:custGeom>
          <a:solidFill>
            <a:schemeClr val="bg2"/>
          </a:solidFill>
          <a:ln w="10419" cap="flat">
            <a:noFill/>
            <a:prstDash val="solid"/>
            <a:miter/>
          </a:ln>
        </p:spPr>
        <p:txBody>
          <a:bodyPr rtlCol="0" anchor="ctr"/>
          <a:lstStyle/>
          <a:p>
            <a:pPr>
              <a:spcAft>
                <a:spcPts val="50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>
              <a:spcAft>
                <a:spcPts val="50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49876" y="944925"/>
            <a:ext cx="1068396" cy="509425"/>
          </a:xfrm>
          <a:prstGeom prst="roundRect">
            <a:avLst>
              <a:gd name="adj" fmla="val 1988"/>
            </a:avLst>
          </a:prstGeom>
          <a:solidFill>
            <a:schemeClr val="accent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7"/>
          <p:cNvSpPr/>
          <p:nvPr/>
        </p:nvSpPr>
        <p:spPr>
          <a:xfrm>
            <a:off x="318761" y="3846240"/>
            <a:ext cx="1068396" cy="509425"/>
          </a:xfrm>
          <a:prstGeom prst="roundRect">
            <a:avLst>
              <a:gd name="adj" fmla="val 1988"/>
            </a:avLst>
          </a:prstGeom>
          <a:solidFill>
            <a:schemeClr val="accent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7829" y="3720496"/>
            <a:ext cx="2316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zh-CN" altLang="en-US" sz="2400" b="1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数据不平衡处理</a:t>
            </a:r>
            <a:endParaRPr lang="zh-CN" altLang="en-US" sz="2400" b="1" dirty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4" name="矩形: 圆角 1738"/>
          <p:cNvSpPr/>
          <p:nvPr/>
        </p:nvSpPr>
        <p:spPr>
          <a:xfrm>
            <a:off x="429895" y="1772285"/>
            <a:ext cx="1979295" cy="53467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沪深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300+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中证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2576205" y="2210266"/>
            <a:ext cx="488632" cy="377944"/>
          </a:xfrm>
          <a:prstGeom prst="rightArrow">
            <a:avLst/>
          </a:prstGeom>
          <a:solidFill>
            <a:srgbClr val="FFFFFF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1738"/>
          <p:cNvSpPr/>
          <p:nvPr/>
        </p:nvSpPr>
        <p:spPr>
          <a:xfrm>
            <a:off x="429895" y="2432050"/>
            <a:ext cx="1979295" cy="53467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季度频率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1738"/>
          <p:cNvSpPr/>
          <p:nvPr/>
        </p:nvSpPr>
        <p:spPr>
          <a:xfrm>
            <a:off x="3139440" y="2432050"/>
            <a:ext cx="2614295" cy="53467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日频数据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738"/>
          <p:cNvSpPr/>
          <p:nvPr/>
        </p:nvSpPr>
        <p:spPr>
          <a:xfrm>
            <a:off x="3138170" y="1772285"/>
            <a:ext cx="2630805" cy="53467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沪交所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深交所所有股票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2529205" y="3164840"/>
            <a:ext cx="488950" cy="2012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12090" y="4737735"/>
            <a:ext cx="572833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defTabSz="266700">
              <a:buFont typeface="Wingdings" panose="05000000000000000000" charset="0"/>
              <a:buChar char="Ø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数据拓展：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引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入中小市值、新上市及高风险行业的上市公司数据后，发生财务舞弊的风险本身更大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66700">
              <a:buFont typeface="Wingdings" panose="05000000000000000000" charset="0"/>
              <a:buChar char="Ø"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66700">
              <a:buFont typeface="Wingdings" panose="05000000000000000000" charset="0"/>
              <a:buChar char="Ø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样本平衡：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已初步尝试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SMOTE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合成少数类方法，后续将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进一步尝试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GAN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合成高仿真少数类样本等方法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defTabSz="266700">
              <a:buFont typeface="Wingdings" panose="05000000000000000000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7"/>
          <p:cNvSpPr/>
          <p:nvPr/>
        </p:nvSpPr>
        <p:spPr>
          <a:xfrm>
            <a:off x="6247756" y="944925"/>
            <a:ext cx="1068396" cy="509425"/>
          </a:xfrm>
          <a:prstGeom prst="roundRect">
            <a:avLst>
              <a:gd name="adj" fmla="val 1988"/>
            </a:avLst>
          </a:prstGeom>
          <a:solidFill>
            <a:schemeClr val="accent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algn="ctr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19214" y="809021"/>
            <a:ext cx="41770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500"/>
              </a:spcAft>
            </a:pPr>
            <a:r>
              <a:rPr lang="en-US" altLang="zh-CN" sz="2400" b="1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SG-AL</a:t>
            </a:r>
            <a:r>
              <a:rPr lang="zh-CN" altLang="en-US" sz="2400" b="1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元学习的多智能体</a:t>
            </a:r>
            <a:r>
              <a:rPr lang="zh-CN" altLang="en-US" sz="2400" b="1" dirty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预测</a:t>
            </a:r>
            <a:endParaRPr lang="zh-CN" altLang="en-US" sz="2400" b="1" dirty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6497320" y="1772285"/>
            <a:ext cx="5440680" cy="4293235"/>
            <a:chOff x="10992" y="2815"/>
            <a:chExt cx="8568" cy="6761"/>
          </a:xfrm>
        </p:grpSpPr>
        <p:sp>
          <p:nvSpPr>
            <p:cNvPr id="17" name="矩形: 圆角 51"/>
            <p:cNvSpPr/>
            <p:nvPr/>
          </p:nvSpPr>
          <p:spPr>
            <a:xfrm>
              <a:off x="11146" y="2815"/>
              <a:ext cx="2363" cy="56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DEACB8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 b="1" dirty="0">
                  <a:solidFill>
                    <a:srgbClr val="DEAC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原始特征向量</a:t>
              </a:r>
              <a:endParaRPr lang="zh-CN" altLang="en-US" sz="1400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4001" y="3424"/>
              <a:ext cx="2480" cy="1882"/>
              <a:chOff x="14021" y="3538"/>
              <a:chExt cx="2480" cy="1882"/>
            </a:xfrm>
          </p:grpSpPr>
          <p:sp>
            <p:nvSpPr>
              <p:cNvPr id="61" name="文本框 60"/>
              <p:cNvSpPr txBox="1"/>
              <p:nvPr/>
            </p:nvSpPr>
            <p:spPr>
              <a:xfrm>
                <a:off x="15053" y="4150"/>
                <a:ext cx="680" cy="39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b="1" dirty="0">
                    <a:solidFill>
                      <a:srgbClr val="28659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…</a:t>
                </a:r>
                <a:endParaRPr lang="en-US" altLang="zh-CN" b="1" dirty="0">
                  <a:solidFill>
                    <a:srgbClr val="2865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8" name="矩形: 圆角 87"/>
              <p:cNvSpPr/>
              <p:nvPr/>
            </p:nvSpPr>
            <p:spPr>
              <a:xfrm>
                <a:off x="14021" y="3538"/>
                <a:ext cx="1531" cy="567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5B9BD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分类器</a:t>
                </a:r>
                <a:r>
                  <a:rPr lang="en-US" altLang="zh-CN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12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矩形: 圆角 88"/>
              <p:cNvSpPr/>
              <p:nvPr/>
            </p:nvSpPr>
            <p:spPr>
              <a:xfrm>
                <a:off x="14342" y="3975"/>
                <a:ext cx="1531" cy="567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5B9BD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分类器</a:t>
                </a:r>
                <a:r>
                  <a:rPr lang="en-US" altLang="zh-CN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en-US" altLang="zh-CN" sz="12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矩形: 圆角 89"/>
              <p:cNvSpPr/>
              <p:nvPr/>
            </p:nvSpPr>
            <p:spPr>
              <a:xfrm>
                <a:off x="14795" y="4782"/>
                <a:ext cx="1706" cy="639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5B9BD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分类器</a:t>
                </a:r>
                <a:r>
                  <a:rPr lang="en-US" altLang="zh-CN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endParaRPr lang="en-US" altLang="zh-CN" sz="12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预测结果</a:t>
                </a:r>
                <a:endParaRPr lang="zh-CN" altLang="en-US" sz="12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16952" y="6352"/>
              <a:ext cx="2609" cy="1389"/>
              <a:chOff x="11845" y="8230"/>
              <a:chExt cx="2609" cy="138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5" name="矩形: 圆角 94"/>
                  <p:cNvSpPr/>
                  <p:nvPr/>
                </p:nvSpPr>
                <p:spPr>
                  <a:xfrm>
                    <a:off x="11846" y="8230"/>
                    <a:ext cx="2608" cy="567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vert="horz" rtlCol="0" anchor="ctr"/>
                  <a:lstStyle/>
                  <a:p>
                    <a:pPr algn="ctr"/>
                    <a:r>
                      <a: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平均预测结果</a:t>
                    </a:r>
                    <a:r>
                      <a: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E(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1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oMath>
                    </a14:m>
                    <a:r>
                      <a:rPr lang="zh-CN" altLang="en-US" sz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a:t>）</a:t>
                    </a:r>
                    <a:endParaRPr lang="zh-CN" altLang="en-US" sz="120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微软雅黑" panose="020B0503020204020204" pitchFamily="34" charset="-122"/>
                      <a:cs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95" name="矩形: 圆角 9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46" y="8230"/>
                    <a:ext cx="2608" cy="567"/>
                  </a:xfrm>
                  <a:prstGeom prst="roundRect">
                    <a:avLst/>
                  </a:prstGeom>
                  <a:blipFill rotWithShape="1">
                    <a:blip r:embed="rId1"/>
                  </a:blipFill>
                  <a:ln w="285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7" name="矩形: 圆角 96"/>
                  <p:cNvSpPr/>
                  <p:nvPr/>
                </p:nvSpPr>
                <p:spPr>
                  <a:xfrm>
                    <a:off x="11845" y="8797"/>
                    <a:ext cx="2609" cy="822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285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vert="horz" rtlCol="0" anchor="ctr"/>
                  <a:lstStyle/>
                  <a:p>
                    <a:pPr algn="ctr"/>
                    <a:r>
                      <a: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预测分歧程度</a:t>
                    </a:r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zh-CN" sz="1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𝒗𝒂𝒓</m:t>
                            </m:r>
                            <m:r>
                              <a:rPr lang="en-US" altLang="zh-CN" sz="1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1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CN" sz="12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US" altLang="zh-CN" sz="1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oMath>
                    </a14:m>
                    <a:endParaRPr lang="en-US" altLang="zh-CN" sz="1200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>
              <p:sp>
                <p:nvSpPr>
                  <p:cNvPr id="97" name="矩形: 圆角 9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45" y="8797"/>
                    <a:ext cx="2609" cy="822"/>
                  </a:xfrm>
                  <a:prstGeom prst="roundRect">
                    <a:avLst/>
                  </a:prstGeom>
                  <a:blipFill rotWithShape="1">
                    <a:blip r:embed="rId2"/>
                  </a:blipFill>
                  <a:ln w="285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9" name="文本框 108"/>
            <p:cNvSpPr txBox="1"/>
            <p:nvPr/>
          </p:nvSpPr>
          <p:spPr>
            <a:xfrm>
              <a:off x="11071" y="3862"/>
              <a:ext cx="2438" cy="737"/>
            </a:xfrm>
            <a:prstGeom prst="rect">
              <a:avLst/>
            </a:prstGeom>
            <a:solidFill>
              <a:srgbClr val="FBE89B">
                <a:alpha val="50196"/>
              </a:srgbClr>
            </a:solidFill>
            <a:ln w="76200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  <a:sym typeface="Arial" panose="020B0604020202020204" pitchFamily="34" charset="0"/>
                </a:rPr>
                <a:t>多模型</a:t>
              </a:r>
              <a:endParaRPr lang="zh-CN" altLang="en-US" sz="1400" dirty="0">
                <a:solidFill>
                  <a:schemeClr val="tx1"/>
                </a:solidFill>
                <a:sym typeface="Arial" panose="020B0604020202020204" pitchFamily="34" charset="0"/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  <a:sym typeface="Arial" panose="020B0604020202020204" pitchFamily="34" charset="0"/>
                </a:rPr>
                <a:t>基学习阶段</a:t>
              </a:r>
              <a:endParaRPr lang="zh-CN" altLang="en-US" sz="1400" dirty="0">
                <a:solidFill>
                  <a:schemeClr val="tx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20" name="矩形: 圆角 94"/>
            <p:cNvSpPr/>
            <p:nvPr/>
          </p:nvSpPr>
          <p:spPr>
            <a:xfrm>
              <a:off x="10992" y="5060"/>
              <a:ext cx="2656" cy="1035"/>
            </a:xfrm>
            <a:prstGeom prst="roundRect">
              <a:avLst/>
            </a:prstGeom>
            <a:solidFill>
              <a:srgbClr val="DEACB8"/>
            </a:solidFill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各模型预测结果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作为新的输入特征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H="1">
              <a:off x="12289" y="4634"/>
              <a:ext cx="1" cy="505"/>
            </a:xfrm>
            <a:prstGeom prst="straightConnector1">
              <a:avLst/>
            </a:prstGeom>
            <a:ln w="34925">
              <a:solidFill>
                <a:srgbClr val="DEACB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11071" y="6495"/>
              <a:ext cx="2438" cy="926"/>
            </a:xfrm>
            <a:prstGeom prst="rect">
              <a:avLst/>
            </a:prstGeom>
            <a:solidFill>
              <a:srgbClr val="FBE89B">
                <a:alpha val="50196"/>
              </a:srgbClr>
            </a:solidFill>
            <a:ln w="76200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  <a:sym typeface="Arial" panose="020B0604020202020204" pitchFamily="34" charset="0"/>
                </a:rPr>
                <a:t>多模型</a:t>
              </a:r>
              <a:endParaRPr lang="zh-CN" altLang="en-US" sz="1400" dirty="0">
                <a:solidFill>
                  <a:schemeClr val="tx1"/>
                </a:solidFill>
                <a:sym typeface="Arial" panose="020B0604020202020204" pitchFamily="34" charset="0"/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  <a:sym typeface="Arial" panose="020B0604020202020204" pitchFamily="34" charset="0"/>
                </a:rPr>
                <a:t>堆叠融合阶段</a:t>
              </a:r>
              <a:endParaRPr lang="zh-CN" altLang="en-US" sz="1400" dirty="0">
                <a:solidFill>
                  <a:schemeClr val="tx1"/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27" name="直接箭头连接符 26"/>
            <p:cNvCxnSpPr/>
            <p:nvPr/>
          </p:nvCxnSpPr>
          <p:spPr>
            <a:xfrm flipH="1">
              <a:off x="12291" y="6011"/>
              <a:ext cx="1" cy="505"/>
            </a:xfrm>
            <a:prstGeom prst="straightConnector1">
              <a:avLst/>
            </a:prstGeom>
            <a:ln w="34925">
              <a:solidFill>
                <a:srgbClr val="DEACB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09" idx="3"/>
            </p:cNvCxnSpPr>
            <p:nvPr/>
          </p:nvCxnSpPr>
          <p:spPr>
            <a:xfrm>
              <a:off x="13509" y="4231"/>
              <a:ext cx="492" cy="6"/>
            </a:xfrm>
            <a:prstGeom prst="straightConnector1">
              <a:avLst/>
            </a:prstGeom>
            <a:ln w="25400">
              <a:solidFill>
                <a:srgbClr val="5B9BD5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" name="组合 39"/>
            <p:cNvGrpSpPr/>
            <p:nvPr/>
          </p:nvGrpSpPr>
          <p:grpSpPr>
            <a:xfrm>
              <a:off x="14133" y="6155"/>
              <a:ext cx="2480" cy="1882"/>
              <a:chOff x="14021" y="3538"/>
              <a:chExt cx="2480" cy="1882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15053" y="4150"/>
                <a:ext cx="680" cy="39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b="1" dirty="0">
                    <a:solidFill>
                      <a:srgbClr val="28659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…</a:t>
                </a:r>
                <a:endParaRPr lang="en-US" altLang="zh-CN" b="1" dirty="0">
                  <a:solidFill>
                    <a:srgbClr val="2865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矩形: 圆角 87"/>
              <p:cNvSpPr/>
              <p:nvPr/>
            </p:nvSpPr>
            <p:spPr>
              <a:xfrm>
                <a:off x="14021" y="3538"/>
                <a:ext cx="1531" cy="567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5B9BD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分类器</a:t>
                </a:r>
                <a:r>
                  <a:rPr lang="en-US" altLang="zh-CN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12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矩形: 圆角 88"/>
              <p:cNvSpPr/>
              <p:nvPr/>
            </p:nvSpPr>
            <p:spPr>
              <a:xfrm>
                <a:off x="14342" y="3975"/>
                <a:ext cx="1531" cy="567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5B9BD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分类器</a:t>
                </a:r>
                <a:r>
                  <a:rPr lang="en-US" altLang="zh-CN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en-US" altLang="zh-CN" sz="12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矩形: 圆角 89"/>
              <p:cNvSpPr/>
              <p:nvPr/>
            </p:nvSpPr>
            <p:spPr>
              <a:xfrm>
                <a:off x="14795" y="4782"/>
                <a:ext cx="1706" cy="639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5B9BD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rtlCol="0" anchor="ctr"/>
              <a:lstStyle/>
              <a:p>
                <a:pPr algn="ctr"/>
                <a:r>
                  <a:rPr lang="zh-CN" altLang="en-US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分类器</a:t>
                </a:r>
                <a:r>
                  <a:rPr lang="en-US" altLang="zh-CN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endParaRPr lang="en-US" altLang="zh-CN" sz="12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200" b="1" dirty="0">
                    <a:solidFill>
                      <a:srgbClr val="5B9BD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预测结果</a:t>
                </a:r>
                <a:endParaRPr lang="zh-CN" altLang="en-US" sz="1200" b="1" dirty="0">
                  <a:solidFill>
                    <a:srgbClr val="5B9BD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15" name="直接箭头连接符 114"/>
            <p:cNvCxnSpPr/>
            <p:nvPr/>
          </p:nvCxnSpPr>
          <p:spPr>
            <a:xfrm>
              <a:off x="13509" y="6990"/>
              <a:ext cx="492" cy="6"/>
            </a:xfrm>
            <a:prstGeom prst="straightConnector1">
              <a:avLst/>
            </a:prstGeom>
            <a:ln w="25400">
              <a:solidFill>
                <a:srgbClr val="5B9BD5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直接箭头连接符 116"/>
            <p:cNvCxnSpPr/>
            <p:nvPr/>
          </p:nvCxnSpPr>
          <p:spPr>
            <a:xfrm flipH="1">
              <a:off x="12288" y="3356"/>
              <a:ext cx="1" cy="505"/>
            </a:xfrm>
            <a:prstGeom prst="straightConnector1">
              <a:avLst/>
            </a:prstGeom>
            <a:ln w="34925">
              <a:solidFill>
                <a:srgbClr val="DEACB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0" name="直接箭头连接符 129"/>
            <p:cNvCxnSpPr/>
            <p:nvPr/>
          </p:nvCxnSpPr>
          <p:spPr>
            <a:xfrm>
              <a:off x="16281" y="6919"/>
              <a:ext cx="492" cy="6"/>
            </a:xfrm>
            <a:prstGeom prst="straightConnector1">
              <a:avLst/>
            </a:prstGeom>
            <a:ln w="25400">
              <a:solidFill>
                <a:srgbClr val="5B9BD5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2" name="直接箭头连接符 131"/>
            <p:cNvCxnSpPr/>
            <p:nvPr/>
          </p:nvCxnSpPr>
          <p:spPr>
            <a:xfrm flipH="1">
              <a:off x="18140" y="7791"/>
              <a:ext cx="1" cy="505"/>
            </a:xfrm>
            <a:prstGeom prst="straightConnector1">
              <a:avLst/>
            </a:prstGeom>
            <a:ln w="34925">
              <a:solidFill>
                <a:srgbClr val="DEACB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5" name="文本框 134"/>
            <p:cNvSpPr txBox="1"/>
            <p:nvPr/>
          </p:nvSpPr>
          <p:spPr>
            <a:xfrm>
              <a:off x="11185" y="8407"/>
              <a:ext cx="2732" cy="926"/>
            </a:xfrm>
            <a:prstGeom prst="rect">
              <a:avLst/>
            </a:prstGeom>
            <a:solidFill>
              <a:srgbClr val="FBE89B">
                <a:alpha val="50196"/>
              </a:srgbClr>
            </a:solidFill>
            <a:ln w="76200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  <a:sym typeface="Arial" panose="020B0604020202020204" pitchFamily="34" charset="0"/>
                </a:rPr>
                <a:t>多模型自适应反馈学习阶段</a:t>
              </a:r>
              <a:endParaRPr lang="zh-CN" altLang="en-US" sz="1400" dirty="0">
                <a:solidFill>
                  <a:schemeClr val="tx1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36" name="矩形: 圆角 94"/>
            <p:cNvSpPr/>
            <p:nvPr/>
          </p:nvSpPr>
          <p:spPr>
            <a:xfrm>
              <a:off x="14570" y="8296"/>
              <a:ext cx="4318" cy="1281"/>
            </a:xfrm>
            <a:prstGeom prst="roundRect">
              <a:avLst/>
            </a:prstGeom>
            <a:solidFill>
              <a:srgbClr val="DEACB8"/>
            </a:solidFill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选取预测结果最一致的</a:t>
              </a:r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个样本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将其平均预测类别作为伪标签加入原训练集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1" name="直接箭头连接符 140"/>
            <p:cNvCxnSpPr>
              <a:stCxn id="136" idx="1"/>
            </p:cNvCxnSpPr>
            <p:nvPr/>
          </p:nvCxnSpPr>
          <p:spPr>
            <a:xfrm flipH="1" flipV="1">
              <a:off x="13918" y="8894"/>
              <a:ext cx="652" cy="43"/>
            </a:xfrm>
            <a:prstGeom prst="straightConnector1">
              <a:avLst/>
            </a:prstGeom>
            <a:ln w="25400">
              <a:solidFill>
                <a:srgbClr val="DEACB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肘形连接符 144"/>
            <p:cNvCxnSpPr>
              <a:stCxn id="135" idx="2"/>
              <a:endCxn id="109" idx="1"/>
            </p:cNvCxnSpPr>
            <p:nvPr/>
          </p:nvCxnSpPr>
          <p:spPr>
            <a:xfrm rot="5400000" flipH="1">
              <a:off x="9260" y="6041"/>
              <a:ext cx="5103" cy="1480"/>
            </a:xfrm>
            <a:prstGeom prst="bentConnector4">
              <a:avLst>
                <a:gd name="adj1" fmla="val -7339"/>
                <a:gd name="adj2" fmla="val 125372"/>
              </a:avLst>
            </a:prstGeom>
            <a:ln w="25400">
              <a:solidFill>
                <a:srgbClr val="FBE89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381948" y="2106764"/>
            <a:ext cx="11279010" cy="1682750"/>
          </a:xfrm>
          <a:prstGeom prst="roundRect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5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敬请各位</a:t>
            </a:r>
            <a:r>
              <a:rPr lang="zh-CN" altLang="en-US" sz="5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老师批评指正</a:t>
            </a:r>
            <a:endParaRPr lang="zh-CN" altLang="en-US" sz="5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5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谢谢</a:t>
            </a:r>
            <a:endParaRPr lang="zh-CN" altLang="en-US" sz="5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-20068"/>
            <a:ext cx="12192000" cy="1232011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/>
            <a:r>
              <a:rPr lang="en-US" altLang="zh-CN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年统计学院创新项目中期答辩</a:t>
            </a:r>
            <a:endParaRPr lang="en-US" altLang="zh-CN" sz="2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45155" y="5160645"/>
            <a:ext cx="575183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项目成员：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张勋仪、谢欣辰、朱施丽、徐正浩、万敏博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 flipV="1">
            <a:off x="-1" y="4352768"/>
            <a:ext cx="12191999" cy="104760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20000">
                <a:srgbClr val="EE3F17"/>
              </a:gs>
              <a:gs pos="88000">
                <a:srgbClr val="40B4C0"/>
              </a:gs>
              <a:gs pos="100000">
                <a:srgbClr val="004C97"/>
              </a:gs>
            </a:gsLst>
            <a:lin ang="0" scaled="1"/>
          </a:gradFill>
          <a:ln w="9525">
            <a:noFill/>
            <a:miter lim="800000"/>
          </a:ln>
        </p:spPr>
        <p:txBody>
          <a:bodyPr rot="10800000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zh-CN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93996" y="5721368"/>
            <a:ext cx="13004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10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2025.11.5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9.92015748031494,&quot;left&quot;:420.779842519685,&quot;top&quot;:310.15,&quot;width&quot;:244.67472440944874}"/>
</p:tagLst>
</file>

<file path=ppt/tags/tag2.xml><?xml version="1.0" encoding="utf-8"?>
<p:tagLst xmlns:p="http://schemas.openxmlformats.org/presentationml/2006/main">
  <p:tag name="KSO_WM_DIAGRAM_VIRTUALLY_FRAME" val="{&quot;height&quot;:79.92015748031494,&quot;left&quot;:420.779842519685,&quot;top&quot;:310.15,&quot;width&quot;:244.67472440944874}"/>
</p:tagLst>
</file>

<file path=ppt/tags/tag3.xml><?xml version="1.0" encoding="utf-8"?>
<p:tagLst xmlns:p="http://schemas.openxmlformats.org/presentationml/2006/main">
  <p:tag name="KSO_WM_DIAGRAM_VIRTUALLY_FRAME" val="{&quot;height&quot;:79.92015748031494,&quot;left&quot;:420.779842519685,&quot;top&quot;:310.15,&quot;width&quot;:244.67472440944874}"/>
</p:tagLst>
</file>

<file path=ppt/tags/tag4.xml><?xml version="1.0" encoding="utf-8"?>
<p:tagLst xmlns:p="http://schemas.openxmlformats.org/presentationml/2006/main">
  <p:tag name="KSO_WM_DIAGRAM_VIRTUALLY_FRAME" val="{&quot;height&quot;:79.92015748031494,&quot;left&quot;:420.779842519685,&quot;top&quot;:310.15,&quot;width&quot;:244.67472440944874}"/>
</p:tagLst>
</file>

<file path=ppt/tags/tag5.xml><?xml version="1.0" encoding="utf-8"?>
<p:tagLst xmlns:p="http://schemas.openxmlformats.org/presentationml/2006/main">
  <p:tag name="TABLE_ENDDRAG_ORIGIN_RECT" val="932*444"/>
  <p:tag name="TABLE_ENDDRAG_RECT" val="10*66*932*444"/>
</p:tagLst>
</file>

<file path=ppt/tags/tag6.xml><?xml version="1.0" encoding="utf-8"?>
<p:tagLst xmlns:p="http://schemas.openxmlformats.org/presentationml/2006/main">
  <p:tag name="TABLE_ENDDRAG_ORIGIN_RECT" val="347*8"/>
  <p:tag name="TABLE_ENDDRAG_RECT" val="168*269*347*8"/>
</p:tagLst>
</file>

<file path=ppt/tags/tag7.xml><?xml version="1.0" encoding="utf-8"?>
<p:tagLst xmlns:p="http://schemas.openxmlformats.org/presentationml/2006/main">
  <p:tag name="KSO_WM_DIAGRAM_VIRTUALLY_FRAME" val="{&quot;height&quot;:343.62181102362194,&quot;left&quot;:78.28999999999996,&quot;top&quot;:145.70291338582683,&quot;width&quot;:675.8076377952756}"/>
</p:tagLst>
</file>

<file path=ppt/tags/tag8.xml><?xml version="1.0" encoding="utf-8"?>
<p:tagLst xmlns:p="http://schemas.openxmlformats.org/presentationml/2006/main">
  <p:tag name="KSO_WM_DIAGRAM_VIRTUALLY_FRAME" val="{&quot;height&quot;:343.62181102362194,&quot;left&quot;:78.28999999999996,&quot;top&quot;:145.70291338582683,&quot;width&quot;:675.8076377952756}"/>
</p:tagLst>
</file>

<file path=ppt/tags/tag9.xml><?xml version="1.0" encoding="utf-8"?>
<p:tagLst xmlns:p="http://schemas.openxmlformats.org/presentationml/2006/main">
  <p:tag name="KSO_WM_DIAGRAM_VIRTUALLY_FRAME" val="{&quot;height&quot;:343.62181102362194,&quot;left&quot;:78.28999999999996,&quot;top&quot;:145.70291338582683,&quot;width&quot;:675.8076377952756}"/>
</p:tagLst>
</file>

<file path=ppt/tags/tag10.xml><?xml version="1.0" encoding="utf-8"?>
<p:tagLst xmlns:p="http://schemas.openxmlformats.org/presentationml/2006/main">
  <p:tag name="KSO_WM_DIAGRAM_VIRTUALLY_FRAME" val="{&quot;height&quot;:343.62181102362194,&quot;left&quot;:78.28999999999996,&quot;top&quot;:145.70291338582683,&quot;width&quot;:675.8076377952756}"/>
</p:tagLst>
</file>

<file path=ppt/tags/tag11.xml><?xml version="1.0" encoding="utf-8"?>
<p:tagLst xmlns:p="http://schemas.openxmlformats.org/presentationml/2006/main">
  <p:tag name="KSO_WM_DIAGRAM_VIRTUALLY_FRAME" val="{&quot;height&quot;:343.62181102362194,&quot;left&quot;:78.28999999999996,&quot;top&quot;:145.70291338582683,&quot;width&quot;:675.8076377952756}"/>
</p:tagLst>
</file>

<file path=ppt/tags/tag12.xml><?xml version="1.0" encoding="utf-8"?>
<p:tagLst xmlns:p="http://schemas.openxmlformats.org/presentationml/2006/main">
  <p:tag name="KSO_WM_DIAGRAM_VIRTUALLY_FRAME" val="{&quot;height&quot;:343.62181102362194,&quot;left&quot;:78.28999999999996,&quot;top&quot;:145.70291338582683,&quot;width&quot;:675.8076377952756}"/>
</p:tagLst>
</file>

<file path=ppt/tags/tag13.xml><?xml version="1.0" encoding="utf-8"?>
<p:tagLst xmlns:p="http://schemas.openxmlformats.org/presentationml/2006/main">
  <p:tag name="KSO_WM_DIAGRAM_VIRTUALLY_FRAME" val="{&quot;height&quot;:254.65,&quot;left&quot;:39.95,&quot;top&quot;:249.35,&quot;width&quot;:880.1}"/>
</p:tagLst>
</file>

<file path=ppt/tags/tag14.xml><?xml version="1.0" encoding="utf-8"?>
<p:tagLst xmlns:p="http://schemas.openxmlformats.org/presentationml/2006/main">
  <p:tag name="KSO_WM_DIAGRAM_VIRTUALLY_FRAME" val="{&quot;height&quot;:254.65,&quot;left&quot;:39.95,&quot;top&quot;:249.35,&quot;width&quot;:880.1}"/>
</p:tagLst>
</file>

<file path=ppt/tags/tag15.xml><?xml version="1.0" encoding="utf-8"?>
<p:tagLst xmlns:p="http://schemas.openxmlformats.org/presentationml/2006/main">
  <p:tag name="KSO_WM_DIAGRAM_VIRTUALLY_FRAME" val="{&quot;height&quot;:254.65,&quot;left&quot;:39.95,&quot;top&quot;:249.35,&quot;width&quot;:880.1}"/>
</p:tagLst>
</file>

<file path=ppt/tags/tag16.xml><?xml version="1.0" encoding="utf-8"?>
<p:tagLst xmlns:p="http://schemas.openxmlformats.org/presentationml/2006/main">
  <p:tag name="KSO_WM_DIAGRAM_VIRTUALLY_FRAME" val="{&quot;height&quot;:254.65,&quot;left&quot;:39.95,&quot;top&quot;:249.35,&quot;width&quot;:880.1}"/>
</p:tagLst>
</file>

<file path=ppt/tags/tag17.xml><?xml version="1.0" encoding="utf-8"?>
<p:tagLst xmlns:p="http://schemas.openxmlformats.org/presentationml/2006/main">
  <p:tag name="KSO_WM_DIAGRAM_VIRTUALLY_FRAME" val="{&quot;height&quot;:254.65,&quot;left&quot;:39.95,&quot;top&quot;:249.35,&quot;width&quot;:880.1}"/>
</p:tagLst>
</file>

<file path=ppt/tags/tag18.xml><?xml version="1.0" encoding="utf-8"?>
<p:tagLst xmlns:p="http://schemas.openxmlformats.org/presentationml/2006/main">
  <p:tag name="KSO_WM_DIAGRAM_VIRTUALLY_FRAME" val="{&quot;height&quot;:254.65,&quot;left&quot;:39.95,&quot;top&quot;:249.35,&quot;width&quot;:880.1}"/>
</p:tagLst>
</file>

<file path=ppt/theme/theme1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11D2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4D92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28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3944</Words>
  <Application>WPS 演示</Application>
  <PresentationFormat>宽屏</PresentationFormat>
  <Paragraphs>567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Times New Roman</vt:lpstr>
      <vt:lpstr>等线</vt:lpstr>
      <vt:lpstr>Cambria Math</vt:lpstr>
      <vt:lpstr>Calibri</vt:lpstr>
      <vt:lpstr>Times New Roman</vt:lpstr>
      <vt:lpstr>等线 Light</vt:lpstr>
      <vt:lpstr>黑体</vt:lpstr>
      <vt:lpstr>Alibaba PuHuiTi</vt:lpstr>
      <vt:lpstr>Wingdings</vt:lpstr>
      <vt:lpstr>Arial Unicode MS</vt:lpstr>
      <vt:lpstr>Sitka Heading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fx w</dc:creator>
  <cp:lastModifiedBy>张勋仪</cp:lastModifiedBy>
  <cp:revision>458</cp:revision>
  <dcterms:created xsi:type="dcterms:W3CDTF">2025-02-02T08:31:00Z</dcterms:created>
  <dcterms:modified xsi:type="dcterms:W3CDTF">2025-11-05T01:43:43Z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561A1B1B89094B12A048D5D13479D2F7_13</vt:lpwstr>
  </property>
  <property fmtid="{D5CDD505-2E9C-101B-9397-08002B2CF9AE}" pid="3" name="KSOProductBuildVer">
    <vt:lpwstr>2052-12.1.0.23542</vt:lpwstr>
  </property>
</Properties>
</file>